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9" r:id="rId3"/>
    <p:sldId id="257" r:id="rId4"/>
    <p:sldId id="263" r:id="rId5"/>
    <p:sldId id="264" r:id="rId6"/>
    <p:sldId id="266" r:id="rId7"/>
    <p:sldId id="267" r:id="rId8"/>
    <p:sldId id="268" r:id="rId9"/>
    <p:sldId id="270" r:id="rId10"/>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CF55C3-E3B8-AE46-AB0D-3BBB0AD6BD96}">
          <p14:sldIdLst>
            <p14:sldId id="256"/>
            <p14:sldId id="259"/>
          </p14:sldIdLst>
        </p14:section>
        <p14:section name="背景" id="{EDC1DA3A-9D20-514E-89E1-345E9028991F}">
          <p14:sldIdLst>
            <p14:sldId id="257"/>
            <p14:sldId id="263"/>
            <p14:sldId id="264"/>
            <p14:sldId id="266"/>
            <p14:sldId id="267"/>
            <p14:sldId id="268"/>
            <p14:sldId id="2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D5"/>
    <a:srgbClr val="FF55C8"/>
    <a:srgbClr val="001F16"/>
    <a:srgbClr val="A8D5BA"/>
    <a:srgbClr val="F4A7D9"/>
    <a:srgbClr val="A33DA3"/>
    <a:srgbClr val="BE78FF"/>
    <a:srgbClr val="BF1B69"/>
    <a:srgbClr val="6A3093"/>
    <a:srgbClr val="FF3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73813"/>
  </p:normalViewPr>
  <p:slideViewPr>
    <p:cSldViewPr snapToGrid="0">
      <p:cViewPr varScale="1">
        <p:scale>
          <a:sx n="99" d="100"/>
          <a:sy n="99" d="100"/>
        </p:scale>
        <p:origin x="240" y="168"/>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90" d="100"/>
        <a:sy n="190" d="100"/>
      </p:scale>
      <p:origin x="0" y="0"/>
    </p:cViewPr>
  </p:notesTextViewPr>
  <p:sorterViewPr>
    <p:cViewPr>
      <p:scale>
        <a:sx n="80" d="100"/>
        <a:sy n="80" d="100"/>
      </p:scale>
      <p:origin x="0" y="0"/>
    </p:cViewPr>
  </p:sorterViewPr>
  <p:gridSpacing cx="43205" cy="432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3" Type="http://schemas.openxmlformats.org/officeDocument/2006/relationships/slide" Target="slides/slide3.xml"/><Relationship Id="rId7"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6.xml"/><Relationship Id="rId5" Type="http://schemas.openxmlformats.org/officeDocument/2006/relationships/slide" Target="slides/slide5.xml"/><Relationship Id="rId4" Type="http://schemas.openxmlformats.org/officeDocument/2006/relationships/slide" Target="slides/slide4.xml"/><Relationship Id="rId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E1A31-6A95-B144-8EE4-FF44A143F17E}" type="datetimeFigureOut">
              <a:rPr lang="en-JP" smtClean="0"/>
              <a:t>2026/03/30</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4C9E8B-A61A-BA40-9B78-8E78443D5345}" type="slidenum">
              <a:rPr lang="en-JP" smtClean="0"/>
              <a:t>‹#›</a:t>
            </a:fld>
            <a:endParaRPr lang="en-JP"/>
          </a:p>
        </p:txBody>
      </p:sp>
    </p:spTree>
    <p:extLst>
      <p:ext uri="{BB962C8B-B14F-4D97-AF65-F5344CB8AC3E}">
        <p14:creationId xmlns:p14="http://schemas.microsoft.com/office/powerpoint/2010/main" val="1973653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JP"/>
          </a:p>
        </p:txBody>
      </p:sp>
      <p:sp>
        <p:nvSpPr>
          <p:cNvPr id="3" name="Notes Placeholder 2"/>
          <p:cNvSpPr>
            <a:spLocks noGrp="1"/>
          </p:cNvSpPr>
          <p:nvPr>
            <p:ph type="body" idx="1"/>
          </p:nvPr>
        </p:nvSpPr>
        <p:spPr/>
        <p:txBody>
          <a:bodyPr/>
          <a:lstStyle/>
          <a:p>
            <a:r>
              <a:rPr lang="ja-JP" altLang="en-US" sz="1200" b="0" i="0" u="none" strike="noStrike" kern="1200">
                <a:solidFill>
                  <a:schemeClr val="tx1"/>
                </a:solidFill>
                <a:effectLst/>
                <a:latin typeface="+mn-lt"/>
                <a:ea typeface="+mn-ea"/>
                <a:cs typeface="+mn-cs"/>
              </a:rPr>
              <a:t>おはようございます。本日はこの研究会で発表する機会をいただき、ありがとうございます。</a:t>
            </a:r>
            <a:endParaRPr lang="it-IT" altLang="ja-JP" sz="1200" b="0" i="0" u="none" strike="noStrike" kern="1200" dirty="0">
              <a:solidFill>
                <a:schemeClr val="tx1"/>
              </a:solidFill>
              <a:effectLst/>
              <a:latin typeface="+mn-lt"/>
              <a:ea typeface="+mn-ea"/>
              <a:cs typeface="+mn-cs"/>
            </a:endParaRPr>
          </a:p>
          <a:p>
            <a:endParaRPr lang="it-IT" sz="1200" b="0" i="0" u="none" strike="noStrike" kern="1200" dirty="0">
              <a:solidFill>
                <a:schemeClr val="tx1"/>
              </a:solidFill>
              <a:effectLst/>
              <a:latin typeface="+mn-lt"/>
              <a:ea typeface="+mn-ea"/>
              <a:cs typeface="+mn-cs"/>
            </a:endParaRPr>
          </a:p>
          <a:p>
            <a:r>
              <a:rPr lang="it-IT" sz="1200" b="0" i="0" u="none" strike="noStrike" kern="1200" dirty="0">
                <a:solidFill>
                  <a:schemeClr val="tx1"/>
                </a:solidFill>
                <a:effectLst/>
                <a:latin typeface="+mn-lt"/>
                <a:ea typeface="+mn-ea"/>
                <a:cs typeface="+mn-cs"/>
              </a:rPr>
              <a:t>Alex Della Schiavaと申しますが、</a:t>
            </a:r>
            <a:r>
              <a:rPr lang="ja-JP" altLang="en-US" sz="1200" b="0" i="0" u="none" strike="noStrike" kern="1200">
                <a:solidFill>
                  <a:schemeClr val="tx1"/>
                </a:solidFill>
                <a:effectLst/>
                <a:latin typeface="+mn-lt"/>
                <a:ea typeface="+mn-ea"/>
                <a:cs typeface="+mn-cs"/>
              </a:rPr>
              <a:t>よろしければ、アレックスと呼んでいただければ、幸いです。</a:t>
            </a:r>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今日は、長谷川さん、ルガル先生、そして西村先生との共同研究について、簡潔にお話しさせていただきます。</a:t>
            </a:r>
            <a:endParaRPr lang="it-IT" sz="1200" b="0" i="0" u="none" strike="noStrike" kern="1200" dirty="0">
              <a:solidFill>
                <a:schemeClr val="tx1"/>
              </a:solidFill>
              <a:effectLst/>
              <a:latin typeface="+mn-lt"/>
              <a:ea typeface="+mn-ea"/>
              <a:cs typeface="+mn-cs"/>
            </a:endParaRPr>
          </a:p>
          <a:p>
            <a:endParaRPr lang="it-IT"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今回は日本語で発表するのが初めてですので、</a:t>
            </a:r>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至らない点も多いかと思います。</a:t>
            </a:r>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もし分かりにくいところがあれば、ぜひお知らせください。</a:t>
            </a:r>
            <a:endParaRPr lang="en-JP" dirty="0"/>
          </a:p>
        </p:txBody>
      </p:sp>
      <p:sp>
        <p:nvSpPr>
          <p:cNvPr id="4" name="Slide Number Placeholder 3"/>
          <p:cNvSpPr>
            <a:spLocks noGrp="1"/>
          </p:cNvSpPr>
          <p:nvPr>
            <p:ph type="sldNum" sz="quarter" idx="5"/>
          </p:nvPr>
        </p:nvSpPr>
        <p:spPr/>
        <p:txBody>
          <a:bodyPr/>
          <a:lstStyle/>
          <a:p>
            <a:fld id="{894C9E8B-A61A-BA40-9B78-8E78443D5345}" type="slidenum">
              <a:rPr lang="en-JP" smtClean="0"/>
              <a:t>1</a:t>
            </a:fld>
            <a:endParaRPr lang="en-JP"/>
          </a:p>
        </p:txBody>
      </p:sp>
    </p:spTree>
    <p:extLst>
      <p:ext uri="{BB962C8B-B14F-4D97-AF65-F5344CB8AC3E}">
        <p14:creationId xmlns:p14="http://schemas.microsoft.com/office/powerpoint/2010/main" val="1970764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JP"/>
          </a:p>
        </p:txBody>
      </p:sp>
      <p:sp>
        <p:nvSpPr>
          <p:cNvPr id="3" name="Notes Placeholder 2"/>
          <p:cNvSpPr>
            <a:spLocks noGrp="1"/>
          </p:cNvSpPr>
          <p:nvPr>
            <p:ph type="body" idx="1"/>
          </p:nvPr>
        </p:nvSpPr>
        <p:spPr/>
        <p:txBody>
          <a:bodyPr/>
          <a:lstStyle/>
          <a:p>
            <a:pPr lvl="1"/>
            <a:r>
              <a:rPr lang="en-JP"/>
              <a:t>まず最初に、タイトルの内容を具体的にイメージしていただくために、</a:t>
            </a:r>
          </a:p>
          <a:p>
            <a:pPr lvl="1"/>
            <a:r>
              <a:rPr lang="en-JP"/>
              <a:t>目次をご紹介したいと思います。</a:t>
            </a:r>
          </a:p>
          <a:p>
            <a:pPr lvl="1"/>
            <a:endParaRPr lang="en-JP"/>
          </a:p>
          <a:p>
            <a:pPr lvl="1"/>
            <a:r>
              <a:rPr lang="en-JP"/>
              <a:t>では</a:t>
            </a:r>
            <a:r>
              <a:rPr lang="ja-JP" altLang="en-US"/>
              <a:t>　</a:t>
            </a:r>
            <a:r>
              <a:rPr lang="en-JP"/>
              <a:t>、分散検証における可分量子証明ですね。</a:t>
            </a:r>
          </a:p>
          <a:p>
            <a:pPr lvl="1"/>
            <a:endParaRPr lang="en-JP"/>
          </a:p>
          <a:p>
            <a:pPr lvl="1"/>
            <a:r>
              <a:rPr lang="en-JP"/>
              <a:t>まず、分散検証についてご説明します。</a:t>
            </a:r>
          </a:p>
          <a:p>
            <a:pPr lvl="1"/>
            <a:endParaRPr lang="en-JP"/>
          </a:p>
          <a:p>
            <a:pPr lvl="1"/>
            <a:r>
              <a:rPr lang="ja-JP" altLang="en-US" sz="1200" b="0" i="0" u="none" strike="noStrike" kern="1200">
                <a:solidFill>
                  <a:schemeClr val="tx1"/>
                </a:solidFill>
                <a:effectLst/>
                <a:latin typeface="+mn-lt"/>
                <a:ea typeface="+mn-ea"/>
                <a:cs typeface="+mn-cs"/>
              </a:rPr>
              <a:t>次に、分散検証の設定がどのように量子モデルへ拡張されるかについてお話しします。</a:t>
            </a:r>
            <a:endParaRPr lang="en-US" sz="1200" b="0" i="0" u="none" strike="noStrike" kern="1200" dirty="0">
              <a:solidFill>
                <a:schemeClr val="tx1"/>
              </a:solidFill>
              <a:effectLst/>
              <a:latin typeface="+mn-lt"/>
              <a:ea typeface="+mn-ea"/>
              <a:cs typeface="+mn-cs"/>
            </a:endParaRPr>
          </a:p>
          <a:p>
            <a:pPr lvl="1"/>
            <a:endParaRPr lang="en-US" sz="1200" b="0" i="0" u="none" strike="noStrike" kern="1200" dirty="0">
              <a:solidFill>
                <a:schemeClr val="tx1"/>
              </a:solidFill>
              <a:effectLst/>
              <a:latin typeface="+mn-lt"/>
              <a:ea typeface="+mn-ea"/>
              <a:cs typeface="+mn-cs"/>
            </a:endParaRPr>
          </a:p>
          <a:p>
            <a:pPr lvl="1"/>
            <a:r>
              <a:rPr lang="ja-JP" altLang="en-US" sz="1200" b="0" i="0" u="none" strike="noStrike" kern="1200">
                <a:solidFill>
                  <a:schemeClr val="tx1"/>
                </a:solidFill>
                <a:effectLst/>
                <a:latin typeface="+mn-lt"/>
                <a:ea typeface="+mn-ea"/>
                <a:cs typeface="+mn-cs"/>
              </a:rPr>
              <a:t>この拡張は、後の可分証明の説明における重要な前提となります。</a:t>
            </a:r>
            <a:endParaRPr lang="en-US" altLang="ja-JP" sz="1200" b="0" i="0" u="none" strike="noStrike" kern="1200" dirty="0">
              <a:solidFill>
                <a:schemeClr val="tx1"/>
              </a:solidFill>
              <a:effectLst/>
              <a:latin typeface="+mn-lt"/>
              <a:ea typeface="+mn-ea"/>
              <a:cs typeface="+mn-cs"/>
            </a:endParaRPr>
          </a:p>
          <a:p>
            <a:pPr lvl="1"/>
            <a:endParaRPr lang="en-JP"/>
          </a:p>
          <a:p>
            <a:pPr lvl="1"/>
            <a:r>
              <a:rPr lang="ja-JP" altLang="en-US" sz="1200" b="0" i="0" u="none" strike="noStrike" kern="1200">
                <a:solidFill>
                  <a:schemeClr val="tx1"/>
                </a:solidFill>
                <a:effectLst/>
                <a:latin typeface="+mn-lt"/>
                <a:ea typeface="+mn-ea"/>
                <a:cs typeface="+mn-cs"/>
              </a:rPr>
              <a:t>これら全ての準備が整った段階で、本研究の主要（しゅよう）な貢献についてお話しします。</a:t>
            </a:r>
            <a:endParaRPr lang="en-JP"/>
          </a:p>
        </p:txBody>
      </p:sp>
      <p:sp>
        <p:nvSpPr>
          <p:cNvPr id="4" name="Slide Number Placeholder 3"/>
          <p:cNvSpPr>
            <a:spLocks noGrp="1"/>
          </p:cNvSpPr>
          <p:nvPr>
            <p:ph type="sldNum" sz="quarter" idx="5"/>
          </p:nvPr>
        </p:nvSpPr>
        <p:spPr/>
        <p:txBody>
          <a:bodyPr/>
          <a:lstStyle/>
          <a:p>
            <a:fld id="{894C9E8B-A61A-BA40-9B78-8E78443D5345}" type="slidenum">
              <a:rPr lang="en-JP" smtClean="0"/>
              <a:t>2</a:t>
            </a:fld>
            <a:endParaRPr lang="en-JP"/>
          </a:p>
        </p:txBody>
      </p:sp>
    </p:spTree>
    <p:extLst>
      <p:ext uri="{BB962C8B-B14F-4D97-AF65-F5344CB8AC3E}">
        <p14:creationId xmlns:p14="http://schemas.microsoft.com/office/powerpoint/2010/main" val="4121793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JP"/>
          </a:p>
        </p:txBody>
      </p:sp>
      <p:sp>
        <p:nvSpPr>
          <p:cNvPr id="3" name="Notes Placeholder 2"/>
          <p:cNvSpPr>
            <a:spLocks noGrp="1"/>
          </p:cNvSpPr>
          <p:nvPr>
            <p:ph type="body" idx="1"/>
          </p:nvPr>
        </p:nvSpPr>
        <p:spPr/>
        <p:txBody>
          <a:bodyPr/>
          <a:lstStyle/>
          <a:p>
            <a:r>
              <a:rPr lang="ja-JP" altLang="en-US"/>
              <a:t>まず、分散検証を具体的に説明するために、</a:t>
            </a:r>
            <a:endParaRPr lang="en-US" altLang="ja-JP"/>
          </a:p>
          <a:p>
            <a:r>
              <a:rPr lang="ja-JP" altLang="en-US"/>
              <a:t>私のお気に入りである</a:t>
            </a:r>
            <a:r>
              <a:rPr lang="en-US" altLang="ja-JP"/>
              <a:t>『</a:t>
            </a:r>
            <a:r>
              <a:rPr lang="ja-JP" altLang="en-US"/>
              <a:t>数独</a:t>
            </a:r>
            <a:r>
              <a:rPr lang="en-US" altLang="ja-JP"/>
              <a:t>』</a:t>
            </a:r>
            <a:r>
              <a:rPr lang="ja-JP" altLang="en-US"/>
              <a:t>を例に挙げたいと思います。</a:t>
            </a:r>
            <a:endParaRPr lang="en-US" altLang="ja-JP"/>
          </a:p>
          <a:p>
            <a:r>
              <a:rPr lang="ja-JP" altLang="en-US" sz="1200" b="0" i="0" u="none" strike="noStrike" kern="1200">
                <a:solidFill>
                  <a:schemeClr val="tx1"/>
                </a:solidFill>
                <a:effectLst/>
                <a:latin typeface="+mn-lt"/>
                <a:ea typeface="+mn-ea"/>
                <a:cs typeface="+mn-cs"/>
              </a:rPr>
              <a:t>ご覧の通り、</a:t>
            </a:r>
            <a:r>
              <a:rPr lang="ja-JP" altLang="en-US" sz="1200" b="1" i="0" kern="1200">
                <a:solidFill>
                  <a:schemeClr val="tx1"/>
                </a:solidFill>
                <a:effectLst/>
                <a:latin typeface="+mn-lt"/>
                <a:ea typeface="+mn-ea"/>
                <a:cs typeface="+mn-cs"/>
              </a:rPr>
              <a:t>簡単すぎる例かもしれないんですけれど</a:t>
            </a:r>
            <a:r>
              <a:rPr lang="en-US" altLang="ja-JP" sz="1200" b="1" i="0" kern="1200">
                <a:solidFill>
                  <a:schemeClr val="tx1"/>
                </a:solidFill>
                <a:effectLst/>
                <a:latin typeface="+mn-lt"/>
                <a:ea typeface="+mn-ea"/>
                <a:cs typeface="+mn-cs"/>
              </a:rPr>
              <a:t>…😅</a:t>
            </a:r>
            <a:endParaRPr lang="en-JP"/>
          </a:p>
          <a:p>
            <a:endParaRPr lang="en-JP"/>
          </a:p>
          <a:p>
            <a:r>
              <a:rPr lang="en-JP"/>
              <a:t>モデルでは、『検証者』と呼ばれるコンピューターが１台だけではなく、複数で協力して計算を行います。</a:t>
            </a:r>
          </a:p>
          <a:p>
            <a:r>
              <a:rPr lang="en-JP"/>
              <a:t>今回の例では、特に２台の検証者がいる場合を想定します。</a:t>
            </a:r>
          </a:p>
          <a:p>
            <a:endParaRPr lang="en-US"/>
          </a:p>
          <a:p>
            <a:r>
              <a:rPr lang="en-JP"/>
              <a:t>それぞれの検証者は、個別に証明を受けます。</a:t>
            </a:r>
          </a:p>
          <a:p>
            <a:endParaRPr lang="en-JP"/>
          </a:p>
          <a:p>
            <a:r>
              <a:rPr lang="en-JP"/>
              <a:t>数独の例で言うと、証明が常に数独の解のような形であるとは限りませんが、</a:t>
            </a:r>
          </a:p>
          <a:p>
            <a:r>
              <a:rPr lang="en-JP"/>
              <a:t>今回の例では、証明を『数独の完成図』として考えてみます。</a:t>
            </a:r>
          </a:p>
          <a:p>
            <a:endParaRPr lang="en-JP"/>
          </a:p>
          <a:p>
            <a:r>
              <a:rPr lang="en-JP"/>
              <a:t>それでは、モデルの受理条件を見ていきましょう。</a:t>
            </a:r>
          </a:p>
          <a:p>
            <a:endParaRPr lang="en-JP"/>
          </a:p>
          <a:p>
            <a:r>
              <a:rPr lang="en-US" sz="1200" b="0" i="0" u="none" strike="noStrike" kern="1200">
                <a:solidFill>
                  <a:schemeClr val="tx1"/>
                </a:solidFill>
                <a:effectLst/>
                <a:latin typeface="+mn-lt"/>
                <a:ea typeface="+mn-ea"/>
                <a:cs typeface="+mn-cs"/>
              </a:rPr>
              <a:t>Yes</a:t>
            </a:r>
            <a:r>
              <a:rPr lang="ja-JP" altLang="en-US" sz="1200" b="0" i="0" u="none" strike="noStrike" kern="1200">
                <a:solidFill>
                  <a:schemeClr val="tx1"/>
                </a:solidFill>
                <a:effectLst/>
                <a:latin typeface="+mn-lt"/>
                <a:ea typeface="+mn-ea"/>
                <a:cs typeface="+mn-cs"/>
              </a:rPr>
              <a:t>インスタンスの場合、両方の検証者を受理に導く証明が存在します。 </a:t>
            </a:r>
            <a:endParaRPr lang="en-US" altLang="ja-JP" sz="1200" b="0" i="0" u="none" strike="noStrike" kern="120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つまり数独では、パズルに解があれば、その完成図でゲームが完成するかをすぐに確認できる、ということです。</a:t>
            </a:r>
            <a:endParaRPr lang="en-US" altLang="ja-JP" sz="1200" b="0" i="0" u="none" strike="noStrike" kern="1200">
              <a:solidFill>
                <a:schemeClr val="tx1"/>
              </a:solidFill>
              <a:effectLst/>
              <a:latin typeface="+mn-lt"/>
              <a:ea typeface="+mn-ea"/>
              <a:cs typeface="+mn-cs"/>
            </a:endParaRPr>
          </a:p>
          <a:p>
            <a:endParaRPr lang="en-US" sz="1200" b="0" i="0" u="none" strike="noStrike" kern="120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一方、</a:t>
            </a:r>
            <a:r>
              <a:rPr lang="en-US" altLang="ja-JP" sz="1200" b="0" i="0" u="none" strike="noStrike" kern="1200">
                <a:solidFill>
                  <a:schemeClr val="tx1"/>
                </a:solidFill>
                <a:effectLst/>
                <a:latin typeface="+mn-lt"/>
                <a:ea typeface="+mn-ea"/>
                <a:cs typeface="+mn-cs"/>
              </a:rPr>
              <a:t>No</a:t>
            </a:r>
            <a:r>
              <a:rPr lang="ja-JP" altLang="en-US" sz="1200" b="0" i="0" u="none" strike="noStrike" kern="1200">
                <a:solidFill>
                  <a:schemeClr val="tx1"/>
                </a:solidFill>
                <a:effectLst/>
                <a:latin typeface="+mn-lt"/>
                <a:ea typeface="+mn-ea"/>
                <a:cs typeface="+mn-cs"/>
              </a:rPr>
              <a:t>インスタンス。つまり解がないパズルの場合はどうでしょうか？</a:t>
            </a:r>
            <a:endParaRPr lang="en-US" altLang="ja-JP" sz="1200" b="0" i="0" u="none" strike="noStrike" kern="1200">
              <a:solidFill>
                <a:schemeClr val="tx1"/>
              </a:solidFill>
              <a:effectLst/>
              <a:latin typeface="+mn-lt"/>
              <a:ea typeface="+mn-ea"/>
              <a:cs typeface="+mn-cs"/>
            </a:endParaRPr>
          </a:p>
          <a:p>
            <a:r>
              <a:rPr lang="en-US" sz="1200" b="0" i="0" u="none" strike="noStrike" kern="1200" err="1">
                <a:solidFill>
                  <a:schemeClr val="tx1"/>
                </a:solidFill>
                <a:effectLst/>
                <a:latin typeface="+mn-lt"/>
                <a:ea typeface="+mn-ea"/>
                <a:cs typeface="+mn-cs"/>
              </a:rPr>
              <a:t>このケースでは、どのような証明を受け取ったとしても、少なくとも一方の検証者が必ず拒絶します</a:t>
            </a:r>
            <a:r>
              <a:rPr lang="en-US" sz="1200" b="0" i="0" u="none" strike="noStrike" kern="120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a:t>やっぱり、両方が拒絶する必要はありません。一台が拒絶するだけで十分なのです。</a:t>
            </a:r>
            <a:endParaRPr lang="en-JP"/>
          </a:p>
          <a:p>
            <a:endParaRPr lang="en-JP"/>
          </a:p>
        </p:txBody>
      </p:sp>
      <p:sp>
        <p:nvSpPr>
          <p:cNvPr id="4" name="Slide Number Placeholder 3"/>
          <p:cNvSpPr>
            <a:spLocks noGrp="1"/>
          </p:cNvSpPr>
          <p:nvPr>
            <p:ph type="sldNum" sz="quarter" idx="5"/>
          </p:nvPr>
        </p:nvSpPr>
        <p:spPr/>
        <p:txBody>
          <a:bodyPr/>
          <a:lstStyle/>
          <a:p>
            <a:fld id="{894C9E8B-A61A-BA40-9B78-8E78443D5345}" type="slidenum">
              <a:rPr lang="en-JP" smtClean="0"/>
              <a:t>3</a:t>
            </a:fld>
            <a:endParaRPr lang="en-JP"/>
          </a:p>
        </p:txBody>
      </p:sp>
    </p:spTree>
    <p:extLst>
      <p:ext uri="{BB962C8B-B14F-4D97-AF65-F5344CB8AC3E}">
        <p14:creationId xmlns:p14="http://schemas.microsoft.com/office/powerpoint/2010/main" val="1432252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287EA-42ED-0650-DFAE-3BC403AD0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24018-898F-7F11-F27F-B4CB75BAC2E0}"/>
              </a:ext>
            </a:extLst>
          </p:cNvPr>
          <p:cNvSpPr>
            <a:spLocks noGrp="1" noRot="1" noChangeAspect="1"/>
          </p:cNvSpPr>
          <p:nvPr>
            <p:ph type="sldImg"/>
          </p:nvPr>
        </p:nvSpPr>
        <p:spPr/>
        <p:txBody>
          <a:bodyPr/>
          <a:lstStyle/>
          <a:p>
            <a:endParaRPr lang="en-JP"/>
          </a:p>
        </p:txBody>
      </p:sp>
      <p:sp>
        <p:nvSpPr>
          <p:cNvPr id="3" name="Notes Placeholder 2">
            <a:extLst>
              <a:ext uri="{FF2B5EF4-FFF2-40B4-BE49-F238E27FC236}">
                <a16:creationId xmlns:a16="http://schemas.microsoft.com/office/drawing/2014/main" id="{62294E6D-E38C-922A-1CCF-1C50613A2EE5}"/>
              </a:ext>
            </a:extLst>
          </p:cNvPr>
          <p:cNvSpPr>
            <a:spLocks noGrp="1"/>
          </p:cNvSpPr>
          <p:nvPr>
            <p:ph type="body" idx="1"/>
          </p:nvPr>
        </p:nvSpPr>
        <p:spPr/>
        <p:txBody>
          <a:bodyPr/>
          <a:lstStyle/>
          <a:p>
            <a:r>
              <a:rPr lang="en-JP"/>
              <a:t>それでは、これまでの話を「量子モデル」へと拡張していきましょう。</a:t>
            </a:r>
          </a:p>
          <a:p>
            <a:r>
              <a:rPr lang="en-JP"/>
              <a:t>このモデルにおいて、検証者は量子コンピューターとなって、量子通信を行います。</a:t>
            </a:r>
          </a:p>
          <a:p>
            <a:endParaRPr lang="en-JP"/>
          </a:p>
          <a:p>
            <a:r>
              <a:rPr lang="en-JP"/>
              <a:t>そして、量子分散検証において、証明はどのような物になるでしょうか？</a:t>
            </a:r>
          </a:p>
          <a:p>
            <a:r>
              <a:rPr lang="en-JP"/>
              <a:t>答えは、量子状態です。つまり古典的なビットではなく、量子情報が証明として送られます。</a:t>
            </a:r>
          </a:p>
          <a:p>
            <a:r>
              <a:rPr lang="ja-JP" altLang="en-US" sz="1200" b="0" i="0" u="none" strike="noStrike" kern="1200">
                <a:solidFill>
                  <a:schemeClr val="tx1"/>
                </a:solidFill>
                <a:effectLst/>
                <a:latin typeface="+mn-lt"/>
                <a:ea typeface="+mn-ea"/>
                <a:cs typeface="+mn-cs"/>
              </a:rPr>
              <a:t>これが</a:t>
            </a:r>
            <a:r>
              <a:rPr lang="en-US" altLang="ja-JP" sz="1200" b="0" i="0" u="none" strike="noStrike" kern="1200">
                <a:solidFill>
                  <a:schemeClr val="tx1"/>
                </a:solidFill>
                <a:effectLst/>
                <a:latin typeface="+mn-lt"/>
                <a:ea typeface="+mn-ea"/>
                <a:cs typeface="+mn-cs"/>
              </a:rPr>
              <a:t>『</a:t>
            </a:r>
            <a:r>
              <a:rPr lang="ja-JP" altLang="en-US" sz="1200" b="0" i="0" u="none" strike="noStrike" kern="1200">
                <a:solidFill>
                  <a:schemeClr val="tx1"/>
                </a:solidFill>
                <a:effectLst/>
                <a:latin typeface="+mn-lt"/>
                <a:ea typeface="+mn-ea"/>
                <a:cs typeface="+mn-cs"/>
              </a:rPr>
              <a:t>量子証明</a:t>
            </a:r>
            <a:r>
              <a:rPr lang="en-US" altLang="ja-JP" sz="1200" b="0" i="0" u="none" strike="noStrike" kern="1200">
                <a:solidFill>
                  <a:schemeClr val="tx1"/>
                </a:solidFill>
                <a:effectLst/>
                <a:latin typeface="+mn-lt"/>
                <a:ea typeface="+mn-ea"/>
                <a:cs typeface="+mn-cs"/>
              </a:rPr>
              <a:t>』</a:t>
            </a:r>
            <a:r>
              <a:rPr lang="ja-JP" altLang="en-US" sz="1200" b="0" i="0" u="none" strike="noStrike" kern="1200">
                <a:solidFill>
                  <a:schemeClr val="tx1"/>
                </a:solidFill>
                <a:effectLst/>
                <a:latin typeface="+mn-lt"/>
                <a:ea typeface="+mn-ea"/>
                <a:cs typeface="+mn-cs"/>
              </a:rPr>
              <a:t>と呼ばれるものです。</a:t>
            </a:r>
            <a:endParaRPr lang="en-JP"/>
          </a:p>
        </p:txBody>
      </p:sp>
      <p:sp>
        <p:nvSpPr>
          <p:cNvPr id="4" name="Slide Number Placeholder 3">
            <a:extLst>
              <a:ext uri="{FF2B5EF4-FFF2-40B4-BE49-F238E27FC236}">
                <a16:creationId xmlns:a16="http://schemas.microsoft.com/office/drawing/2014/main" id="{6F841812-9F62-105D-3850-891025D60FD9}"/>
              </a:ext>
            </a:extLst>
          </p:cNvPr>
          <p:cNvSpPr>
            <a:spLocks noGrp="1"/>
          </p:cNvSpPr>
          <p:nvPr>
            <p:ph type="sldNum" sz="quarter" idx="5"/>
          </p:nvPr>
        </p:nvSpPr>
        <p:spPr/>
        <p:txBody>
          <a:bodyPr/>
          <a:lstStyle/>
          <a:p>
            <a:fld id="{894C9E8B-A61A-BA40-9B78-8E78443D5345}" type="slidenum">
              <a:rPr lang="en-JP" smtClean="0"/>
              <a:t>4</a:t>
            </a:fld>
            <a:endParaRPr lang="en-JP"/>
          </a:p>
        </p:txBody>
      </p:sp>
    </p:spTree>
    <p:extLst>
      <p:ext uri="{BB962C8B-B14F-4D97-AF65-F5344CB8AC3E}">
        <p14:creationId xmlns:p14="http://schemas.microsoft.com/office/powerpoint/2010/main" val="1056582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D7B82-EF32-3869-48E9-4C6817AAD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DC190-E3C5-6C52-460D-0D679B1B9D2C}"/>
              </a:ext>
            </a:extLst>
          </p:cNvPr>
          <p:cNvSpPr>
            <a:spLocks noGrp="1" noRot="1" noChangeAspect="1"/>
          </p:cNvSpPr>
          <p:nvPr>
            <p:ph type="sldImg"/>
          </p:nvPr>
        </p:nvSpPr>
        <p:spPr/>
        <p:txBody>
          <a:bodyPr/>
          <a:lstStyle/>
          <a:p>
            <a:endParaRPr lang="en-JP"/>
          </a:p>
        </p:txBody>
      </p:sp>
      <p:sp>
        <p:nvSpPr>
          <p:cNvPr id="3" name="Notes Placeholder 2">
            <a:extLst>
              <a:ext uri="{FF2B5EF4-FFF2-40B4-BE49-F238E27FC236}">
                <a16:creationId xmlns:a16="http://schemas.microsoft.com/office/drawing/2014/main" id="{6F2E6AE3-7E5F-4A4F-2A6D-0B46FFBA1EA5}"/>
              </a:ext>
            </a:extLst>
          </p:cNvPr>
          <p:cNvSpPr>
            <a:spLocks noGrp="1"/>
          </p:cNvSpPr>
          <p:nvPr>
            <p:ph type="body" idx="1"/>
          </p:nvPr>
        </p:nvSpPr>
        <p:spPr/>
        <p:txBody>
          <a:bodyPr/>
          <a:lstStyle/>
          <a:p>
            <a:r>
              <a:rPr lang="en-JP" dirty="0"/>
              <a:t>それでは、これまでの話を「量子モデル」へと拡張していきましょう。</a:t>
            </a:r>
          </a:p>
          <a:p>
            <a:r>
              <a:rPr lang="en-JP" dirty="0"/>
              <a:t>このモデルにおいて、検証者は量子コンピューターとなって、量子通信を行います。</a:t>
            </a:r>
          </a:p>
          <a:p>
            <a:endParaRPr lang="en-JP" dirty="0"/>
          </a:p>
          <a:p>
            <a:r>
              <a:rPr lang="en-JP" dirty="0"/>
              <a:t>そして、量子分散検証において、証明はどのような物になるでしょうか？</a:t>
            </a:r>
          </a:p>
          <a:p>
            <a:r>
              <a:rPr lang="en-JP" dirty="0"/>
              <a:t>答えは、量子状態です。つまり古典的なビットではなく、量子情報が証明として送られます。</a:t>
            </a:r>
          </a:p>
          <a:p>
            <a:r>
              <a:rPr lang="ja-JP" altLang="en-US" sz="1200" b="0" i="0" u="none" strike="noStrike" kern="1200">
                <a:solidFill>
                  <a:schemeClr val="tx1"/>
                </a:solidFill>
                <a:effectLst/>
                <a:latin typeface="+mn-lt"/>
                <a:ea typeface="+mn-ea"/>
                <a:cs typeface="+mn-cs"/>
              </a:rPr>
              <a:t>これが</a:t>
            </a:r>
            <a:r>
              <a:rPr lang="en-US" altLang="ja-JP" sz="1200" b="0" i="0" u="none" strike="noStrike" kern="1200" dirty="0">
                <a:solidFill>
                  <a:schemeClr val="tx1"/>
                </a:solidFill>
                <a:effectLst/>
                <a:latin typeface="+mn-lt"/>
                <a:ea typeface="+mn-ea"/>
                <a:cs typeface="+mn-cs"/>
              </a:rPr>
              <a:t>『</a:t>
            </a:r>
            <a:r>
              <a:rPr lang="ja-JP" altLang="en-US" sz="1200" b="0" i="0" u="none" strike="noStrike" kern="1200">
                <a:solidFill>
                  <a:schemeClr val="tx1"/>
                </a:solidFill>
                <a:effectLst/>
                <a:latin typeface="+mn-lt"/>
                <a:ea typeface="+mn-ea"/>
                <a:cs typeface="+mn-cs"/>
              </a:rPr>
              <a:t>量子証明</a:t>
            </a:r>
            <a:r>
              <a:rPr lang="en-US" altLang="ja-JP" sz="1200" b="0" i="0" u="none" strike="noStrike" kern="1200" dirty="0">
                <a:solidFill>
                  <a:schemeClr val="tx1"/>
                </a:solidFill>
                <a:effectLst/>
                <a:latin typeface="+mn-lt"/>
                <a:ea typeface="+mn-ea"/>
                <a:cs typeface="+mn-cs"/>
              </a:rPr>
              <a:t>』</a:t>
            </a:r>
            <a:r>
              <a:rPr lang="ja-JP" altLang="en-US" sz="1200" b="0" i="0" u="none" strike="noStrike" kern="1200">
                <a:solidFill>
                  <a:schemeClr val="tx1"/>
                </a:solidFill>
                <a:effectLst/>
                <a:latin typeface="+mn-lt"/>
                <a:ea typeface="+mn-ea"/>
                <a:cs typeface="+mn-cs"/>
              </a:rPr>
              <a:t>と呼ばれるものです。</a:t>
            </a:r>
            <a:endParaRPr lang="en-JP" dirty="0"/>
          </a:p>
          <a:p>
            <a:endParaRPr lang="en-JP" dirty="0"/>
          </a:p>
          <a:p>
            <a:r>
              <a:rPr lang="ja-JP" altLang="en-US" sz="1200" b="0" i="0" u="none" strike="noStrike" kern="1200">
                <a:solidFill>
                  <a:schemeClr val="tx1"/>
                </a:solidFill>
                <a:effectLst/>
                <a:latin typeface="+mn-lt"/>
                <a:ea typeface="+mn-ea"/>
                <a:cs typeface="+mn-cs"/>
              </a:rPr>
              <a:t>量子証明の特徴の一つは、</a:t>
            </a:r>
            <a:r>
              <a:rPr lang="ja-JP" altLang="en-US" sz="1200" b="1" i="0" kern="1200">
                <a:solidFill>
                  <a:schemeClr val="tx1"/>
                </a:solidFill>
                <a:effectLst/>
                <a:latin typeface="+mn-lt"/>
                <a:ea typeface="+mn-ea"/>
                <a:cs typeface="+mn-cs"/>
              </a:rPr>
              <a:t>検証者が</a:t>
            </a:r>
            <a:r>
              <a:rPr lang="ja-JP" altLang="en-US" sz="1200" b="0" i="0" u="none" strike="noStrike" kern="1200">
                <a:solidFill>
                  <a:schemeClr val="tx1"/>
                </a:solidFill>
                <a:effectLst/>
                <a:latin typeface="+mn-lt"/>
                <a:ea typeface="+mn-ea"/>
                <a:cs typeface="+mn-cs"/>
              </a:rPr>
              <a:t>量子もつれを共有できる点にあります。</a:t>
            </a:r>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しかし、本日は、検証者の間に</a:t>
            </a:r>
            <a:r>
              <a:rPr lang="ja-JP" altLang="en-JP" sz="1200" b="0" i="0" u="none" strike="noStrike" kern="1200">
                <a:solidFill>
                  <a:schemeClr val="tx1"/>
                </a:solidFill>
                <a:effectLst/>
                <a:latin typeface="+mn-lt"/>
                <a:ea typeface="+mn-ea"/>
                <a:cs typeface="+mn-cs"/>
              </a:rPr>
              <a:t>量子もつれ</a:t>
            </a:r>
            <a:r>
              <a:rPr lang="ja-JP" altLang="en-US" sz="1200" b="0" i="0" u="none" strike="noStrike" kern="1200">
                <a:solidFill>
                  <a:schemeClr val="tx1"/>
                </a:solidFill>
                <a:effectLst/>
                <a:latin typeface="+mn-lt"/>
                <a:ea typeface="+mn-ea"/>
                <a:cs typeface="+mn-cs"/>
              </a:rPr>
              <a:t>が生じない「可分証明」に焦点を当ててお話しします。</a:t>
            </a:r>
            <a:endParaRPr lang="it-IT" altLang="ja-JP" sz="1200" b="0" i="0" u="none" strike="noStrike" kern="1200" dirty="0">
              <a:solidFill>
                <a:schemeClr val="tx1"/>
              </a:solidFill>
              <a:effectLst/>
              <a:latin typeface="+mn-lt"/>
              <a:ea typeface="+mn-ea"/>
              <a:cs typeface="+mn-cs"/>
            </a:endParaRPr>
          </a:p>
          <a:p>
            <a:endParaRPr lang="en-JP" sz="1200" b="0" i="0" u="none" strike="noStrike" kern="1200" dirty="0">
              <a:solidFill>
                <a:schemeClr val="tx1"/>
              </a:solidFill>
              <a:effectLst/>
              <a:latin typeface="+mn-lt"/>
              <a:ea typeface="+mn-ea"/>
              <a:cs typeface="+mn-cs"/>
            </a:endParaRPr>
          </a:p>
          <a:p>
            <a:r>
              <a:rPr lang="en-JP" sz="1200" b="0" i="0" u="none" strike="noStrike" kern="1200" dirty="0">
                <a:solidFill>
                  <a:schemeClr val="tx1"/>
                </a:solidFill>
                <a:effectLst/>
                <a:latin typeface="+mn-lt"/>
                <a:ea typeface="+mn-ea"/>
                <a:cs typeface="+mn-cs"/>
              </a:rPr>
              <a:t>ただし</a:t>
            </a:r>
            <a:r>
              <a:rPr lang="it-IT" sz="1200" b="0" i="0" u="none" strike="noStrike" kern="1200" dirty="0">
                <a:solidFill>
                  <a:schemeClr val="tx1"/>
                </a:solidFill>
                <a:effectLst/>
                <a:latin typeface="+mn-lt"/>
                <a:ea typeface="+mn-ea"/>
                <a:cs typeface="+mn-cs"/>
              </a:rPr>
              <a:t>、</a:t>
            </a:r>
            <a:r>
              <a:rPr lang="it-IT" sz="1200" b="0" i="0" u="none" strike="noStrike" kern="1200" dirty="0" err="1">
                <a:solidFill>
                  <a:schemeClr val="tx1"/>
                </a:solidFill>
                <a:effectLst/>
                <a:latin typeface="+mn-lt"/>
                <a:ea typeface="+mn-ea"/>
                <a:cs typeface="+mn-cs"/>
              </a:rPr>
              <a:t>これは単一の検証者が持つ証明内における、量子もつれを制限する物ではありません</a:t>
            </a:r>
            <a:r>
              <a:rPr lang="it-IT" sz="1200" b="0" i="0" u="none" strike="noStrike" kern="1200" dirty="0">
                <a:solidFill>
                  <a:schemeClr val="tx1"/>
                </a:solidFill>
                <a:effectLst/>
                <a:latin typeface="+mn-lt"/>
                <a:ea typeface="+mn-ea"/>
                <a:cs typeface="+mn-cs"/>
              </a:rPr>
              <a:t>。</a:t>
            </a:r>
            <a:endParaRPr lang="en-JP"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D86804D-4412-E0EF-5AFD-DC246700205F}"/>
              </a:ext>
            </a:extLst>
          </p:cNvPr>
          <p:cNvSpPr>
            <a:spLocks noGrp="1"/>
          </p:cNvSpPr>
          <p:nvPr>
            <p:ph type="sldNum" sz="quarter" idx="5"/>
          </p:nvPr>
        </p:nvSpPr>
        <p:spPr/>
        <p:txBody>
          <a:bodyPr/>
          <a:lstStyle/>
          <a:p>
            <a:fld id="{894C9E8B-A61A-BA40-9B78-8E78443D5345}" type="slidenum">
              <a:rPr lang="en-JP" smtClean="0"/>
              <a:t>5</a:t>
            </a:fld>
            <a:endParaRPr lang="en-JP"/>
          </a:p>
        </p:txBody>
      </p:sp>
    </p:spTree>
    <p:extLst>
      <p:ext uri="{BB962C8B-B14F-4D97-AF65-F5344CB8AC3E}">
        <p14:creationId xmlns:p14="http://schemas.microsoft.com/office/powerpoint/2010/main" val="444536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38B50-F731-4020-CB76-3C94EABE5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75DE0-9B8C-0124-EF6E-AA06C3D2115E}"/>
              </a:ext>
            </a:extLst>
          </p:cNvPr>
          <p:cNvSpPr>
            <a:spLocks noGrp="1" noRot="1" noChangeAspect="1"/>
          </p:cNvSpPr>
          <p:nvPr>
            <p:ph type="sldImg"/>
          </p:nvPr>
        </p:nvSpPr>
        <p:spPr/>
        <p:txBody>
          <a:bodyPr/>
          <a:lstStyle/>
          <a:p>
            <a:endParaRPr lang="en-JP"/>
          </a:p>
        </p:txBody>
      </p:sp>
      <p:sp>
        <p:nvSpPr>
          <p:cNvPr id="3" name="Notes Placeholder 2">
            <a:extLst>
              <a:ext uri="{FF2B5EF4-FFF2-40B4-BE49-F238E27FC236}">
                <a16:creationId xmlns:a16="http://schemas.microsoft.com/office/drawing/2014/main" id="{2E8D5C37-41F0-805E-CCE4-15D5DCE0110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a:t>本論に入る前に、複数の証明を用いる設定についてご説明したいと思います。</a:t>
            </a:r>
            <a:endParaRPr lang="en-US" altLang="ja-JP" dirty="0"/>
          </a:p>
          <a:p>
            <a:pPr marL="0" marR="0" indent="0" algn="l" defTabSz="914400" rtl="0" eaLnBrk="1" fontAlgn="auto" latinLnBrk="0" hangingPunct="1">
              <a:lnSpc>
                <a:spcPct val="100000"/>
              </a:lnSpc>
              <a:spcBef>
                <a:spcPts val="0"/>
              </a:spcBef>
              <a:spcAft>
                <a:spcPts val="0"/>
              </a:spcAft>
              <a:buClrTx/>
              <a:buSzTx/>
              <a:buFontTx/>
              <a:buNone/>
              <a:tabLst/>
              <a:defRPr/>
            </a:pPr>
            <a:endParaRPr lang="en-JP" dirty="0"/>
          </a:p>
          <a:p>
            <a:pPr marL="0" marR="0" indent="0" algn="l" defTabSz="914400" rtl="0" eaLnBrk="1" fontAlgn="auto" latinLnBrk="0" hangingPunct="1">
              <a:lnSpc>
                <a:spcPct val="100000"/>
              </a:lnSpc>
              <a:spcBef>
                <a:spcPts val="0"/>
              </a:spcBef>
              <a:spcAft>
                <a:spcPts val="0"/>
              </a:spcAft>
              <a:buClrTx/>
              <a:buSzTx/>
              <a:buFontTx/>
              <a:buNone/>
              <a:tabLst/>
              <a:defRPr/>
            </a:pPr>
            <a:r>
              <a:rPr lang="en-JP" dirty="0"/>
              <a:t>古典的モデルでは、本質的な違いはありません。</a:t>
            </a:r>
          </a:p>
          <a:p>
            <a:pPr marL="0" marR="0" indent="0" algn="l" defTabSz="914400" rtl="0" eaLnBrk="1" fontAlgn="auto" latinLnBrk="0" hangingPunct="1">
              <a:lnSpc>
                <a:spcPct val="100000"/>
              </a:lnSpc>
              <a:spcBef>
                <a:spcPts val="0"/>
              </a:spcBef>
              <a:spcAft>
                <a:spcPts val="0"/>
              </a:spcAft>
              <a:buClrTx/>
              <a:buSzTx/>
              <a:buFontTx/>
              <a:buNone/>
              <a:tabLst/>
              <a:defRPr/>
            </a:pPr>
            <a:r>
              <a:rPr lang="en-JP" dirty="0"/>
              <a:t>つまり、２つの短い証明を受けることは、</a:t>
            </a:r>
            <a:r>
              <a:rPr lang="en-US" altLang="ja-JP" sz="1200" b="0" i="0" u="none" strike="noStrike" kern="1200" dirty="0">
                <a:solidFill>
                  <a:schemeClr val="tx1"/>
                </a:solidFill>
                <a:effectLst/>
                <a:latin typeface="+mn-lt"/>
                <a:ea typeface="+mn-ea"/>
                <a:cs typeface="+mn-cs"/>
              </a:rPr>
              <a:t>1</a:t>
            </a:r>
            <a:r>
              <a:rPr lang="ja-JP" altLang="en-US" sz="1200" b="0" i="0" u="none" strike="noStrike" kern="1200">
                <a:solidFill>
                  <a:schemeClr val="tx1"/>
                </a:solidFill>
                <a:effectLst/>
                <a:latin typeface="+mn-lt"/>
                <a:ea typeface="+mn-ea"/>
                <a:cs typeface="+mn-cs"/>
              </a:rPr>
              <a:t>つの長い証明と常に等価だからです。</a:t>
            </a:r>
            <a:endParaRPr lang="en-US" altLang="ja-JP"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mn-lt"/>
                <a:ea typeface="+mn-ea"/>
                <a:cs typeface="+mn-cs"/>
              </a:rPr>
              <a:t>一方、量子証明の場合はもう少し複雑になります</a:t>
            </a:r>
            <a:r>
              <a:rPr lang="en-US" sz="1200" b="0" i="0" u="none" strike="noStrike"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mn-lt"/>
                <a:ea typeface="+mn-ea"/>
                <a:cs typeface="+mn-cs"/>
              </a:rPr>
              <a:t>その背景にあるのが、量子もつれです</a:t>
            </a:r>
            <a:r>
              <a:rPr lang="en-US" sz="1200" b="0" i="0" u="none" strike="noStrike"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具体的に、複数の証明の間には、量子もつれが生じないという制約があります。</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kern="1200">
                <a:solidFill>
                  <a:schemeClr val="tx1"/>
                </a:solidFill>
                <a:effectLst/>
                <a:latin typeface="+mn-lt"/>
                <a:ea typeface="+mn-ea"/>
                <a:cs typeface="+mn-cs"/>
              </a:rPr>
              <a:t>実は、計算複雑性の観点からは、</a:t>
            </a:r>
            <a:r>
              <a:rPr lang="en-US" altLang="ja-JP" sz="1200" b="0" i="0" u="none" strike="noStrike" kern="1200" dirty="0">
                <a:solidFill>
                  <a:schemeClr val="tx1"/>
                </a:solidFill>
                <a:effectLst/>
                <a:latin typeface="+mn-lt"/>
                <a:ea typeface="+mn-ea"/>
                <a:cs typeface="+mn-cs"/>
              </a:rPr>
              <a:t>2</a:t>
            </a:r>
            <a:r>
              <a:rPr lang="ja-JP" altLang="en-US" sz="1200" b="0" i="0" u="none" strike="noStrike" kern="1200">
                <a:solidFill>
                  <a:schemeClr val="tx1"/>
                </a:solidFill>
                <a:effectLst/>
                <a:latin typeface="+mn-lt"/>
                <a:ea typeface="+mn-ea"/>
                <a:cs typeface="+mn-cs"/>
              </a:rPr>
              <a:t>つの量子証明は</a:t>
            </a:r>
            <a:r>
              <a:rPr lang="en-US" altLang="ja-JP" sz="1200" b="0" i="0" u="none" strike="noStrike" kern="1200" dirty="0">
                <a:solidFill>
                  <a:schemeClr val="tx1"/>
                </a:solidFill>
                <a:effectLst/>
                <a:latin typeface="+mn-lt"/>
                <a:ea typeface="+mn-ea"/>
                <a:cs typeface="+mn-cs"/>
              </a:rPr>
              <a:t>1</a:t>
            </a:r>
            <a:r>
              <a:rPr lang="ja-JP" altLang="en-US" sz="1200" b="0" i="0" u="none" strike="noStrike" kern="1200">
                <a:solidFill>
                  <a:schemeClr val="tx1"/>
                </a:solidFill>
                <a:effectLst/>
                <a:latin typeface="+mn-lt"/>
                <a:ea typeface="+mn-ea"/>
                <a:cs typeface="+mn-cs"/>
              </a:rPr>
              <a:t>つよりも</a:t>
            </a:r>
            <a:endParaRPr lang="it-IT" altLang="ja-JP"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kern="1200">
                <a:solidFill>
                  <a:schemeClr val="tx1"/>
                </a:solidFill>
                <a:effectLst/>
                <a:latin typeface="+mn-lt"/>
                <a:ea typeface="+mn-ea"/>
                <a:cs typeface="+mn-cs"/>
              </a:rPr>
              <a:t>強力であると広く信じられています。</a:t>
            </a:r>
            <a:endParaRPr lang="en-US" altLang="ja-JP"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2003</a:t>
            </a:r>
            <a:r>
              <a:rPr lang="ja-JP" altLang="en-US" sz="1200" b="0" i="0" u="none" strike="noStrike" kern="1200">
                <a:solidFill>
                  <a:schemeClr val="tx1"/>
                </a:solidFill>
                <a:effectLst/>
                <a:latin typeface="+mn-lt"/>
                <a:ea typeface="+mn-ea"/>
                <a:cs typeface="+mn-cs"/>
              </a:rPr>
              <a:t>年からの未解決問題ですので、非常に難題だと言われています。</a:t>
            </a:r>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4C57E60-73CA-8273-BDAD-58F4FA4A1554}"/>
              </a:ext>
            </a:extLst>
          </p:cNvPr>
          <p:cNvSpPr>
            <a:spLocks noGrp="1"/>
          </p:cNvSpPr>
          <p:nvPr>
            <p:ph type="sldNum" sz="quarter" idx="5"/>
          </p:nvPr>
        </p:nvSpPr>
        <p:spPr/>
        <p:txBody>
          <a:bodyPr/>
          <a:lstStyle/>
          <a:p>
            <a:fld id="{894C9E8B-A61A-BA40-9B78-8E78443D5345}" type="slidenum">
              <a:rPr lang="en-JP" smtClean="0"/>
              <a:t>6</a:t>
            </a:fld>
            <a:endParaRPr lang="en-JP"/>
          </a:p>
        </p:txBody>
      </p:sp>
    </p:spTree>
    <p:extLst>
      <p:ext uri="{BB962C8B-B14F-4D97-AF65-F5344CB8AC3E}">
        <p14:creationId xmlns:p14="http://schemas.microsoft.com/office/powerpoint/2010/main" val="3731269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2821-AF0E-580C-C074-DF4A63B3C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6B61C-9C67-75C2-B6F3-C66BD52C81E1}"/>
              </a:ext>
            </a:extLst>
          </p:cNvPr>
          <p:cNvSpPr>
            <a:spLocks noGrp="1" noRot="1" noChangeAspect="1"/>
          </p:cNvSpPr>
          <p:nvPr>
            <p:ph type="sldImg"/>
          </p:nvPr>
        </p:nvSpPr>
        <p:spPr/>
        <p:txBody>
          <a:bodyPr/>
          <a:lstStyle/>
          <a:p>
            <a:endParaRPr lang="en-JP"/>
          </a:p>
        </p:txBody>
      </p:sp>
      <p:sp>
        <p:nvSpPr>
          <p:cNvPr id="3" name="Notes Placeholder 2">
            <a:extLst>
              <a:ext uri="{FF2B5EF4-FFF2-40B4-BE49-F238E27FC236}">
                <a16:creationId xmlns:a16="http://schemas.microsoft.com/office/drawing/2014/main" id="{6D568BA9-07DA-72BA-82B2-42DA0E65CFDC}"/>
              </a:ext>
            </a:extLst>
          </p:cNvPr>
          <p:cNvSpPr>
            <a:spLocks noGrp="1"/>
          </p:cNvSpPr>
          <p:nvPr>
            <p:ph type="body" idx="1"/>
          </p:nvPr>
        </p:nvSpPr>
        <p:spPr/>
        <p:txBody>
          <a:bodyPr/>
          <a:lstStyle/>
          <a:p>
            <a:r>
              <a:rPr lang="ja-JP" altLang="en-US" sz="1200" b="0" i="0" u="none" strike="noStrike" kern="1200">
                <a:solidFill>
                  <a:schemeClr val="tx1"/>
                </a:solidFill>
                <a:effectLst/>
                <a:latin typeface="+mn-lt"/>
                <a:ea typeface="+mn-ea"/>
                <a:cs typeface="+mn-cs"/>
              </a:rPr>
              <a:t>それでは、いよいよ本研究の貢献について　お話ししたいと思います。</a:t>
            </a:r>
            <a:endParaRPr lang="en-US" altLang="ja-JP" sz="1200" b="0" i="0" u="none" strike="noStrike" kern="1200" dirty="0">
              <a:solidFill>
                <a:schemeClr val="tx1"/>
              </a:solidFill>
              <a:effectLst/>
              <a:latin typeface="+mn-lt"/>
              <a:ea typeface="+mn-ea"/>
              <a:cs typeface="+mn-cs"/>
            </a:endParaRPr>
          </a:p>
          <a:p>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まずは、</a:t>
            </a:r>
            <a:r>
              <a:rPr lang="ja-JP" altLang="en-JP" sz="1200" b="0" i="0" u="none" strike="noStrike" kern="1200">
                <a:solidFill>
                  <a:schemeClr val="tx1"/>
                </a:solidFill>
                <a:effectLst/>
                <a:latin typeface="+mn-lt"/>
                <a:ea typeface="+mn-ea"/>
                <a:cs typeface="+mn-cs"/>
              </a:rPr>
              <a:t>先ほど議論した</a:t>
            </a:r>
            <a:r>
              <a:rPr lang="ja-JP" altLang="en-US" sz="1200" b="0" i="0" u="none" strike="noStrike" kern="1200">
                <a:solidFill>
                  <a:schemeClr val="tx1"/>
                </a:solidFill>
                <a:effectLst/>
                <a:latin typeface="+mn-lt"/>
                <a:ea typeface="+mn-ea"/>
                <a:cs typeface="+mn-cs"/>
              </a:rPr>
              <a:t>予想から　始めていきましょう。</a:t>
            </a:r>
            <a:endParaRPr lang="it-IT" altLang="ja-JP" sz="1200" b="0" i="0" u="none" strike="noStrike" kern="1200" dirty="0">
              <a:solidFill>
                <a:schemeClr val="tx1"/>
              </a:solidFill>
              <a:effectLst/>
              <a:latin typeface="+mn-lt"/>
              <a:ea typeface="+mn-ea"/>
              <a:cs typeface="+mn-cs"/>
            </a:endParaRPr>
          </a:p>
          <a:p>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非分散の設定では、</a:t>
            </a:r>
            <a:endParaRPr lang="it-IT" altLang="ja-JP" sz="1200" b="0" i="0" u="none" strike="noStrike" kern="1200" dirty="0">
              <a:solidFill>
                <a:schemeClr val="tx1"/>
              </a:solidFill>
              <a:effectLst/>
              <a:latin typeface="+mn-lt"/>
              <a:ea typeface="+mn-ea"/>
              <a:cs typeface="+mn-cs"/>
            </a:endParaRPr>
          </a:p>
          <a:p>
            <a:r>
              <a:rPr lang="en-US" altLang="ja-JP" sz="1200" b="0" i="0" u="none" strike="noStrike" kern="1200" dirty="0">
                <a:solidFill>
                  <a:schemeClr val="tx1"/>
                </a:solidFill>
                <a:effectLst/>
                <a:latin typeface="+mn-lt"/>
                <a:ea typeface="+mn-ea"/>
                <a:cs typeface="+mn-cs"/>
              </a:rPr>
              <a:t>1</a:t>
            </a:r>
            <a:r>
              <a:rPr lang="ja-JP" altLang="en-US" sz="1200" b="0" i="0" u="none" strike="noStrike" kern="1200">
                <a:solidFill>
                  <a:schemeClr val="tx1"/>
                </a:solidFill>
                <a:effectLst/>
                <a:latin typeface="+mn-lt"/>
                <a:ea typeface="+mn-ea"/>
                <a:cs typeface="+mn-cs"/>
              </a:rPr>
              <a:t>つの証明と</a:t>
            </a:r>
            <a:r>
              <a:rPr lang="en-US" altLang="ja-JP" sz="1200" b="0" i="0" u="none" strike="noStrike" kern="1200" dirty="0">
                <a:solidFill>
                  <a:schemeClr val="tx1"/>
                </a:solidFill>
                <a:effectLst/>
                <a:latin typeface="+mn-lt"/>
                <a:ea typeface="+mn-ea"/>
                <a:cs typeface="+mn-cs"/>
              </a:rPr>
              <a:t>2</a:t>
            </a:r>
            <a:r>
              <a:rPr lang="ja-JP" altLang="en-US" sz="1200" b="0" i="0" u="none" strike="noStrike" kern="1200">
                <a:solidFill>
                  <a:schemeClr val="tx1"/>
                </a:solidFill>
                <a:effectLst/>
                <a:latin typeface="+mn-lt"/>
                <a:ea typeface="+mn-ea"/>
                <a:cs typeface="+mn-cs"/>
              </a:rPr>
              <a:t>つの証明を比較することは、まだ難題ですが、</a:t>
            </a:r>
            <a:endParaRPr lang="it-IT" altLang="ja-JP" sz="1200" b="0" i="0" u="none" strike="noStrike" kern="1200" dirty="0">
              <a:solidFill>
                <a:schemeClr val="tx1"/>
              </a:solidFill>
              <a:effectLst/>
              <a:latin typeface="+mn-lt"/>
              <a:ea typeface="+mn-ea"/>
              <a:cs typeface="+mn-cs"/>
            </a:endParaRPr>
          </a:p>
          <a:p>
            <a:r>
              <a:rPr lang="en-US" altLang="ja-JP" sz="1200" b="0" i="0" u="none" strike="noStrike" kern="1200" dirty="0">
                <a:solidFill>
                  <a:schemeClr val="tx1"/>
                </a:solidFill>
                <a:effectLst/>
                <a:latin typeface="+mn-lt"/>
                <a:ea typeface="+mn-ea"/>
                <a:cs typeface="+mn-cs"/>
              </a:rPr>
              <a:t>2</a:t>
            </a:r>
            <a:r>
              <a:rPr lang="ja-JP" altLang="en-US" sz="1200" b="0" i="0" u="none" strike="noStrike" kern="1200">
                <a:solidFill>
                  <a:schemeClr val="tx1"/>
                </a:solidFill>
                <a:effectLst/>
                <a:latin typeface="+mn-lt"/>
                <a:ea typeface="+mn-ea"/>
                <a:cs typeface="+mn-cs"/>
              </a:rPr>
              <a:t>つ以上の証明がある場合、</a:t>
            </a:r>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その能力は変わらないことが分かっています。</a:t>
            </a:r>
            <a:endParaRPr lang="it-IT" altLang="ja-JP" sz="1200" b="0" i="0" u="none" strike="noStrike" kern="1200" dirty="0">
              <a:solidFill>
                <a:schemeClr val="tx1"/>
              </a:solidFill>
              <a:effectLst/>
              <a:latin typeface="+mn-lt"/>
              <a:ea typeface="+mn-ea"/>
              <a:cs typeface="+mn-cs"/>
            </a:endParaRPr>
          </a:p>
          <a:p>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この結果は、</a:t>
            </a:r>
            <a:r>
              <a:rPr lang="en-US" altLang="ja-JP" sz="1200" b="0" i="0" u="none" strike="noStrike" kern="1200" dirty="0">
                <a:solidFill>
                  <a:schemeClr val="tx1"/>
                </a:solidFill>
                <a:effectLst/>
                <a:latin typeface="+mn-lt"/>
                <a:ea typeface="+mn-ea"/>
                <a:cs typeface="+mn-cs"/>
              </a:rPr>
              <a:t>Harrow</a:t>
            </a:r>
            <a:r>
              <a:rPr lang="ja-JP" altLang="en-US" sz="1200" b="0" i="0" u="none" strike="noStrike" kern="1200">
                <a:solidFill>
                  <a:schemeClr val="tx1"/>
                </a:solidFill>
                <a:effectLst/>
                <a:latin typeface="+mn-lt"/>
                <a:ea typeface="+mn-ea"/>
                <a:cs typeface="+mn-cs"/>
              </a:rPr>
              <a:t>氏と</a:t>
            </a:r>
            <a:r>
              <a:rPr lang="en-US" altLang="ja-JP" sz="1200" b="0" i="0" u="none" strike="noStrike" kern="1200" dirty="0">
                <a:solidFill>
                  <a:schemeClr val="tx1"/>
                </a:solidFill>
                <a:effectLst/>
                <a:latin typeface="+mn-lt"/>
                <a:ea typeface="+mn-ea"/>
                <a:cs typeface="+mn-cs"/>
              </a:rPr>
              <a:t>Montanaro</a:t>
            </a:r>
            <a:r>
              <a:rPr lang="ja-JP" altLang="en-US" sz="1200" b="0" i="0" u="none" strike="noStrike" kern="1200">
                <a:solidFill>
                  <a:schemeClr val="tx1"/>
                </a:solidFill>
                <a:effectLst/>
                <a:latin typeface="+mn-lt"/>
                <a:ea typeface="+mn-ea"/>
                <a:cs typeface="+mn-cs"/>
              </a:rPr>
              <a:t>氏によって</a:t>
            </a:r>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示されたものです。</a:t>
            </a:r>
            <a:endParaRPr lang="en-US" altLang="ja-JP" sz="1200" b="0" i="0" u="none" strike="noStrike" kern="1200" dirty="0">
              <a:solidFill>
                <a:schemeClr val="tx1"/>
              </a:solidFill>
              <a:effectLst/>
              <a:latin typeface="+mn-lt"/>
              <a:ea typeface="+mn-ea"/>
              <a:cs typeface="+mn-cs"/>
            </a:endParaRPr>
          </a:p>
          <a:p>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では、分散検証の設定はどうでしょうか？</a:t>
            </a:r>
            <a:endParaRPr lang="en-JP" dirty="0"/>
          </a:p>
          <a:p>
            <a:endParaRPr lang="it-IT" altLang="ja-JP" dirty="0"/>
          </a:p>
          <a:p>
            <a:r>
              <a:rPr lang="ja-JP" altLang="en-US"/>
              <a:t>答えるのは、非常に困難です。</a:t>
            </a:r>
            <a:endParaRPr lang="it-IT" altLang="ja-JP" dirty="0"/>
          </a:p>
          <a:p>
            <a:r>
              <a:rPr lang="ja-JP" altLang="en-US"/>
              <a:t>なぜなら、</a:t>
            </a:r>
            <a:r>
              <a:rPr lang="ja-JP" altLang="en-US" sz="1200" b="0" i="0" u="none" strike="noStrike" kern="1200">
                <a:solidFill>
                  <a:schemeClr val="tx1"/>
                </a:solidFill>
                <a:effectLst/>
                <a:latin typeface="+mn-lt"/>
                <a:ea typeface="+mn-ea"/>
                <a:cs typeface="+mn-cs"/>
              </a:rPr>
              <a:t>本研究で </a:t>
            </a:r>
            <a:r>
              <a:rPr lang="ja-JP" altLang="en-US" sz="1200" b="1" i="0" kern="1200">
                <a:solidFill>
                  <a:schemeClr val="tx1"/>
                </a:solidFill>
                <a:effectLst/>
                <a:latin typeface="+mn-lt"/>
                <a:ea typeface="+mn-ea"/>
                <a:cs typeface="+mn-cs"/>
              </a:rPr>
              <a:t>明らかになった</a:t>
            </a:r>
            <a:r>
              <a:rPr lang="ja-JP" altLang="en-US" sz="1200" b="0" i="0" u="none" strike="noStrike" kern="1200">
                <a:solidFill>
                  <a:schemeClr val="tx1"/>
                </a:solidFill>
                <a:effectLst/>
                <a:latin typeface="+mn-lt"/>
                <a:ea typeface="+mn-ea"/>
                <a:cs typeface="+mn-cs"/>
              </a:rPr>
              <a:t>ことは</a:t>
            </a:r>
            <a:br>
              <a:rPr lang="en-US" altLang="ja-JP" dirty="0"/>
            </a:br>
            <a:r>
              <a:rPr lang="ja-JP" altLang="en-US"/>
              <a:t>分散検証における</a:t>
            </a:r>
            <a:r>
              <a:rPr lang="en-US" altLang="ja-JP" dirty="0"/>
              <a:t>『2</a:t>
            </a:r>
            <a:r>
              <a:rPr lang="ja-JP" altLang="en-US"/>
              <a:t>対</a:t>
            </a:r>
            <a:r>
              <a:rPr lang="en-US" dirty="0"/>
              <a:t>k</a:t>
            </a:r>
            <a:r>
              <a:rPr lang="en-US" altLang="ja-JP" dirty="0"/>
              <a:t>』</a:t>
            </a:r>
            <a:r>
              <a:rPr lang="ja-JP" altLang="en-US"/>
              <a:t>の比較が、</a:t>
            </a:r>
            <a:endParaRPr lang="it-IT" altLang="ja-JP" dirty="0"/>
          </a:p>
          <a:p>
            <a:r>
              <a:rPr lang="ja-JP" altLang="en-US"/>
              <a:t>先ほど述べた</a:t>
            </a:r>
            <a:r>
              <a:rPr lang="en-US" altLang="ja-JP" dirty="0"/>
              <a:t>『1</a:t>
            </a:r>
            <a:r>
              <a:rPr lang="ja-JP" altLang="en-US"/>
              <a:t>対</a:t>
            </a:r>
            <a:r>
              <a:rPr lang="en-US" altLang="ja-JP" dirty="0"/>
              <a:t>2』</a:t>
            </a:r>
            <a:r>
              <a:rPr lang="ja-JP" altLang="en-US"/>
              <a:t>の未解決問題を解決することに、</a:t>
            </a:r>
            <a:endParaRPr lang="it-IT" altLang="ja-JP" dirty="0"/>
          </a:p>
          <a:p>
            <a:r>
              <a:rPr lang="ja-JP" altLang="en-US"/>
              <a:t>直接繋がってしまうからです。</a:t>
            </a:r>
            <a:endParaRPr lang="en-JP" dirty="0"/>
          </a:p>
        </p:txBody>
      </p:sp>
      <p:sp>
        <p:nvSpPr>
          <p:cNvPr id="4" name="Slide Number Placeholder 3">
            <a:extLst>
              <a:ext uri="{FF2B5EF4-FFF2-40B4-BE49-F238E27FC236}">
                <a16:creationId xmlns:a16="http://schemas.microsoft.com/office/drawing/2014/main" id="{05111FFB-5571-8FA3-180F-DB73B3BD70DA}"/>
              </a:ext>
            </a:extLst>
          </p:cNvPr>
          <p:cNvSpPr>
            <a:spLocks noGrp="1"/>
          </p:cNvSpPr>
          <p:nvPr>
            <p:ph type="sldNum" sz="quarter" idx="5"/>
          </p:nvPr>
        </p:nvSpPr>
        <p:spPr/>
        <p:txBody>
          <a:bodyPr/>
          <a:lstStyle/>
          <a:p>
            <a:fld id="{894C9E8B-A61A-BA40-9B78-8E78443D5345}" type="slidenum">
              <a:rPr lang="en-JP" smtClean="0"/>
              <a:t>7</a:t>
            </a:fld>
            <a:endParaRPr lang="en-JP"/>
          </a:p>
        </p:txBody>
      </p:sp>
    </p:spTree>
    <p:extLst>
      <p:ext uri="{BB962C8B-B14F-4D97-AF65-F5344CB8AC3E}">
        <p14:creationId xmlns:p14="http://schemas.microsoft.com/office/powerpoint/2010/main" val="1580505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B297B-B26E-3803-0BD6-65E38F7F5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EF052-832A-EC26-5D5C-E25C9FA30020}"/>
              </a:ext>
            </a:extLst>
          </p:cNvPr>
          <p:cNvSpPr>
            <a:spLocks noGrp="1" noRot="1" noChangeAspect="1"/>
          </p:cNvSpPr>
          <p:nvPr>
            <p:ph type="sldImg"/>
          </p:nvPr>
        </p:nvSpPr>
        <p:spPr/>
        <p:txBody>
          <a:bodyPr/>
          <a:lstStyle/>
          <a:p>
            <a:endParaRPr lang="en-JP"/>
          </a:p>
        </p:txBody>
      </p:sp>
      <p:sp>
        <p:nvSpPr>
          <p:cNvPr id="3" name="Notes Placeholder 2">
            <a:extLst>
              <a:ext uri="{FF2B5EF4-FFF2-40B4-BE49-F238E27FC236}">
                <a16:creationId xmlns:a16="http://schemas.microsoft.com/office/drawing/2014/main" id="{73A9F459-55F5-BC6C-823A-1AFD1C5091F1}"/>
              </a:ext>
            </a:extLst>
          </p:cNvPr>
          <p:cNvSpPr>
            <a:spLocks noGrp="1"/>
          </p:cNvSpPr>
          <p:nvPr>
            <p:ph type="body" idx="1"/>
          </p:nvPr>
        </p:nvSpPr>
        <p:spPr/>
        <p:txBody>
          <a:bodyPr/>
          <a:lstStyle/>
          <a:p>
            <a:r>
              <a:rPr lang="ja-JP" altLang="en-US" sz="1200" b="0" i="0" u="none" strike="noStrike" kern="1200">
                <a:solidFill>
                  <a:schemeClr val="tx1"/>
                </a:solidFill>
                <a:effectLst/>
                <a:latin typeface="+mn-lt"/>
                <a:ea typeface="+mn-ea"/>
                <a:cs typeface="+mn-cs"/>
              </a:rPr>
              <a:t>そこで、本研究では、</a:t>
            </a:r>
            <a:r>
              <a:rPr lang="en-US" altLang="ja-JP" sz="1200" b="0" i="0" u="none" strike="noStrike" kern="1200" dirty="0">
                <a:solidFill>
                  <a:schemeClr val="tx1"/>
                </a:solidFill>
                <a:effectLst/>
                <a:latin typeface="+mn-lt"/>
                <a:ea typeface="+mn-ea"/>
                <a:cs typeface="+mn-cs"/>
              </a:rPr>
              <a:t>『</a:t>
            </a:r>
            <a:r>
              <a:rPr lang="ja-JP" altLang="en-US" sz="1200" b="0" i="0" u="none" strike="noStrike" kern="1200">
                <a:solidFill>
                  <a:schemeClr val="tx1"/>
                </a:solidFill>
                <a:effectLst/>
                <a:latin typeface="+mn-lt"/>
                <a:ea typeface="+mn-ea"/>
                <a:cs typeface="+mn-cs"/>
              </a:rPr>
              <a:t>可分証明</a:t>
            </a:r>
            <a:r>
              <a:rPr lang="en-US" altLang="ja-JP" sz="1200" b="0" i="0" u="none" strike="noStrike" kern="1200" dirty="0">
                <a:solidFill>
                  <a:schemeClr val="tx1"/>
                </a:solidFill>
                <a:effectLst/>
                <a:latin typeface="+mn-lt"/>
                <a:ea typeface="+mn-ea"/>
                <a:cs typeface="+mn-cs"/>
              </a:rPr>
              <a:t>』</a:t>
            </a:r>
            <a:r>
              <a:rPr lang="ja-JP" altLang="en-US" sz="1200" b="0" i="0" u="none" strike="noStrike" kern="1200">
                <a:solidFill>
                  <a:schemeClr val="tx1"/>
                </a:solidFill>
                <a:effectLst/>
                <a:latin typeface="+mn-lt"/>
                <a:ea typeface="+mn-ea"/>
                <a:cs typeface="+mn-cs"/>
              </a:rPr>
              <a:t>の設定に注目しました。</a:t>
            </a:r>
            <a:endParaRPr lang="en-US" altLang="ja-JP" sz="1200" b="0" i="0" u="none" strike="noStrike" kern="1200" dirty="0">
              <a:solidFill>
                <a:schemeClr val="tx1"/>
              </a:solidFill>
              <a:effectLst/>
              <a:latin typeface="+mn-lt"/>
              <a:ea typeface="+mn-ea"/>
              <a:cs typeface="+mn-cs"/>
            </a:endParaRPr>
          </a:p>
          <a:p>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この設定において、</a:t>
            </a:r>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我々は、</a:t>
            </a:r>
            <a:r>
              <a:rPr lang="en-US" altLang="ja-JP" sz="1200" b="0" i="0" u="none" strike="noStrike" kern="1200" dirty="0">
                <a:solidFill>
                  <a:schemeClr val="tx1"/>
                </a:solidFill>
                <a:effectLst/>
                <a:latin typeface="+mn-lt"/>
                <a:ea typeface="+mn-ea"/>
                <a:cs typeface="+mn-cs"/>
              </a:rPr>
              <a:t>Harrow</a:t>
            </a:r>
            <a:r>
              <a:rPr lang="ja-JP" altLang="en-US" sz="1200" b="0" i="0" u="none" strike="noStrike" kern="1200">
                <a:solidFill>
                  <a:schemeClr val="tx1"/>
                </a:solidFill>
                <a:effectLst/>
                <a:latin typeface="+mn-lt"/>
                <a:ea typeface="+mn-ea"/>
                <a:cs typeface="+mn-cs"/>
              </a:rPr>
              <a:t>氏と</a:t>
            </a:r>
            <a:r>
              <a:rPr lang="en-US" altLang="ja-JP" sz="1200" b="0" i="0" u="none" strike="noStrike" kern="1200" dirty="0">
                <a:solidFill>
                  <a:schemeClr val="tx1"/>
                </a:solidFill>
                <a:effectLst/>
                <a:latin typeface="+mn-lt"/>
                <a:ea typeface="+mn-ea"/>
                <a:cs typeface="+mn-cs"/>
              </a:rPr>
              <a:t>Montanaro</a:t>
            </a:r>
            <a:r>
              <a:rPr lang="ja-JP" altLang="en-US" sz="1200" b="0" i="0" u="none" strike="noStrike" kern="1200">
                <a:solidFill>
                  <a:schemeClr val="tx1"/>
                </a:solidFill>
                <a:effectLst/>
                <a:latin typeface="+mn-lt"/>
                <a:ea typeface="+mn-ea"/>
                <a:cs typeface="+mn-cs"/>
              </a:rPr>
              <a:t>氏と同様の結果が</a:t>
            </a:r>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成り立つことを示しました。</a:t>
            </a:r>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つまり、可分証明では、証明が</a:t>
            </a:r>
            <a:r>
              <a:rPr lang="en-US" altLang="ja-JP" sz="1200" b="0" i="0" u="none" strike="noStrike" kern="1200" dirty="0">
                <a:solidFill>
                  <a:schemeClr val="tx1"/>
                </a:solidFill>
                <a:effectLst/>
                <a:latin typeface="+mn-lt"/>
                <a:ea typeface="+mn-ea"/>
                <a:cs typeface="+mn-cs"/>
              </a:rPr>
              <a:t>2</a:t>
            </a:r>
            <a:r>
              <a:rPr lang="ja-JP" altLang="en-US" sz="1200" b="0" i="0" u="none" strike="noStrike" kern="1200">
                <a:solidFill>
                  <a:schemeClr val="tx1"/>
                </a:solidFill>
                <a:effectLst/>
                <a:latin typeface="+mn-lt"/>
                <a:ea typeface="+mn-ea"/>
                <a:cs typeface="+mn-cs"/>
              </a:rPr>
              <a:t>つ以上あっても、</a:t>
            </a:r>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能力は変わらないということです。</a:t>
            </a:r>
            <a:endParaRPr lang="it-IT" altLang="ja-JP" sz="1200" b="0" i="0" u="none" strike="noStrike" kern="1200" dirty="0">
              <a:solidFill>
                <a:schemeClr val="tx1"/>
              </a:solidFill>
              <a:effectLst/>
              <a:latin typeface="+mn-lt"/>
              <a:ea typeface="+mn-ea"/>
              <a:cs typeface="+mn-cs"/>
            </a:endParaRPr>
          </a:p>
          <a:p>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そして、少し通信オーバヘッドを 許容する場合は、</a:t>
            </a:r>
          </a:p>
          <a:p>
            <a:r>
              <a:rPr lang="ja-JP" altLang="en-US" sz="1200" b="0" i="0" u="none" strike="noStrike" kern="1200">
                <a:solidFill>
                  <a:schemeClr val="tx1"/>
                </a:solidFill>
                <a:effectLst/>
                <a:latin typeface="+mn-lt"/>
                <a:ea typeface="+mn-ea"/>
                <a:cs typeface="+mn-cs"/>
              </a:rPr>
              <a:t>驚（おどろ）くべき 結果が 示されました。</a:t>
            </a:r>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それは、</a:t>
            </a:r>
            <a:r>
              <a:rPr lang="en-US" altLang="ja-JP" sz="1200" b="0" i="0" u="none" strike="noStrike" kern="1200" dirty="0">
                <a:solidFill>
                  <a:schemeClr val="tx1"/>
                </a:solidFill>
                <a:effectLst/>
                <a:latin typeface="+mn-lt"/>
                <a:ea typeface="+mn-ea"/>
                <a:cs typeface="+mn-cs"/>
              </a:rPr>
              <a:t>2</a:t>
            </a:r>
            <a:r>
              <a:rPr lang="ja-JP" altLang="en-US" sz="1200" b="0" i="0" u="none" strike="noStrike" kern="1200">
                <a:solidFill>
                  <a:schemeClr val="tx1"/>
                </a:solidFill>
                <a:effectLst/>
                <a:latin typeface="+mn-lt"/>
                <a:ea typeface="+mn-ea"/>
                <a:cs typeface="+mn-cs"/>
              </a:rPr>
              <a:t>つの証明が </a:t>
            </a:r>
            <a:r>
              <a:rPr lang="en-US" altLang="ja-JP" sz="1200" b="0" i="0" u="none" strike="noStrike" kern="1200" dirty="0">
                <a:solidFill>
                  <a:schemeClr val="tx1"/>
                </a:solidFill>
                <a:effectLst/>
                <a:latin typeface="+mn-lt"/>
                <a:ea typeface="+mn-ea"/>
                <a:cs typeface="+mn-cs"/>
              </a:rPr>
              <a:t>1</a:t>
            </a:r>
            <a:r>
              <a:rPr lang="ja-JP" altLang="en-US" sz="1200" b="0" i="0" u="none" strike="noStrike" kern="1200">
                <a:solidFill>
                  <a:schemeClr val="tx1"/>
                </a:solidFill>
                <a:effectLst/>
                <a:latin typeface="+mn-lt"/>
                <a:ea typeface="+mn-ea"/>
                <a:cs typeface="+mn-cs"/>
              </a:rPr>
              <a:t>つと 等価であるという点です。</a:t>
            </a:r>
            <a:endParaRPr lang="en-US" altLang="ja-JP"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5ECCBFE-529B-527E-2BAB-2AFDE400A3CE}"/>
              </a:ext>
            </a:extLst>
          </p:cNvPr>
          <p:cNvSpPr>
            <a:spLocks noGrp="1"/>
          </p:cNvSpPr>
          <p:nvPr>
            <p:ph type="sldNum" sz="quarter" idx="5"/>
          </p:nvPr>
        </p:nvSpPr>
        <p:spPr/>
        <p:txBody>
          <a:bodyPr/>
          <a:lstStyle/>
          <a:p>
            <a:fld id="{894C9E8B-A61A-BA40-9B78-8E78443D5345}" type="slidenum">
              <a:rPr lang="en-JP" smtClean="0"/>
              <a:t>8</a:t>
            </a:fld>
            <a:endParaRPr lang="en-JP"/>
          </a:p>
        </p:txBody>
      </p:sp>
    </p:spTree>
    <p:extLst>
      <p:ext uri="{BB962C8B-B14F-4D97-AF65-F5344CB8AC3E}">
        <p14:creationId xmlns:p14="http://schemas.microsoft.com/office/powerpoint/2010/main" val="3920848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4EDD0-B7C0-BF27-7B1B-2001C1CFF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42570-4D2A-366E-5072-E522AD5533E3}"/>
              </a:ext>
            </a:extLst>
          </p:cNvPr>
          <p:cNvSpPr>
            <a:spLocks noGrp="1" noRot="1" noChangeAspect="1"/>
          </p:cNvSpPr>
          <p:nvPr>
            <p:ph type="sldImg"/>
          </p:nvPr>
        </p:nvSpPr>
        <p:spPr/>
        <p:txBody>
          <a:bodyPr/>
          <a:lstStyle/>
          <a:p>
            <a:endParaRPr lang="en-JP"/>
          </a:p>
        </p:txBody>
      </p:sp>
      <p:sp>
        <p:nvSpPr>
          <p:cNvPr id="3" name="Notes Placeholder 2">
            <a:extLst>
              <a:ext uri="{FF2B5EF4-FFF2-40B4-BE49-F238E27FC236}">
                <a16:creationId xmlns:a16="http://schemas.microsoft.com/office/drawing/2014/main" id="{9E3DAE97-32DA-3C64-5AD7-102687995F54}"/>
              </a:ext>
            </a:extLst>
          </p:cNvPr>
          <p:cNvSpPr>
            <a:spLocks noGrp="1"/>
          </p:cNvSpPr>
          <p:nvPr>
            <p:ph type="body" idx="1"/>
          </p:nvPr>
        </p:nvSpPr>
        <p:spPr/>
        <p:txBody>
          <a:bodyPr/>
          <a:lstStyle/>
          <a:p>
            <a:r>
              <a:rPr lang="ja-JP" altLang="en-US" sz="1200" b="0" i="0" u="none" strike="noStrike" kern="1200">
                <a:solidFill>
                  <a:schemeClr val="tx1"/>
                </a:solidFill>
                <a:effectLst/>
                <a:latin typeface="+mn-lt"/>
                <a:ea typeface="+mn-ea"/>
                <a:cs typeface="+mn-cs"/>
              </a:rPr>
              <a:t>最後に、簡潔にまとめます。</a:t>
            </a:r>
            <a:endParaRPr lang="en-US" altLang="ja-JP" sz="1200" b="0" i="0" u="none" strike="noStrike" kern="1200" dirty="0">
              <a:solidFill>
                <a:schemeClr val="tx1"/>
              </a:solidFill>
              <a:effectLst/>
              <a:latin typeface="+mn-lt"/>
              <a:ea typeface="+mn-ea"/>
              <a:cs typeface="+mn-cs"/>
            </a:endParaRPr>
          </a:p>
          <a:p>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分散検証の、可分証明の設定では、</a:t>
            </a:r>
          </a:p>
          <a:p>
            <a:r>
              <a:rPr lang="ja-JP" altLang="en-US" sz="1200" b="0" i="0" u="none" strike="noStrike" kern="1200">
                <a:solidFill>
                  <a:schemeClr val="tx1"/>
                </a:solidFill>
                <a:effectLst/>
                <a:latin typeface="+mn-lt"/>
                <a:ea typeface="+mn-ea"/>
                <a:cs typeface="+mn-cs"/>
              </a:rPr>
              <a:t>証明がいくつあっても能力は同じです。</a:t>
            </a:r>
            <a:endParaRPr lang="it-IT" altLang="ja-JP" sz="1200" b="0" i="0" u="none" strike="noStrike" kern="1200" dirty="0">
              <a:solidFill>
                <a:schemeClr val="tx1"/>
              </a:solidFill>
              <a:effectLst/>
              <a:latin typeface="+mn-lt"/>
              <a:ea typeface="+mn-ea"/>
              <a:cs typeface="+mn-cs"/>
            </a:endParaRPr>
          </a:p>
          <a:p>
            <a:endParaRPr lang="it-IT"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そして、今後の展望ですね。</a:t>
            </a:r>
            <a:endParaRPr lang="en-US" altLang="ja-JP" sz="1200" b="0" i="0" u="none" strike="noStrike" kern="1200" dirty="0">
              <a:solidFill>
                <a:schemeClr val="tx1"/>
              </a:solidFill>
              <a:effectLst/>
              <a:latin typeface="+mn-lt"/>
              <a:ea typeface="+mn-ea"/>
              <a:cs typeface="+mn-cs"/>
            </a:endParaRPr>
          </a:p>
          <a:p>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第一に、もちろん、一般的な量子証明を 調べたいと考えています。</a:t>
            </a:r>
            <a:br>
              <a:rPr lang="en-US" altLang="ja-JP" sz="1200" b="0" i="0" u="none" strike="noStrike" kern="1200" dirty="0">
                <a:solidFill>
                  <a:schemeClr val="tx1"/>
                </a:solidFill>
                <a:effectLst/>
                <a:latin typeface="+mn-lt"/>
                <a:ea typeface="+mn-ea"/>
                <a:cs typeface="+mn-cs"/>
              </a:rPr>
            </a:br>
            <a:r>
              <a:rPr lang="ja-JP" altLang="en-US" sz="1200" b="0" i="0" u="none" strike="noStrike" kern="1200">
                <a:solidFill>
                  <a:schemeClr val="tx1"/>
                </a:solidFill>
                <a:effectLst/>
                <a:latin typeface="+mn-lt"/>
                <a:ea typeface="+mn-ea"/>
                <a:cs typeface="+mn-cs"/>
              </a:rPr>
              <a:t>難題ですが、別の前提で 分析すれば、進展（しんてん）が あるかもしれません</a:t>
            </a:r>
            <a:br>
              <a:rPr lang="en-US" altLang="ja-JP" sz="1200" b="0" i="0" u="none" strike="noStrike" kern="1200" dirty="0">
                <a:solidFill>
                  <a:schemeClr val="tx1"/>
                </a:solidFill>
                <a:effectLst/>
                <a:latin typeface="+mn-lt"/>
                <a:ea typeface="+mn-ea"/>
                <a:cs typeface="+mn-cs"/>
              </a:rPr>
            </a:br>
            <a:br>
              <a:rPr lang="en-US" altLang="ja-JP" sz="1200" b="0" i="0" u="none" strike="noStrike" kern="1200" dirty="0">
                <a:solidFill>
                  <a:schemeClr val="tx1"/>
                </a:solidFill>
                <a:effectLst/>
                <a:latin typeface="+mn-lt"/>
                <a:ea typeface="+mn-ea"/>
                <a:cs typeface="+mn-cs"/>
              </a:rPr>
            </a:br>
            <a:r>
              <a:rPr lang="ja-JP" altLang="en-US" sz="1200" b="0" i="0" u="none" strike="noStrike" kern="1200">
                <a:solidFill>
                  <a:schemeClr val="tx1"/>
                </a:solidFill>
                <a:effectLst/>
                <a:latin typeface="+mn-lt"/>
                <a:ea typeface="+mn-ea"/>
                <a:cs typeface="+mn-cs"/>
              </a:rPr>
              <a:t>第二に、量子分散検証における効率的なエラー削減プロトコルの開発も重要な課題だと思います。</a:t>
            </a:r>
            <a:endParaRPr lang="en-US" altLang="ja-JP" sz="1200" b="0" i="0" u="none" strike="noStrike" kern="1200" dirty="0">
              <a:solidFill>
                <a:schemeClr val="tx1"/>
              </a:solidFill>
              <a:effectLst/>
              <a:latin typeface="+mn-lt"/>
              <a:ea typeface="+mn-ea"/>
              <a:cs typeface="+mn-cs"/>
            </a:endParaRPr>
          </a:p>
          <a:p>
            <a:endParaRPr lang="en-US" altLang="ja-JP" sz="1200" b="0" i="0" u="none" strike="noStrike" kern="1200" dirty="0">
              <a:solidFill>
                <a:schemeClr val="tx1"/>
              </a:solidFill>
              <a:effectLst/>
              <a:latin typeface="+mn-lt"/>
              <a:ea typeface="+mn-ea"/>
              <a:cs typeface="+mn-cs"/>
            </a:endParaRPr>
          </a:p>
          <a:p>
            <a:r>
              <a:rPr lang="ja-JP" altLang="en-US" sz="1200" b="0" i="0" u="none" strike="noStrike" kern="1200">
                <a:solidFill>
                  <a:schemeClr val="tx1"/>
                </a:solidFill>
                <a:effectLst/>
                <a:latin typeface="+mn-lt"/>
                <a:ea typeface="+mn-ea"/>
                <a:cs typeface="+mn-cs"/>
              </a:rPr>
              <a:t>以上で、私の発表を終わります。ご清聴ありがとうございました。</a:t>
            </a:r>
            <a:endParaRPr lang="en-US" altLang="ja-JP"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E31B4B3-AF28-23B2-0141-2D5DE11A1489}"/>
              </a:ext>
            </a:extLst>
          </p:cNvPr>
          <p:cNvSpPr>
            <a:spLocks noGrp="1"/>
          </p:cNvSpPr>
          <p:nvPr>
            <p:ph type="sldNum" sz="quarter" idx="5"/>
          </p:nvPr>
        </p:nvSpPr>
        <p:spPr/>
        <p:txBody>
          <a:bodyPr/>
          <a:lstStyle/>
          <a:p>
            <a:fld id="{894C9E8B-A61A-BA40-9B78-8E78443D5345}" type="slidenum">
              <a:rPr lang="en-JP" smtClean="0"/>
              <a:t>9</a:t>
            </a:fld>
            <a:endParaRPr lang="en-JP"/>
          </a:p>
        </p:txBody>
      </p:sp>
    </p:spTree>
    <p:extLst>
      <p:ext uri="{BB962C8B-B14F-4D97-AF65-F5344CB8AC3E}">
        <p14:creationId xmlns:p14="http://schemas.microsoft.com/office/powerpoint/2010/main" val="1032537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F31A5-0DAE-72D7-51A6-6B1009F923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E50D9185-0077-2BAA-D0D9-EE164FBC8D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72CE882D-5F16-8A17-A3DC-520E09922168}"/>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5" name="Footer Placeholder 4">
            <a:extLst>
              <a:ext uri="{FF2B5EF4-FFF2-40B4-BE49-F238E27FC236}">
                <a16:creationId xmlns:a16="http://schemas.microsoft.com/office/drawing/2014/main" id="{23DBE6C5-EB7E-ED15-AA31-7575BD22A689}"/>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B0F7A5EB-4D84-4D82-E365-EB5E37BDDEF8}"/>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1789873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CCF71-5EDA-33FF-17C2-CF5AF2B218C0}"/>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84127648-42EA-38C6-9019-39C35E348A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2127F11C-A919-CAB7-DB18-29E984B8157D}"/>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5" name="Footer Placeholder 4">
            <a:extLst>
              <a:ext uri="{FF2B5EF4-FFF2-40B4-BE49-F238E27FC236}">
                <a16:creationId xmlns:a16="http://schemas.microsoft.com/office/drawing/2014/main" id="{0DCE3057-CBD0-D72E-D2EF-3F0C3D492327}"/>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B2C58ED3-E204-BD8E-DCBF-772EE2ED3EAD}"/>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747452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FCA79-F0BC-2A69-F0BA-F885D7D25D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7E5367DE-E7B1-543D-7083-D6CB682BEB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D6B3B-2D00-79A2-0E69-BCCFC5F3E4E0}"/>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5" name="Footer Placeholder 4">
            <a:extLst>
              <a:ext uri="{FF2B5EF4-FFF2-40B4-BE49-F238E27FC236}">
                <a16:creationId xmlns:a16="http://schemas.microsoft.com/office/drawing/2014/main" id="{41E962CA-9D3C-F01C-CFAB-AE263FF4F5E8}"/>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9763F50-7FCB-E2EA-E625-573C2E61FA41}"/>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2259460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0AF63-A42E-D197-19E8-6BDDC67FC6F5}"/>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E7968485-E687-6890-80F1-86592D6FF8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C2CF259A-F571-1E4B-8827-7353CB7C8C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3D9BD6E3-78E1-A5F4-BD48-580359A1815C}"/>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6" name="Footer Placeholder 5">
            <a:extLst>
              <a:ext uri="{FF2B5EF4-FFF2-40B4-BE49-F238E27FC236}">
                <a16:creationId xmlns:a16="http://schemas.microsoft.com/office/drawing/2014/main" id="{69327000-54B8-9959-2E2F-FBB3EC2103E8}"/>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6281504D-E736-8013-1F0E-E857B4D911F4}"/>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271026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1EDD5-7DA0-1EDC-A98D-B99687815C60}"/>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B7FCE4DB-6A73-CE55-8DAF-E01DB5EC48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07622A-7499-403D-8649-3E800BC91B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B6974680-F6D7-12D4-54BE-027D224F0A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145BC2-5238-E8C2-7A15-F34FA835AC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A97FEE5D-4CC2-DBEB-16D0-3B4CACCAC802}"/>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8" name="Footer Placeholder 7">
            <a:extLst>
              <a:ext uri="{FF2B5EF4-FFF2-40B4-BE49-F238E27FC236}">
                <a16:creationId xmlns:a16="http://schemas.microsoft.com/office/drawing/2014/main" id="{A9619621-70F6-4CCC-BC69-D5118BF34251}"/>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3BC92AF3-AF96-CBFC-D6DF-114EBBE8653C}"/>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235688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757EF-723F-7043-9BED-259B3A753926}"/>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D2CB1615-563E-1AE1-8A33-EC36F732CBEB}"/>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4" name="Footer Placeholder 3">
            <a:extLst>
              <a:ext uri="{FF2B5EF4-FFF2-40B4-BE49-F238E27FC236}">
                <a16:creationId xmlns:a16="http://schemas.microsoft.com/office/drawing/2014/main" id="{7594C92F-0CC2-201D-C20F-A848F78550DF}"/>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0764F453-90D0-D56D-54C9-4C90F55F66BF}"/>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3318395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844FED-0334-1478-E5B7-12D8116B22CB}"/>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3" name="Footer Placeholder 2">
            <a:extLst>
              <a:ext uri="{FF2B5EF4-FFF2-40B4-BE49-F238E27FC236}">
                <a16:creationId xmlns:a16="http://schemas.microsoft.com/office/drawing/2014/main" id="{796A55BA-BB50-4D92-7F9F-E3FC16A88599}"/>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C6072E94-CE3A-2341-2ECF-C5FA8066F373}"/>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2236713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CCEF3-F4C9-C933-92AB-37DF02476E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3D1F21A0-E530-C9C4-57EA-B0EF2A679A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4E4FFBE9-1CFB-D2DF-B613-CC8610A733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6101F-1B16-087B-FC1B-1ED3F27CC231}"/>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6" name="Footer Placeholder 5">
            <a:extLst>
              <a:ext uri="{FF2B5EF4-FFF2-40B4-BE49-F238E27FC236}">
                <a16:creationId xmlns:a16="http://schemas.microsoft.com/office/drawing/2014/main" id="{06AC7EAB-4306-0448-FB82-115388D2E48B}"/>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9D5CE94E-A4C4-E552-F036-258050282146}"/>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250560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F0E93-8592-E194-ED4E-527B77BEF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3C7884D6-B786-147E-4761-09365BE80D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55B6DB3C-98CC-C4B7-AA13-B2F2F842F1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2C763A-660C-666C-57F7-387E81768925}"/>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6" name="Footer Placeholder 5">
            <a:extLst>
              <a:ext uri="{FF2B5EF4-FFF2-40B4-BE49-F238E27FC236}">
                <a16:creationId xmlns:a16="http://schemas.microsoft.com/office/drawing/2014/main" id="{43854991-21F1-72E1-D3D8-4F5A5D93DA0C}"/>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8FD4679B-7F35-EC3F-4268-B3147AA5BB0D}"/>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2046885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4A47-B596-BD19-D6D8-FE109A7B54BE}"/>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C2D8FCB0-B1AB-EFEA-8683-A76DCEA11C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2D5FC301-F4C7-06D4-6058-304B94793BFA}"/>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5" name="Footer Placeholder 4">
            <a:extLst>
              <a:ext uri="{FF2B5EF4-FFF2-40B4-BE49-F238E27FC236}">
                <a16:creationId xmlns:a16="http://schemas.microsoft.com/office/drawing/2014/main" id="{779FCA89-FA54-32D3-A210-BD87B21A6C7B}"/>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26AE1C42-567D-5B90-EE58-E44523EF4BCF}"/>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172341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B42A1B-8B16-9D94-7536-4EEC8A3F22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8C891422-D1A4-E823-B30F-3D1B943843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486DA453-6BD9-3CE8-E803-C5B7A6450B21}"/>
              </a:ext>
            </a:extLst>
          </p:cNvPr>
          <p:cNvSpPr>
            <a:spLocks noGrp="1"/>
          </p:cNvSpPr>
          <p:nvPr>
            <p:ph type="dt" sz="half" idx="10"/>
          </p:nvPr>
        </p:nvSpPr>
        <p:spPr/>
        <p:txBody>
          <a:bodyPr/>
          <a:lstStyle/>
          <a:p>
            <a:fld id="{B9ADB261-0F4F-9040-BAED-892A388A9933}" type="datetimeFigureOut">
              <a:rPr lang="en-JP" smtClean="0"/>
              <a:t>2026/03/30</a:t>
            </a:fld>
            <a:endParaRPr lang="en-JP"/>
          </a:p>
        </p:txBody>
      </p:sp>
      <p:sp>
        <p:nvSpPr>
          <p:cNvPr id="5" name="Footer Placeholder 4">
            <a:extLst>
              <a:ext uri="{FF2B5EF4-FFF2-40B4-BE49-F238E27FC236}">
                <a16:creationId xmlns:a16="http://schemas.microsoft.com/office/drawing/2014/main" id="{06D4689B-9C07-762D-CB38-7B589AFDCF5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8EF7C8FA-67A7-00AC-083B-FC2E1A7F6C58}"/>
              </a:ext>
            </a:extLst>
          </p:cNvPr>
          <p:cNvSpPr>
            <a:spLocks noGrp="1"/>
          </p:cNvSpPr>
          <p:nvPr>
            <p:ph type="sldNum" sz="quarter" idx="12"/>
          </p:nvPr>
        </p:nvSpPr>
        <p:spPr/>
        <p:txBody>
          <a:bodyPr/>
          <a:lstStyle/>
          <a:p>
            <a:fld id="{83933410-C18D-B744-BEA0-4EBFF2249AD4}" type="slidenum">
              <a:rPr lang="en-JP" smtClean="0"/>
              <a:t>‹#›</a:t>
            </a:fld>
            <a:endParaRPr lang="en-JP"/>
          </a:p>
        </p:txBody>
      </p:sp>
    </p:spTree>
    <p:extLst>
      <p:ext uri="{BB962C8B-B14F-4D97-AF65-F5344CB8AC3E}">
        <p14:creationId xmlns:p14="http://schemas.microsoft.com/office/powerpoint/2010/main" val="1501551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D43034-E551-66A8-3AB7-F13E69DB5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809DCE15-A9F6-7595-08C1-109CB27534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F7A7C8A-1247-62E8-E453-81CAD0BE33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ADB261-0F4F-9040-BAED-892A388A9933}" type="datetimeFigureOut">
              <a:rPr lang="en-JP" smtClean="0"/>
              <a:t>2026/03/30</a:t>
            </a:fld>
            <a:endParaRPr lang="en-JP"/>
          </a:p>
        </p:txBody>
      </p:sp>
      <p:sp>
        <p:nvSpPr>
          <p:cNvPr id="5" name="Footer Placeholder 4">
            <a:extLst>
              <a:ext uri="{FF2B5EF4-FFF2-40B4-BE49-F238E27FC236}">
                <a16:creationId xmlns:a16="http://schemas.microsoft.com/office/drawing/2014/main" id="{CFFE6E59-EE4D-4398-F9BB-C4A1DA1818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JP"/>
          </a:p>
        </p:txBody>
      </p:sp>
      <p:sp>
        <p:nvSpPr>
          <p:cNvPr id="6" name="Slide Number Placeholder 5">
            <a:extLst>
              <a:ext uri="{FF2B5EF4-FFF2-40B4-BE49-F238E27FC236}">
                <a16:creationId xmlns:a16="http://schemas.microsoft.com/office/drawing/2014/main" id="{93DDADAF-2DE8-2C01-78EE-EA349077A7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933410-C18D-B744-BEA0-4EBFF2249AD4}" type="slidenum">
              <a:rPr lang="en-JP" smtClean="0"/>
              <a:t>‹#›</a:t>
            </a:fld>
            <a:endParaRPr lang="en-JP"/>
          </a:p>
        </p:txBody>
      </p:sp>
    </p:spTree>
    <p:extLst>
      <p:ext uri="{BB962C8B-B14F-4D97-AF65-F5344CB8AC3E}">
        <p14:creationId xmlns:p14="http://schemas.microsoft.com/office/powerpoint/2010/main" val="1135532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0.sv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4.png"/><Relationship Id="rId10"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0.sv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7.png"/><Relationship Id="rId10" Type="http://schemas.openxmlformats.org/officeDocument/2006/relationships/image" Target="../media/image14.svg"/><Relationship Id="rId4" Type="http://schemas.openxmlformats.org/officeDocument/2006/relationships/image" Target="../media/image160.png"/><Relationship Id="rId9"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5.sv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DB47133-31EB-9C40-291A-3A670B7E2A2B}"/>
              </a:ext>
            </a:extLst>
          </p:cNvPr>
          <p:cNvSpPr>
            <a:spLocks noGrp="1"/>
          </p:cNvSpPr>
          <p:nvPr>
            <p:ph type="subTitle" idx="1"/>
          </p:nvPr>
        </p:nvSpPr>
        <p:spPr>
          <a:xfrm>
            <a:off x="1524000" y="3429000"/>
            <a:ext cx="9144000" cy="395804"/>
          </a:xfrm>
        </p:spPr>
        <p:txBody>
          <a:bodyPr anchor="ctr">
            <a:normAutofit lnSpcReduction="10000"/>
          </a:bodyPr>
          <a:lstStyle/>
          <a:p>
            <a:pPr algn="l"/>
            <a:r>
              <a:rPr lang="en-JP">
                <a:solidFill>
                  <a:srgbClr val="A8D5BA"/>
                </a:solidFill>
              </a:rPr>
              <a:t>Separable quantum proofs in distributed verification</a:t>
            </a:r>
          </a:p>
        </p:txBody>
      </p:sp>
      <p:pic>
        <p:nvPicPr>
          <p:cNvPr id="6" name="Picture 5" descr="A green lightning bolt and white text&#10;&#10;AI-generated content may be incorrect.">
            <a:extLst>
              <a:ext uri="{FF2B5EF4-FFF2-40B4-BE49-F238E27FC236}">
                <a16:creationId xmlns:a16="http://schemas.microsoft.com/office/drawing/2014/main" id="{DD80E59A-92F7-BC70-8B1F-370E922D060A}"/>
              </a:ext>
            </a:extLst>
          </p:cNvPr>
          <p:cNvPicPr>
            <a:picLocks noChangeAspect="1"/>
          </p:cNvPicPr>
          <p:nvPr/>
        </p:nvPicPr>
        <p:blipFill>
          <a:blip r:embed="rId3"/>
          <a:stretch>
            <a:fillRect/>
          </a:stretch>
        </p:blipFill>
        <p:spPr>
          <a:xfrm>
            <a:off x="1524000" y="5061235"/>
            <a:ext cx="2147777" cy="674402"/>
          </a:xfrm>
          <a:prstGeom prst="rect">
            <a:avLst/>
          </a:prstGeom>
        </p:spPr>
      </p:pic>
      <p:sp>
        <p:nvSpPr>
          <p:cNvPr id="7" name="Subtitle 2">
            <a:extLst>
              <a:ext uri="{FF2B5EF4-FFF2-40B4-BE49-F238E27FC236}">
                <a16:creationId xmlns:a16="http://schemas.microsoft.com/office/drawing/2014/main" id="{D9D484A1-CB55-DFA9-7083-0638F7DB3223}"/>
              </a:ext>
            </a:extLst>
          </p:cNvPr>
          <p:cNvSpPr txBox="1">
            <a:spLocks/>
          </p:cNvSpPr>
          <p:nvPr/>
        </p:nvSpPr>
        <p:spPr>
          <a:xfrm>
            <a:off x="1524000" y="4267772"/>
            <a:ext cx="9144000" cy="782691"/>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JP" sz="1800" u="sng">
                <a:solidFill>
                  <a:schemeClr val="bg1"/>
                </a:solidFill>
              </a:rPr>
              <a:t>Alex Della Schiava</a:t>
            </a:r>
            <a:r>
              <a:rPr lang="en-JP" sz="1800">
                <a:solidFill>
                  <a:schemeClr val="bg1"/>
                </a:solidFill>
              </a:rPr>
              <a:t>, Atsuya Hasegawa, François Le Gall, Harumichi Nishimura</a:t>
            </a:r>
          </a:p>
          <a:p>
            <a:pPr algn="l"/>
            <a:r>
              <a:rPr lang="en-JP" sz="1800">
                <a:solidFill>
                  <a:schemeClr val="bg1"/>
                </a:solidFill>
              </a:rPr>
              <a:t>分散アルゴリズム研究会・第３回・２０２５年３月２９日・名古屋工業大学</a:t>
            </a:r>
          </a:p>
        </p:txBody>
      </p:sp>
      <p:cxnSp>
        <p:nvCxnSpPr>
          <p:cNvPr id="9" name="Straight Connector 8">
            <a:extLst>
              <a:ext uri="{FF2B5EF4-FFF2-40B4-BE49-F238E27FC236}">
                <a16:creationId xmlns:a16="http://schemas.microsoft.com/office/drawing/2014/main" id="{8F7E7CC5-1DCE-A67D-E6C9-A30C5296595D}"/>
              </a:ext>
            </a:extLst>
          </p:cNvPr>
          <p:cNvCxnSpPr>
            <a:cxnSpLocks/>
          </p:cNvCxnSpPr>
          <p:nvPr/>
        </p:nvCxnSpPr>
        <p:spPr>
          <a:xfrm>
            <a:off x="1594883" y="4231758"/>
            <a:ext cx="7581015" cy="0"/>
          </a:xfrm>
          <a:prstGeom prst="line">
            <a:avLst/>
          </a:prstGeom>
          <a:ln w="6350">
            <a:solidFill>
              <a:srgbClr val="E0E0E0"/>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82A00C9E-DBB1-AA83-6D5B-9ADDFC85D6A5}"/>
              </a:ext>
            </a:extLst>
          </p:cNvPr>
          <p:cNvSpPr txBox="1">
            <a:spLocks/>
          </p:cNvSpPr>
          <p:nvPr/>
        </p:nvSpPr>
        <p:spPr>
          <a:xfrm>
            <a:off x="1524000" y="1111591"/>
            <a:ext cx="2944484"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5000">
                <a:solidFill>
                  <a:schemeClr val="bg1"/>
                </a:solidFill>
              </a:rPr>
              <a:t>分散検証</a:t>
            </a:r>
            <a:endParaRPr lang="en-JP" sz="5000">
              <a:solidFill>
                <a:schemeClr val="bg1"/>
              </a:solidFill>
            </a:endParaRPr>
          </a:p>
        </p:txBody>
      </p:sp>
      <p:sp>
        <p:nvSpPr>
          <p:cNvPr id="8" name="Title 1">
            <a:extLst>
              <a:ext uri="{FF2B5EF4-FFF2-40B4-BE49-F238E27FC236}">
                <a16:creationId xmlns:a16="http://schemas.microsoft.com/office/drawing/2014/main" id="{A75B2D7E-F87C-AE8E-0714-D12BEE8FC14A}"/>
              </a:ext>
            </a:extLst>
          </p:cNvPr>
          <p:cNvSpPr txBox="1">
            <a:spLocks/>
          </p:cNvSpPr>
          <p:nvPr/>
        </p:nvSpPr>
        <p:spPr>
          <a:xfrm>
            <a:off x="6605516" y="1274763"/>
            <a:ext cx="4201236" cy="22244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5000">
                <a:solidFill>
                  <a:schemeClr val="bg1"/>
                </a:solidFill>
              </a:rPr>
              <a:t>可分量子証明</a:t>
            </a:r>
            <a:endParaRPr lang="en-JP" sz="5000">
              <a:solidFill>
                <a:schemeClr val="bg1"/>
              </a:solidFill>
            </a:endParaRPr>
          </a:p>
        </p:txBody>
      </p:sp>
      <p:sp>
        <p:nvSpPr>
          <p:cNvPr id="10" name="Title 1">
            <a:extLst>
              <a:ext uri="{FF2B5EF4-FFF2-40B4-BE49-F238E27FC236}">
                <a16:creationId xmlns:a16="http://schemas.microsoft.com/office/drawing/2014/main" id="{9CD850A6-8F38-4936-E290-A768127A506C}"/>
              </a:ext>
            </a:extLst>
          </p:cNvPr>
          <p:cNvSpPr txBox="1">
            <a:spLocks/>
          </p:cNvSpPr>
          <p:nvPr/>
        </p:nvSpPr>
        <p:spPr>
          <a:xfrm>
            <a:off x="4060166" y="1111591"/>
            <a:ext cx="2771955"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5000">
                <a:solidFill>
                  <a:schemeClr val="bg1"/>
                </a:solidFill>
              </a:rPr>
              <a:t>における</a:t>
            </a:r>
            <a:endParaRPr lang="en-JP" sz="5000">
              <a:solidFill>
                <a:schemeClr val="bg1"/>
              </a:solidFill>
            </a:endParaRPr>
          </a:p>
        </p:txBody>
      </p:sp>
    </p:spTree>
    <p:extLst>
      <p:ext uri="{BB962C8B-B14F-4D97-AF65-F5344CB8AC3E}">
        <p14:creationId xmlns:p14="http://schemas.microsoft.com/office/powerpoint/2010/main" val="3720938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CF9D-130E-18CD-D6C7-DB9C46AE1BEF}"/>
              </a:ext>
            </a:extLst>
          </p:cNvPr>
          <p:cNvSpPr>
            <a:spLocks noGrp="1"/>
          </p:cNvSpPr>
          <p:nvPr>
            <p:ph type="title"/>
          </p:nvPr>
        </p:nvSpPr>
        <p:spPr/>
        <p:txBody>
          <a:bodyPr/>
          <a:lstStyle/>
          <a:p>
            <a:r>
              <a:rPr lang="en-JP">
                <a:solidFill>
                  <a:srgbClr val="E0E0E0"/>
                </a:solidFill>
              </a:rPr>
              <a:t>目次</a:t>
            </a:r>
          </a:p>
        </p:txBody>
      </p:sp>
      <p:sp>
        <p:nvSpPr>
          <p:cNvPr id="5" name="Title 1">
            <a:extLst>
              <a:ext uri="{FF2B5EF4-FFF2-40B4-BE49-F238E27FC236}">
                <a16:creationId xmlns:a16="http://schemas.microsoft.com/office/drawing/2014/main" id="{F980D8F3-0FD8-336C-F420-28F3372A5D25}"/>
              </a:ext>
            </a:extLst>
          </p:cNvPr>
          <p:cNvSpPr txBox="1">
            <a:spLocks/>
          </p:cNvSpPr>
          <p:nvPr/>
        </p:nvSpPr>
        <p:spPr>
          <a:xfrm>
            <a:off x="1524000" y="-83021"/>
            <a:ext cx="2944484"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5000">
                <a:solidFill>
                  <a:schemeClr val="bg1"/>
                </a:solidFill>
              </a:rPr>
              <a:t>分散検証</a:t>
            </a:r>
            <a:endParaRPr lang="en-JP" sz="5000">
              <a:solidFill>
                <a:schemeClr val="bg1"/>
              </a:solidFill>
            </a:endParaRPr>
          </a:p>
        </p:txBody>
      </p:sp>
      <p:sp>
        <p:nvSpPr>
          <p:cNvPr id="6" name="Title 1">
            <a:extLst>
              <a:ext uri="{FF2B5EF4-FFF2-40B4-BE49-F238E27FC236}">
                <a16:creationId xmlns:a16="http://schemas.microsoft.com/office/drawing/2014/main" id="{CE67473E-CCB9-EC51-D2BD-D6B54AC482A6}"/>
              </a:ext>
            </a:extLst>
          </p:cNvPr>
          <p:cNvSpPr txBox="1">
            <a:spLocks/>
          </p:cNvSpPr>
          <p:nvPr/>
        </p:nvSpPr>
        <p:spPr>
          <a:xfrm>
            <a:off x="6605516" y="80151"/>
            <a:ext cx="4201236" cy="222442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5000">
                <a:solidFill>
                  <a:schemeClr val="bg1"/>
                </a:solidFill>
              </a:rPr>
              <a:t>可分量子証明</a:t>
            </a:r>
            <a:endParaRPr lang="en-JP" sz="5000">
              <a:solidFill>
                <a:schemeClr val="bg1"/>
              </a:solidFill>
            </a:endParaRPr>
          </a:p>
        </p:txBody>
      </p:sp>
      <p:sp>
        <p:nvSpPr>
          <p:cNvPr id="7" name="Title 1">
            <a:extLst>
              <a:ext uri="{FF2B5EF4-FFF2-40B4-BE49-F238E27FC236}">
                <a16:creationId xmlns:a16="http://schemas.microsoft.com/office/drawing/2014/main" id="{D1390836-D695-39B7-5154-D50A0ED958E8}"/>
              </a:ext>
            </a:extLst>
          </p:cNvPr>
          <p:cNvSpPr txBox="1">
            <a:spLocks/>
          </p:cNvSpPr>
          <p:nvPr/>
        </p:nvSpPr>
        <p:spPr>
          <a:xfrm>
            <a:off x="4060166" y="-83021"/>
            <a:ext cx="2771955"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5000">
                <a:solidFill>
                  <a:schemeClr val="bg1"/>
                </a:solidFill>
              </a:rPr>
              <a:t>における</a:t>
            </a:r>
            <a:endParaRPr lang="en-JP" sz="5000">
              <a:solidFill>
                <a:schemeClr val="bg1"/>
              </a:solidFill>
            </a:endParaRPr>
          </a:p>
        </p:txBody>
      </p:sp>
      <p:sp>
        <p:nvSpPr>
          <p:cNvPr id="12" name="Title 1">
            <a:extLst>
              <a:ext uri="{FF2B5EF4-FFF2-40B4-BE49-F238E27FC236}">
                <a16:creationId xmlns:a16="http://schemas.microsoft.com/office/drawing/2014/main" id="{8C664061-1D9D-E57F-B733-363253DF9D56}"/>
              </a:ext>
            </a:extLst>
          </p:cNvPr>
          <p:cNvSpPr txBox="1">
            <a:spLocks/>
          </p:cNvSpPr>
          <p:nvPr/>
        </p:nvSpPr>
        <p:spPr>
          <a:xfrm>
            <a:off x="838200" y="3429000"/>
            <a:ext cx="5595326" cy="8072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3800">
                <a:solidFill>
                  <a:schemeClr val="bg1"/>
                </a:solidFill>
              </a:rPr>
              <a:t>２．</a:t>
            </a:r>
            <a:r>
              <a:rPr lang="ja-JP" altLang="en-JP" sz="3800">
                <a:solidFill>
                  <a:schemeClr val="bg1"/>
                </a:solidFill>
              </a:rPr>
              <a:t>量子モデル</a:t>
            </a:r>
            <a:endParaRPr lang="en-JP" sz="3800">
              <a:solidFill>
                <a:schemeClr val="bg1"/>
              </a:solidFill>
            </a:endParaRPr>
          </a:p>
        </p:txBody>
      </p:sp>
      <p:sp>
        <p:nvSpPr>
          <p:cNvPr id="13" name="Title 1">
            <a:extLst>
              <a:ext uri="{FF2B5EF4-FFF2-40B4-BE49-F238E27FC236}">
                <a16:creationId xmlns:a16="http://schemas.microsoft.com/office/drawing/2014/main" id="{1A451577-F91B-3AE9-F1DD-5E17F99CAB4C}"/>
              </a:ext>
            </a:extLst>
          </p:cNvPr>
          <p:cNvSpPr txBox="1">
            <a:spLocks/>
          </p:cNvSpPr>
          <p:nvPr/>
        </p:nvSpPr>
        <p:spPr>
          <a:xfrm>
            <a:off x="838200" y="2589552"/>
            <a:ext cx="5595326" cy="83944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3800">
                <a:solidFill>
                  <a:schemeClr val="bg1"/>
                </a:solidFill>
              </a:rPr>
              <a:t>１．</a:t>
            </a:r>
            <a:endParaRPr lang="en-JP" sz="3800">
              <a:solidFill>
                <a:schemeClr val="bg1"/>
              </a:solidFill>
            </a:endParaRPr>
          </a:p>
        </p:txBody>
      </p:sp>
      <p:sp>
        <p:nvSpPr>
          <p:cNvPr id="14" name="Title 1">
            <a:extLst>
              <a:ext uri="{FF2B5EF4-FFF2-40B4-BE49-F238E27FC236}">
                <a16:creationId xmlns:a16="http://schemas.microsoft.com/office/drawing/2014/main" id="{C70075B3-925A-46C5-1C93-36FBFD0601F2}"/>
              </a:ext>
            </a:extLst>
          </p:cNvPr>
          <p:cNvSpPr txBox="1">
            <a:spLocks/>
          </p:cNvSpPr>
          <p:nvPr/>
        </p:nvSpPr>
        <p:spPr>
          <a:xfrm>
            <a:off x="838199" y="4273200"/>
            <a:ext cx="7324494" cy="8072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3800">
                <a:solidFill>
                  <a:schemeClr val="bg1"/>
                </a:solidFill>
              </a:rPr>
              <a:t>３．</a:t>
            </a:r>
            <a:endParaRPr lang="en-JP" sz="3800">
              <a:solidFill>
                <a:schemeClr val="bg1"/>
              </a:solidFill>
            </a:endParaRPr>
          </a:p>
        </p:txBody>
      </p:sp>
      <p:sp>
        <p:nvSpPr>
          <p:cNvPr id="15" name="Title 1">
            <a:extLst>
              <a:ext uri="{FF2B5EF4-FFF2-40B4-BE49-F238E27FC236}">
                <a16:creationId xmlns:a16="http://schemas.microsoft.com/office/drawing/2014/main" id="{132C81B0-1724-B453-E65D-3B0668CAA54F}"/>
              </a:ext>
            </a:extLst>
          </p:cNvPr>
          <p:cNvSpPr txBox="1">
            <a:spLocks/>
          </p:cNvSpPr>
          <p:nvPr/>
        </p:nvSpPr>
        <p:spPr>
          <a:xfrm>
            <a:off x="838199" y="5080472"/>
            <a:ext cx="5595326" cy="8072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ja-JP" altLang="en-US" sz="3800">
                <a:solidFill>
                  <a:schemeClr val="bg1"/>
                </a:solidFill>
              </a:rPr>
              <a:t>４．本研究の貢献</a:t>
            </a:r>
            <a:endParaRPr lang="en-JP" sz="3800">
              <a:solidFill>
                <a:schemeClr val="bg1"/>
              </a:solidFill>
            </a:endParaRPr>
          </a:p>
        </p:txBody>
      </p:sp>
    </p:spTree>
    <p:extLst>
      <p:ext uri="{BB962C8B-B14F-4D97-AF65-F5344CB8AC3E}">
        <p14:creationId xmlns:p14="http://schemas.microsoft.com/office/powerpoint/2010/main" val="307139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5">
                                            <p:txEl>
                                              <p:pRg st="0" end="0"/>
                                            </p:txEl>
                                          </p:spTgt>
                                        </p:tgtEl>
                                      </p:cBhvr>
                                      <p:by x="76000" y="76000"/>
                                    </p:animScale>
                                  </p:childTnLst>
                                </p:cTn>
                              </p:par>
                              <p:par>
                                <p:cTn id="7" presetID="42" presetClass="path" presetSubtype="0" accel="50000" decel="50000" fill="hold" grpId="1" nodeType="withEffect">
                                  <p:stCondLst>
                                    <p:cond delay="0"/>
                                  </p:stCondLst>
                                  <p:childTnLst>
                                    <p:animMotion origin="layout" path="M 3.33333E-6 4.81481E-6 L -0.00183 0.17476 " pathEditMode="relative" rAng="0" ptsTypes="AA">
                                      <p:cBhvr>
                                        <p:cTn id="8" dur="2000" fill="hold"/>
                                        <p:tgtEl>
                                          <p:spTgt spid="5">
                                            <p:txEl>
                                              <p:pRg st="0" end="0"/>
                                            </p:txEl>
                                          </p:spTgt>
                                        </p:tgtEl>
                                        <p:attrNameLst>
                                          <p:attrName>ppt_x</p:attrName>
                                          <p:attrName>ppt_y</p:attrName>
                                        </p:attrNameLst>
                                      </p:cBhvr>
                                      <p:rCtr x="-91" y="8727"/>
                                    </p:animMotion>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0-#ppt_w/2"/>
                                          </p:val>
                                        </p:tav>
                                        <p:tav tm="100000">
                                          <p:val>
                                            <p:strVal val="#ppt_x"/>
                                          </p:val>
                                        </p:tav>
                                      </p:tavLst>
                                    </p:anim>
                                    <p:anim calcmode="lin" valueType="num">
                                      <p:cBhvr additive="base">
                                        <p:cTn id="17"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6" presetClass="emph" presetSubtype="0" fill="hold" grpId="1" nodeType="clickEffect">
                                  <p:stCondLst>
                                    <p:cond delay="0"/>
                                  </p:stCondLst>
                                  <p:childTnLst>
                                    <p:animScale>
                                      <p:cBhvr>
                                        <p:cTn id="21" dur="2000" fill="hold"/>
                                        <p:tgtEl>
                                          <p:spTgt spid="6"/>
                                        </p:tgtEl>
                                      </p:cBhvr>
                                      <p:by x="76000" y="76000"/>
                                    </p:animScale>
                                  </p:childTnLst>
                                </p:cTn>
                              </p:par>
                              <p:par>
                                <p:cTn id="22" presetID="43" presetClass="path" presetSubtype="0" accel="50000" decel="50000" fill="hold" grpId="0" nodeType="withEffect">
                                  <p:stCondLst>
                                    <p:cond delay="0"/>
                                  </p:stCondLst>
                                  <p:childTnLst>
                                    <p:animMotion origin="layout" path="M -0.43138 0.43588 L -0.21614 0.43588 C -0.11953 0.43588 -2.5E-6 0.31482 -2.5E-6 0.21713 L -2.5E-6 -2.59259E-6 " pathEditMode="relative" rAng="0" ptsTypes="AAAA">
                                      <p:cBhvr>
                                        <p:cTn id="23" dur="2000" spd="-100000" fill="hold"/>
                                        <p:tgtEl>
                                          <p:spTgt spid="6"/>
                                        </p:tgtEl>
                                        <p:attrNameLst>
                                          <p:attrName>ppt_x</p:attrName>
                                          <p:attrName>ppt_y</p:attrName>
                                        </p:attrNameLst>
                                      </p:cBhvr>
                                      <p:rCtr x="21563" y="-21806"/>
                                    </p:animMotion>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xit" presetSubtype="0" fill="hold" grpId="0" nodeType="withEffect">
                                  <p:stCondLst>
                                    <p:cond delay="0"/>
                                  </p:stCondLst>
                                  <p:childTnLst>
                                    <p:animEffect transition="out" filter="fade">
                                      <p:cBhvr>
                                        <p:cTn id="28" dur="500"/>
                                        <p:tgtEl>
                                          <p:spTgt spid="7"/>
                                        </p:tgtEl>
                                      </p:cBhvr>
                                    </p:animEffect>
                                    <p:set>
                                      <p:cBhvr>
                                        <p:cTn id="29" dur="1" fill="hold">
                                          <p:stCondLst>
                                            <p:cond delay="499"/>
                                          </p:stCondLst>
                                        </p:cTn>
                                        <p:tgtEl>
                                          <p:spTgt spid="7"/>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0-#ppt_w/2"/>
                                          </p:val>
                                        </p:tav>
                                        <p:tav tm="100000">
                                          <p:val>
                                            <p:strVal val="#ppt_x"/>
                                          </p:val>
                                        </p:tav>
                                      </p:tavLst>
                                    </p:anim>
                                    <p:anim calcmode="lin" valueType="num">
                                      <p:cBhvr additive="base">
                                        <p:cTn id="35"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5" grpId="1" build="allAtOnce"/>
      <p:bldP spid="6" grpId="0"/>
      <p:bldP spid="6" grpId="1"/>
      <p:bldP spid="7" grpId="0"/>
      <p:bldP spid="12" grpId="0"/>
      <p:bldP spid="13"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6C1B82-9A60-D5B8-DF61-0AA5B87C44F9}"/>
              </a:ext>
            </a:extLst>
          </p:cNvPr>
          <p:cNvSpPr/>
          <p:nvPr/>
        </p:nvSpPr>
        <p:spPr>
          <a:xfrm>
            <a:off x="9118199" y="4892270"/>
            <a:ext cx="864000" cy="867600"/>
          </a:xfrm>
          <a:prstGeom prst="rect">
            <a:avLst/>
          </a:prstGeom>
          <a:solidFill>
            <a:schemeClr val="accent4">
              <a:lumMod val="5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 name="Rectangle 9">
            <a:extLst>
              <a:ext uri="{FF2B5EF4-FFF2-40B4-BE49-F238E27FC236}">
                <a16:creationId xmlns:a16="http://schemas.microsoft.com/office/drawing/2014/main" id="{6F2588A5-2CB5-E0D8-1750-145F365537C4}"/>
              </a:ext>
            </a:extLst>
          </p:cNvPr>
          <p:cNvSpPr/>
          <p:nvPr/>
        </p:nvSpPr>
        <p:spPr>
          <a:xfrm>
            <a:off x="8254199" y="4028270"/>
            <a:ext cx="864000" cy="864000"/>
          </a:xfrm>
          <a:prstGeom prst="rect">
            <a:avLst/>
          </a:prstGeom>
          <a:solidFill>
            <a:schemeClr val="accent4">
              <a:lumMod val="5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3" name="Rectangle 12">
            <a:extLst>
              <a:ext uri="{FF2B5EF4-FFF2-40B4-BE49-F238E27FC236}">
                <a16:creationId xmlns:a16="http://schemas.microsoft.com/office/drawing/2014/main" id="{8FF0E581-E52D-8599-EBC3-496FDF713B36}"/>
              </a:ext>
            </a:extLst>
          </p:cNvPr>
          <p:cNvSpPr/>
          <p:nvPr/>
        </p:nvSpPr>
        <p:spPr>
          <a:xfrm>
            <a:off x="9118199" y="4025839"/>
            <a:ext cx="864000" cy="864000"/>
          </a:xfrm>
          <a:prstGeom prst="rect">
            <a:avLst/>
          </a:prstGeom>
          <a:solidFill>
            <a:schemeClr val="accent4">
              <a:lumMod val="5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 name="Rectangle 6">
            <a:extLst>
              <a:ext uri="{FF2B5EF4-FFF2-40B4-BE49-F238E27FC236}">
                <a16:creationId xmlns:a16="http://schemas.microsoft.com/office/drawing/2014/main" id="{BA2F6C98-B486-3AC4-1158-E1CE4B93E3D7}"/>
              </a:ext>
            </a:extLst>
          </p:cNvPr>
          <p:cNvSpPr/>
          <p:nvPr/>
        </p:nvSpPr>
        <p:spPr>
          <a:xfrm>
            <a:off x="9118199" y="3163512"/>
            <a:ext cx="864000" cy="864000"/>
          </a:xfrm>
          <a:prstGeom prst="rect">
            <a:avLst/>
          </a:prstGeom>
          <a:solidFill>
            <a:schemeClr val="accent4">
              <a:lumMod val="5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Rectangle 10">
            <a:extLst>
              <a:ext uri="{FF2B5EF4-FFF2-40B4-BE49-F238E27FC236}">
                <a16:creationId xmlns:a16="http://schemas.microsoft.com/office/drawing/2014/main" id="{E4BBD395-6192-7A37-0FF7-8B006BEEB373}"/>
              </a:ext>
            </a:extLst>
          </p:cNvPr>
          <p:cNvSpPr/>
          <p:nvPr/>
        </p:nvSpPr>
        <p:spPr>
          <a:xfrm>
            <a:off x="8254199" y="4893916"/>
            <a:ext cx="864000" cy="864000"/>
          </a:xfrm>
          <a:prstGeom prst="rect">
            <a:avLst/>
          </a:prstGeom>
          <a:solidFill>
            <a:schemeClr val="accent2">
              <a:lumMod val="5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Rectangle 5">
            <a:extLst>
              <a:ext uri="{FF2B5EF4-FFF2-40B4-BE49-F238E27FC236}">
                <a16:creationId xmlns:a16="http://schemas.microsoft.com/office/drawing/2014/main" id="{3C040E78-C584-0305-68AA-989C1259C76F}"/>
              </a:ext>
            </a:extLst>
          </p:cNvPr>
          <p:cNvSpPr/>
          <p:nvPr/>
        </p:nvSpPr>
        <p:spPr>
          <a:xfrm>
            <a:off x="8254199" y="3163512"/>
            <a:ext cx="864000" cy="864000"/>
          </a:xfrm>
          <a:prstGeom prst="rect">
            <a:avLst/>
          </a:prstGeom>
          <a:solidFill>
            <a:schemeClr val="accent2">
              <a:lumMod val="5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9" name="Rectangle 8">
            <a:extLst>
              <a:ext uri="{FF2B5EF4-FFF2-40B4-BE49-F238E27FC236}">
                <a16:creationId xmlns:a16="http://schemas.microsoft.com/office/drawing/2014/main" id="{D339925A-A16B-6AB6-D66E-031620F47A88}"/>
              </a:ext>
            </a:extLst>
          </p:cNvPr>
          <p:cNvSpPr/>
          <p:nvPr/>
        </p:nvSpPr>
        <p:spPr>
          <a:xfrm>
            <a:off x="7390199" y="4890676"/>
            <a:ext cx="864000" cy="867600"/>
          </a:xfrm>
          <a:prstGeom prst="rect">
            <a:avLst/>
          </a:prstGeom>
          <a:solidFill>
            <a:schemeClr val="accent2">
              <a:lumMod val="5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8" name="Rectangle 7">
            <a:extLst>
              <a:ext uri="{FF2B5EF4-FFF2-40B4-BE49-F238E27FC236}">
                <a16:creationId xmlns:a16="http://schemas.microsoft.com/office/drawing/2014/main" id="{4D80BE00-7EB3-68A3-7F25-D5298D8F3AE2}"/>
              </a:ext>
            </a:extLst>
          </p:cNvPr>
          <p:cNvSpPr/>
          <p:nvPr/>
        </p:nvSpPr>
        <p:spPr>
          <a:xfrm>
            <a:off x="7390199" y="4027512"/>
            <a:ext cx="864000" cy="864000"/>
          </a:xfrm>
          <a:prstGeom prst="rect">
            <a:avLst/>
          </a:prstGeom>
          <a:solidFill>
            <a:schemeClr val="accent2">
              <a:lumMod val="5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Rectangle 4">
            <a:extLst>
              <a:ext uri="{FF2B5EF4-FFF2-40B4-BE49-F238E27FC236}">
                <a16:creationId xmlns:a16="http://schemas.microsoft.com/office/drawing/2014/main" id="{F88487F4-56CB-145F-97B6-2D05998E1452}"/>
              </a:ext>
            </a:extLst>
          </p:cNvPr>
          <p:cNvSpPr/>
          <p:nvPr/>
        </p:nvSpPr>
        <p:spPr>
          <a:xfrm>
            <a:off x="7390199" y="3163512"/>
            <a:ext cx="864000" cy="864000"/>
          </a:xfrm>
          <a:prstGeom prst="rect">
            <a:avLst/>
          </a:prstGeom>
          <a:solidFill>
            <a:schemeClr val="accent2">
              <a:lumMod val="5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 name="Title 1">
            <a:extLst>
              <a:ext uri="{FF2B5EF4-FFF2-40B4-BE49-F238E27FC236}">
                <a16:creationId xmlns:a16="http://schemas.microsoft.com/office/drawing/2014/main" id="{0D29C831-69A8-3505-D667-CC28808E049D}"/>
              </a:ext>
            </a:extLst>
          </p:cNvPr>
          <p:cNvSpPr>
            <a:spLocks noGrp="1"/>
          </p:cNvSpPr>
          <p:nvPr>
            <p:ph type="title"/>
          </p:nvPr>
        </p:nvSpPr>
        <p:spPr>
          <a:ln w="28575">
            <a:noFill/>
          </a:ln>
        </p:spPr>
        <p:txBody>
          <a:bodyPr>
            <a:normAutofit/>
          </a:bodyPr>
          <a:lstStyle/>
          <a:p>
            <a:r>
              <a:rPr lang="ja-JP" altLang="en-US" b="1">
                <a:solidFill>
                  <a:schemeClr val="bg1"/>
                </a:solidFill>
              </a:rPr>
              <a:t>分散検証（例：数独）</a:t>
            </a:r>
            <a:endParaRPr lang="en-JP">
              <a:solidFill>
                <a:schemeClr val="bg1">
                  <a:alpha val="25000"/>
                </a:schemeClr>
              </a:solidFill>
            </a:endParaRPr>
          </a:p>
        </p:txBody>
      </p:sp>
      <p:graphicFrame>
        <p:nvGraphicFramePr>
          <p:cNvPr id="4" name="Content Placeholder 3">
            <a:extLst>
              <a:ext uri="{FF2B5EF4-FFF2-40B4-BE49-F238E27FC236}">
                <a16:creationId xmlns:a16="http://schemas.microsoft.com/office/drawing/2014/main" id="{0E100278-784B-EC43-15A3-757F627184C4}"/>
              </a:ext>
            </a:extLst>
          </p:cNvPr>
          <p:cNvGraphicFramePr>
            <a:graphicFrameLocks noGrp="1"/>
          </p:cNvGraphicFramePr>
          <p:nvPr>
            <p:ph idx="1"/>
            <p:extLst>
              <p:ext uri="{D42A27DB-BD31-4B8C-83A1-F6EECF244321}">
                <p14:modId xmlns:p14="http://schemas.microsoft.com/office/powerpoint/2010/main" val="43222993"/>
              </p:ext>
            </p:extLst>
          </p:nvPr>
        </p:nvGraphicFramePr>
        <p:xfrm>
          <a:off x="7390199" y="3161839"/>
          <a:ext cx="2592000" cy="2608344"/>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28624802"/>
                    </a:ext>
                  </a:extLst>
                </a:gridCol>
                <a:gridCol w="288000">
                  <a:extLst>
                    <a:ext uri="{9D8B030D-6E8A-4147-A177-3AD203B41FA5}">
                      <a16:colId xmlns:a16="http://schemas.microsoft.com/office/drawing/2014/main" val="2881083088"/>
                    </a:ext>
                  </a:extLst>
                </a:gridCol>
                <a:gridCol w="288000">
                  <a:extLst>
                    <a:ext uri="{9D8B030D-6E8A-4147-A177-3AD203B41FA5}">
                      <a16:colId xmlns:a16="http://schemas.microsoft.com/office/drawing/2014/main" val="909655014"/>
                    </a:ext>
                  </a:extLst>
                </a:gridCol>
                <a:gridCol w="288000">
                  <a:extLst>
                    <a:ext uri="{9D8B030D-6E8A-4147-A177-3AD203B41FA5}">
                      <a16:colId xmlns:a16="http://schemas.microsoft.com/office/drawing/2014/main" val="2597112960"/>
                    </a:ext>
                  </a:extLst>
                </a:gridCol>
                <a:gridCol w="288000">
                  <a:extLst>
                    <a:ext uri="{9D8B030D-6E8A-4147-A177-3AD203B41FA5}">
                      <a16:colId xmlns:a16="http://schemas.microsoft.com/office/drawing/2014/main" val="711345364"/>
                    </a:ext>
                  </a:extLst>
                </a:gridCol>
                <a:gridCol w="288000">
                  <a:extLst>
                    <a:ext uri="{9D8B030D-6E8A-4147-A177-3AD203B41FA5}">
                      <a16:colId xmlns:a16="http://schemas.microsoft.com/office/drawing/2014/main" val="3632925803"/>
                    </a:ext>
                  </a:extLst>
                </a:gridCol>
                <a:gridCol w="288000">
                  <a:extLst>
                    <a:ext uri="{9D8B030D-6E8A-4147-A177-3AD203B41FA5}">
                      <a16:colId xmlns:a16="http://schemas.microsoft.com/office/drawing/2014/main" val="1632995174"/>
                    </a:ext>
                  </a:extLst>
                </a:gridCol>
                <a:gridCol w="288000">
                  <a:extLst>
                    <a:ext uri="{9D8B030D-6E8A-4147-A177-3AD203B41FA5}">
                      <a16:colId xmlns:a16="http://schemas.microsoft.com/office/drawing/2014/main" val="3806569585"/>
                    </a:ext>
                  </a:extLst>
                </a:gridCol>
                <a:gridCol w="288000">
                  <a:extLst>
                    <a:ext uri="{9D8B030D-6E8A-4147-A177-3AD203B41FA5}">
                      <a16:colId xmlns:a16="http://schemas.microsoft.com/office/drawing/2014/main" val="882225692"/>
                    </a:ext>
                  </a:extLst>
                </a:gridCol>
              </a:tblGrid>
              <a:tr h="288000">
                <a:tc>
                  <a:txBody>
                    <a:bodyPr/>
                    <a:lstStyle/>
                    <a:p>
                      <a:pPr algn="ctr"/>
                      <a:r>
                        <a:rPr lang="en-JP" sz="1600">
                          <a:solidFill>
                            <a:srgbClr val="E0E0E0"/>
                          </a:solidFill>
                        </a:rPr>
                        <a:t>9</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3</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7</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6599807"/>
                  </a:ext>
                </a:extLst>
              </a:tr>
              <a:tr h="288000">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3</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9</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430758"/>
                  </a:ext>
                </a:extLst>
              </a:tr>
              <a:tr h="288000">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1</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9</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7</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6</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0316146"/>
                  </a:ext>
                </a:extLst>
              </a:tr>
              <a:tr h="288000">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7</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6</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3</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7817927"/>
                  </a:ext>
                </a:extLst>
              </a:tr>
              <a:tr h="288000">
                <a:tc>
                  <a:txBody>
                    <a:bodyPr/>
                    <a:lstStyle/>
                    <a:p>
                      <a:pPr algn="ctr"/>
                      <a:r>
                        <a:rPr lang="en-JP" sz="1600">
                          <a:solidFill>
                            <a:srgbClr val="E0E0E0"/>
                          </a:solidFill>
                        </a:rPr>
                        <a:t>1</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7</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9</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7112720"/>
                  </a:ext>
                </a:extLst>
              </a:tr>
              <a:tr h="288000">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3</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1</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9</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6</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3709287"/>
                  </a:ext>
                </a:extLst>
              </a:tr>
              <a:tr h="288000">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9</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6</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7</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1</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3658540"/>
                  </a:ext>
                </a:extLst>
              </a:tr>
              <a:tr h="288000">
                <a:tc>
                  <a:txBody>
                    <a:bodyPr/>
                    <a:lstStyle/>
                    <a:p>
                      <a:pPr algn="ctr"/>
                      <a:r>
                        <a:rPr lang="en-JP" sz="1600">
                          <a:solidFill>
                            <a:srgbClr val="E0E0E0"/>
                          </a:solidFill>
                        </a:rPr>
                        <a:t>7</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6</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1</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3</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2735296"/>
                  </a:ext>
                </a:extLst>
              </a:tr>
              <a:tr h="288000">
                <a:tc>
                  <a:txBody>
                    <a:bodyPr/>
                    <a:lstStyle/>
                    <a:p>
                      <a:pPr algn="ctr"/>
                      <a:r>
                        <a:rPr lang="en-JP" sz="1600">
                          <a:solidFill>
                            <a:srgbClr val="E0E0E0"/>
                          </a:solidFill>
                        </a:rPr>
                        <a:t>8</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9</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1</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4</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7</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JP" sz="1600">
                        <a:solidFill>
                          <a:srgbClr val="E0E0E0"/>
                        </a:solidFill>
                      </a:endParaRP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2</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5</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JP" sz="1600">
                          <a:solidFill>
                            <a:srgbClr val="E0E0E0"/>
                          </a:solidFill>
                        </a:rPr>
                        <a:t>6</a:t>
                      </a:r>
                    </a:p>
                  </a:txBody>
                  <a:tcPr marL="45972" marR="45972" marT="22988" marB="22988" anchor="ctr">
                    <a:lnL w="3175" cap="flat" cmpd="sng" algn="ctr">
                      <a:solidFill>
                        <a:srgbClr val="E0E0E0"/>
                      </a:solidFill>
                      <a:prstDash val="solid"/>
                      <a:round/>
                      <a:headEnd type="none" w="med" len="med"/>
                      <a:tailEnd type="none" w="med" len="med"/>
                    </a:lnL>
                    <a:lnR w="3175" cap="flat" cmpd="sng" algn="ctr">
                      <a:solidFill>
                        <a:srgbClr val="E0E0E0"/>
                      </a:solidFill>
                      <a:prstDash val="solid"/>
                      <a:round/>
                      <a:headEnd type="none" w="med" len="med"/>
                      <a:tailEnd type="none" w="med" len="med"/>
                    </a:lnR>
                    <a:lnT w="3175" cap="flat" cmpd="sng" algn="ctr">
                      <a:solidFill>
                        <a:srgbClr val="E0E0E0"/>
                      </a:solidFill>
                      <a:prstDash val="solid"/>
                      <a:round/>
                      <a:headEnd type="none" w="med" len="med"/>
                      <a:tailEnd type="none" w="med" len="med"/>
                    </a:lnT>
                    <a:lnB w="3175" cap="flat" cmpd="sng" algn="ctr">
                      <a:solidFill>
                        <a:srgbClr val="E0E0E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6784214"/>
                  </a:ext>
                </a:extLst>
              </a:tr>
            </a:tbl>
          </a:graphicData>
        </a:graphic>
      </p:graphicFrame>
      <p:sp>
        <p:nvSpPr>
          <p:cNvPr id="15" name="Subtitle 2">
            <a:extLst>
              <a:ext uri="{FF2B5EF4-FFF2-40B4-BE49-F238E27FC236}">
                <a16:creationId xmlns:a16="http://schemas.microsoft.com/office/drawing/2014/main" id="{3302E998-0222-61AE-58B9-E290CA3A97CD}"/>
              </a:ext>
            </a:extLst>
          </p:cNvPr>
          <p:cNvSpPr txBox="1">
            <a:spLocks/>
          </p:cNvSpPr>
          <p:nvPr/>
        </p:nvSpPr>
        <p:spPr>
          <a:xfrm>
            <a:off x="838200" y="1302638"/>
            <a:ext cx="9144000" cy="3958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sz="2000">
                <a:solidFill>
                  <a:srgbClr val="A8D5BA"/>
                </a:solidFill>
              </a:rPr>
              <a:t>Distributed verification</a:t>
            </a:r>
          </a:p>
        </p:txBody>
      </p:sp>
      <p:pic>
        <p:nvPicPr>
          <p:cNvPr id="29" name="Graphic 28" descr="Programmer male outline">
            <a:extLst>
              <a:ext uri="{FF2B5EF4-FFF2-40B4-BE49-F238E27FC236}">
                <a16:creationId xmlns:a16="http://schemas.microsoft.com/office/drawing/2014/main" id="{914276FD-EEE9-BD1C-25DB-48E721D5A9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7909" y="849150"/>
            <a:ext cx="1548581" cy="1548581"/>
          </a:xfrm>
          <a:prstGeom prst="rect">
            <a:avLst/>
          </a:prstGeom>
        </p:spPr>
      </p:pic>
      <p:graphicFrame>
        <p:nvGraphicFramePr>
          <p:cNvPr id="35" name="Table 34">
            <a:extLst>
              <a:ext uri="{FF2B5EF4-FFF2-40B4-BE49-F238E27FC236}">
                <a16:creationId xmlns:a16="http://schemas.microsoft.com/office/drawing/2014/main" id="{003288AA-ADE5-699A-CE4A-8EC1CFB08885}"/>
              </a:ext>
            </a:extLst>
          </p:cNvPr>
          <p:cNvGraphicFramePr>
            <a:graphicFrameLocks noGrp="1"/>
          </p:cNvGraphicFramePr>
          <p:nvPr>
            <p:extLst>
              <p:ext uri="{D42A27DB-BD31-4B8C-83A1-F6EECF244321}">
                <p14:modId xmlns:p14="http://schemas.microsoft.com/office/powerpoint/2010/main" val="1833517089"/>
              </p:ext>
            </p:extLst>
          </p:nvPr>
        </p:nvGraphicFramePr>
        <p:xfrm>
          <a:off x="8830199" y="2540477"/>
          <a:ext cx="2304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3652211415"/>
                    </a:ext>
                  </a:extLst>
                </a:gridCol>
                <a:gridCol w="288000">
                  <a:extLst>
                    <a:ext uri="{9D8B030D-6E8A-4147-A177-3AD203B41FA5}">
                      <a16:colId xmlns:a16="http://schemas.microsoft.com/office/drawing/2014/main" val="4233583676"/>
                    </a:ext>
                  </a:extLst>
                </a:gridCol>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gridCol w="288000">
                  <a:extLst>
                    <a:ext uri="{9D8B030D-6E8A-4147-A177-3AD203B41FA5}">
                      <a16:colId xmlns:a16="http://schemas.microsoft.com/office/drawing/2014/main" val="4050348675"/>
                    </a:ext>
                  </a:extLst>
                </a:gridCol>
                <a:gridCol w="288000">
                  <a:extLst>
                    <a:ext uri="{9D8B030D-6E8A-4147-A177-3AD203B41FA5}">
                      <a16:colId xmlns:a16="http://schemas.microsoft.com/office/drawing/2014/main" val="3815471025"/>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graphicFrame>
        <p:nvGraphicFramePr>
          <p:cNvPr id="37" name="Table 36">
            <a:extLst>
              <a:ext uri="{FF2B5EF4-FFF2-40B4-BE49-F238E27FC236}">
                <a16:creationId xmlns:a16="http://schemas.microsoft.com/office/drawing/2014/main" id="{DA8AD739-2548-472F-7292-785266F9B48A}"/>
              </a:ext>
            </a:extLst>
          </p:cNvPr>
          <p:cNvGraphicFramePr>
            <a:graphicFrameLocks noGrp="1"/>
          </p:cNvGraphicFramePr>
          <p:nvPr>
            <p:extLst>
              <p:ext uri="{D42A27DB-BD31-4B8C-83A1-F6EECF244321}">
                <p14:modId xmlns:p14="http://schemas.microsoft.com/office/powerpoint/2010/main" val="2981115514"/>
              </p:ext>
            </p:extLst>
          </p:nvPr>
        </p:nvGraphicFramePr>
        <p:xfrm>
          <a:off x="6238199" y="2540477"/>
          <a:ext cx="2304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gridCol w="288000">
                  <a:extLst>
                    <a:ext uri="{9D8B030D-6E8A-4147-A177-3AD203B41FA5}">
                      <a16:colId xmlns:a16="http://schemas.microsoft.com/office/drawing/2014/main" val="4050348675"/>
                    </a:ext>
                  </a:extLst>
                </a:gridCol>
                <a:gridCol w="288000">
                  <a:extLst>
                    <a:ext uri="{9D8B030D-6E8A-4147-A177-3AD203B41FA5}">
                      <a16:colId xmlns:a16="http://schemas.microsoft.com/office/drawing/2014/main" val="2511810932"/>
                    </a:ext>
                  </a:extLst>
                </a:gridCol>
                <a:gridCol w="288000">
                  <a:extLst>
                    <a:ext uri="{9D8B030D-6E8A-4147-A177-3AD203B41FA5}">
                      <a16:colId xmlns:a16="http://schemas.microsoft.com/office/drawing/2014/main" val="3845293520"/>
                    </a:ext>
                  </a:extLst>
                </a:gridCol>
                <a:gridCol w="288000">
                  <a:extLst>
                    <a:ext uri="{9D8B030D-6E8A-4147-A177-3AD203B41FA5}">
                      <a16:colId xmlns:a16="http://schemas.microsoft.com/office/drawing/2014/main" val="3815471025"/>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sp>
        <p:nvSpPr>
          <p:cNvPr id="38" name="TextBox 37">
            <a:extLst>
              <a:ext uri="{FF2B5EF4-FFF2-40B4-BE49-F238E27FC236}">
                <a16:creationId xmlns:a16="http://schemas.microsoft.com/office/drawing/2014/main" id="{BB235307-E801-019A-285A-398B9BDEDEF8}"/>
              </a:ext>
            </a:extLst>
          </p:cNvPr>
          <p:cNvSpPr txBox="1"/>
          <p:nvPr/>
        </p:nvSpPr>
        <p:spPr>
          <a:xfrm>
            <a:off x="6238199" y="2520000"/>
            <a:ext cx="288000" cy="338554"/>
          </a:xfrm>
          <a:prstGeom prst="rect">
            <a:avLst/>
          </a:prstGeom>
          <a:noFill/>
        </p:spPr>
        <p:txBody>
          <a:bodyPr wrap="square" rtlCol="0" anchor="ctr">
            <a:spAutoFit/>
          </a:bodyPr>
          <a:lstStyle/>
          <a:p>
            <a:pPr algn="ctr"/>
            <a:r>
              <a:rPr lang="en-JP" sz="1600" b="1">
                <a:solidFill>
                  <a:srgbClr val="A8D5BA"/>
                </a:solidFill>
              </a:rPr>
              <a:t>1</a:t>
            </a:r>
          </a:p>
        </p:txBody>
      </p:sp>
      <p:pic>
        <p:nvPicPr>
          <p:cNvPr id="40" name="Graphic 39" descr="Programmer female outline">
            <a:extLst>
              <a:ext uri="{FF2B5EF4-FFF2-40B4-BE49-F238E27FC236}">
                <a16:creationId xmlns:a16="http://schemas.microsoft.com/office/drawing/2014/main" id="{840938F2-C8D0-1A40-6C1A-49ED2BCD90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6199" y="849150"/>
            <a:ext cx="1548000" cy="1548000"/>
          </a:xfrm>
          <a:prstGeom prst="rect">
            <a:avLst/>
          </a:prstGeom>
        </p:spPr>
      </p:pic>
      <p:sp>
        <p:nvSpPr>
          <p:cNvPr id="56" name="TextBox 55">
            <a:extLst>
              <a:ext uri="{FF2B5EF4-FFF2-40B4-BE49-F238E27FC236}">
                <a16:creationId xmlns:a16="http://schemas.microsoft.com/office/drawing/2014/main" id="{6CF7CBA0-BEA8-9DB1-8908-EBBD3EA6B0FE}"/>
              </a:ext>
            </a:extLst>
          </p:cNvPr>
          <p:cNvSpPr txBox="1"/>
          <p:nvPr/>
        </p:nvSpPr>
        <p:spPr>
          <a:xfrm>
            <a:off x="6526199" y="2520000"/>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57" name="TextBox 56">
            <a:extLst>
              <a:ext uri="{FF2B5EF4-FFF2-40B4-BE49-F238E27FC236}">
                <a16:creationId xmlns:a16="http://schemas.microsoft.com/office/drawing/2014/main" id="{853CCF9F-F10A-1FA4-FBB5-52E7CEBDE988}"/>
              </a:ext>
            </a:extLst>
          </p:cNvPr>
          <p:cNvSpPr txBox="1"/>
          <p:nvPr/>
        </p:nvSpPr>
        <p:spPr>
          <a:xfrm>
            <a:off x="6814800" y="2520000"/>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58" name="TextBox 57">
            <a:extLst>
              <a:ext uri="{FF2B5EF4-FFF2-40B4-BE49-F238E27FC236}">
                <a16:creationId xmlns:a16="http://schemas.microsoft.com/office/drawing/2014/main" id="{86E8F0ED-9FFE-ACEB-4E93-4B8AA7FBEEE5}"/>
              </a:ext>
            </a:extLst>
          </p:cNvPr>
          <p:cNvSpPr txBox="1"/>
          <p:nvPr/>
        </p:nvSpPr>
        <p:spPr>
          <a:xfrm>
            <a:off x="7102199" y="2520000"/>
            <a:ext cx="288000" cy="338554"/>
          </a:xfrm>
          <a:prstGeom prst="rect">
            <a:avLst/>
          </a:prstGeom>
          <a:noFill/>
        </p:spPr>
        <p:txBody>
          <a:bodyPr wrap="square" rtlCol="0" anchor="ctr">
            <a:spAutoFit/>
          </a:bodyPr>
          <a:lstStyle/>
          <a:p>
            <a:pPr algn="ctr"/>
            <a:r>
              <a:rPr lang="en-JP" sz="1600" b="1">
                <a:solidFill>
                  <a:srgbClr val="A8D5BA"/>
                </a:solidFill>
              </a:rPr>
              <a:t>9</a:t>
            </a:r>
          </a:p>
        </p:txBody>
      </p:sp>
      <p:sp>
        <p:nvSpPr>
          <p:cNvPr id="59" name="TextBox 58">
            <a:extLst>
              <a:ext uri="{FF2B5EF4-FFF2-40B4-BE49-F238E27FC236}">
                <a16:creationId xmlns:a16="http://schemas.microsoft.com/office/drawing/2014/main" id="{7D312B9B-F9F8-A2DA-3359-13C731548546}"/>
              </a:ext>
            </a:extLst>
          </p:cNvPr>
          <p:cNvSpPr txBox="1"/>
          <p:nvPr/>
        </p:nvSpPr>
        <p:spPr>
          <a:xfrm>
            <a:off x="7390800" y="252000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0" name="TextBox 59">
            <a:extLst>
              <a:ext uri="{FF2B5EF4-FFF2-40B4-BE49-F238E27FC236}">
                <a16:creationId xmlns:a16="http://schemas.microsoft.com/office/drawing/2014/main" id="{699F9FA7-0DEA-ED9C-D88A-15B90E7B74AD}"/>
              </a:ext>
            </a:extLst>
          </p:cNvPr>
          <p:cNvSpPr txBox="1"/>
          <p:nvPr/>
        </p:nvSpPr>
        <p:spPr>
          <a:xfrm>
            <a:off x="7677598" y="252000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61" name="TextBox 60">
            <a:extLst>
              <a:ext uri="{FF2B5EF4-FFF2-40B4-BE49-F238E27FC236}">
                <a16:creationId xmlns:a16="http://schemas.microsoft.com/office/drawing/2014/main" id="{F186C9EC-A74A-33A5-AFA4-3DA43AE5F201}"/>
              </a:ext>
            </a:extLst>
          </p:cNvPr>
          <p:cNvSpPr txBox="1"/>
          <p:nvPr/>
        </p:nvSpPr>
        <p:spPr>
          <a:xfrm>
            <a:off x="7966800" y="252000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2" name="TextBox 61">
            <a:extLst>
              <a:ext uri="{FF2B5EF4-FFF2-40B4-BE49-F238E27FC236}">
                <a16:creationId xmlns:a16="http://schemas.microsoft.com/office/drawing/2014/main" id="{64D53DEF-D6A2-D81A-229F-6BB0333DF321}"/>
              </a:ext>
            </a:extLst>
          </p:cNvPr>
          <p:cNvSpPr txBox="1"/>
          <p:nvPr/>
        </p:nvSpPr>
        <p:spPr>
          <a:xfrm>
            <a:off x="8253297" y="252000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3" name="TextBox 62">
            <a:extLst>
              <a:ext uri="{FF2B5EF4-FFF2-40B4-BE49-F238E27FC236}">
                <a16:creationId xmlns:a16="http://schemas.microsoft.com/office/drawing/2014/main" id="{2DB1BBC5-A760-A19D-46BE-75B2F4523C68}"/>
              </a:ext>
            </a:extLst>
          </p:cNvPr>
          <p:cNvSpPr txBox="1"/>
          <p:nvPr/>
        </p:nvSpPr>
        <p:spPr>
          <a:xfrm>
            <a:off x="9117598" y="2520000"/>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64" name="TextBox 63">
            <a:extLst>
              <a:ext uri="{FF2B5EF4-FFF2-40B4-BE49-F238E27FC236}">
                <a16:creationId xmlns:a16="http://schemas.microsoft.com/office/drawing/2014/main" id="{ADE39176-F4BA-7063-8D4A-A658118AD7C9}"/>
              </a:ext>
            </a:extLst>
          </p:cNvPr>
          <p:cNvSpPr txBox="1"/>
          <p:nvPr/>
        </p:nvSpPr>
        <p:spPr>
          <a:xfrm>
            <a:off x="8830800" y="2520000"/>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65" name="TextBox 64">
            <a:extLst>
              <a:ext uri="{FF2B5EF4-FFF2-40B4-BE49-F238E27FC236}">
                <a16:creationId xmlns:a16="http://schemas.microsoft.com/office/drawing/2014/main" id="{770B3EB9-B606-5C27-3D84-53EB9AFA7DE0}"/>
              </a:ext>
            </a:extLst>
          </p:cNvPr>
          <p:cNvSpPr txBox="1"/>
          <p:nvPr/>
        </p:nvSpPr>
        <p:spPr>
          <a:xfrm>
            <a:off x="9406800" y="2520000"/>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66" name="TextBox 65">
            <a:extLst>
              <a:ext uri="{FF2B5EF4-FFF2-40B4-BE49-F238E27FC236}">
                <a16:creationId xmlns:a16="http://schemas.microsoft.com/office/drawing/2014/main" id="{90EEEE21-D9A3-A0F7-3EF7-F0D16410257B}"/>
              </a:ext>
            </a:extLst>
          </p:cNvPr>
          <p:cNvSpPr txBox="1"/>
          <p:nvPr/>
        </p:nvSpPr>
        <p:spPr>
          <a:xfrm>
            <a:off x="9694800" y="252000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7" name="TextBox 66">
            <a:extLst>
              <a:ext uri="{FF2B5EF4-FFF2-40B4-BE49-F238E27FC236}">
                <a16:creationId xmlns:a16="http://schemas.microsoft.com/office/drawing/2014/main" id="{8B40DD79-EE3E-2DC1-F8DF-A890FAD9BE18}"/>
              </a:ext>
            </a:extLst>
          </p:cNvPr>
          <p:cNvSpPr txBox="1"/>
          <p:nvPr/>
        </p:nvSpPr>
        <p:spPr>
          <a:xfrm>
            <a:off x="9982800" y="252000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68" name="TextBox 67">
            <a:extLst>
              <a:ext uri="{FF2B5EF4-FFF2-40B4-BE49-F238E27FC236}">
                <a16:creationId xmlns:a16="http://schemas.microsoft.com/office/drawing/2014/main" id="{D30266C1-E501-7E38-EF88-429191440126}"/>
              </a:ext>
            </a:extLst>
          </p:cNvPr>
          <p:cNvSpPr txBox="1"/>
          <p:nvPr/>
        </p:nvSpPr>
        <p:spPr>
          <a:xfrm>
            <a:off x="10270800" y="2520000"/>
            <a:ext cx="288000" cy="338554"/>
          </a:xfrm>
          <a:prstGeom prst="rect">
            <a:avLst/>
          </a:prstGeom>
          <a:noFill/>
        </p:spPr>
        <p:txBody>
          <a:bodyPr wrap="square" rtlCol="0" anchor="ctr">
            <a:spAutoFit/>
          </a:bodyPr>
          <a:lstStyle/>
          <a:p>
            <a:pPr algn="ctr"/>
            <a:r>
              <a:rPr lang="en-JP" sz="1600" b="1">
                <a:solidFill>
                  <a:srgbClr val="A8D5BA"/>
                </a:solidFill>
              </a:rPr>
              <a:t>2</a:t>
            </a:r>
          </a:p>
        </p:txBody>
      </p:sp>
      <p:sp>
        <p:nvSpPr>
          <p:cNvPr id="69" name="TextBox 68">
            <a:extLst>
              <a:ext uri="{FF2B5EF4-FFF2-40B4-BE49-F238E27FC236}">
                <a16:creationId xmlns:a16="http://schemas.microsoft.com/office/drawing/2014/main" id="{9F2F236F-B0A8-DCFC-008B-AFEB25845326}"/>
              </a:ext>
            </a:extLst>
          </p:cNvPr>
          <p:cNvSpPr txBox="1"/>
          <p:nvPr/>
        </p:nvSpPr>
        <p:spPr>
          <a:xfrm>
            <a:off x="10558800" y="2520000"/>
            <a:ext cx="288000" cy="338554"/>
          </a:xfrm>
          <a:prstGeom prst="rect">
            <a:avLst/>
          </a:prstGeom>
          <a:noFill/>
        </p:spPr>
        <p:txBody>
          <a:bodyPr wrap="square" rtlCol="0" anchor="ctr">
            <a:spAutoFit/>
          </a:bodyPr>
          <a:lstStyle/>
          <a:p>
            <a:pPr algn="ctr"/>
            <a:r>
              <a:rPr lang="en-JP" sz="1600" b="1">
                <a:solidFill>
                  <a:srgbClr val="A8D5BA"/>
                </a:solidFill>
              </a:rPr>
              <a:t>9</a:t>
            </a:r>
          </a:p>
        </p:txBody>
      </p:sp>
      <p:sp>
        <p:nvSpPr>
          <p:cNvPr id="70" name="TextBox 69">
            <a:extLst>
              <a:ext uri="{FF2B5EF4-FFF2-40B4-BE49-F238E27FC236}">
                <a16:creationId xmlns:a16="http://schemas.microsoft.com/office/drawing/2014/main" id="{6BE200D3-9C26-6A82-AC6F-33B2578BA427}"/>
              </a:ext>
            </a:extLst>
          </p:cNvPr>
          <p:cNvSpPr txBox="1"/>
          <p:nvPr/>
        </p:nvSpPr>
        <p:spPr>
          <a:xfrm>
            <a:off x="10847668" y="2520000"/>
            <a:ext cx="288000" cy="338554"/>
          </a:xfrm>
          <a:prstGeom prst="rect">
            <a:avLst/>
          </a:prstGeom>
          <a:noFill/>
        </p:spPr>
        <p:txBody>
          <a:bodyPr wrap="square" rtlCol="0" anchor="ctr">
            <a:spAutoFit/>
          </a:bodyPr>
          <a:lstStyle/>
          <a:p>
            <a:pPr algn="ctr"/>
            <a:r>
              <a:rPr lang="en-JP" sz="1600" b="1">
                <a:solidFill>
                  <a:srgbClr val="A8D5BA"/>
                </a:solidFill>
              </a:rPr>
              <a:t>5</a:t>
            </a:r>
          </a:p>
        </p:txBody>
      </p:sp>
      <p:sp>
        <p:nvSpPr>
          <p:cNvPr id="72" name="Content Placeholder 2">
            <a:extLst>
              <a:ext uri="{FF2B5EF4-FFF2-40B4-BE49-F238E27FC236}">
                <a16:creationId xmlns:a16="http://schemas.microsoft.com/office/drawing/2014/main" id="{A464160F-2ECD-9F78-FBE7-10E604687BAD}"/>
              </a:ext>
            </a:extLst>
          </p:cNvPr>
          <p:cNvSpPr txBox="1">
            <a:spLocks/>
          </p:cNvSpPr>
          <p:nvPr/>
        </p:nvSpPr>
        <p:spPr>
          <a:xfrm>
            <a:off x="838200" y="1825625"/>
            <a:ext cx="4823999"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2600" b="1" dirty="0" err="1">
                <a:solidFill>
                  <a:srgbClr val="E0E0E0"/>
                </a:solidFill>
                <a:latin typeface="+mj-lt"/>
              </a:rPr>
              <a:t>モデル</a:t>
            </a:r>
            <a:endParaRPr lang="en-US" sz="2600" b="1" dirty="0">
              <a:solidFill>
                <a:srgbClr val="E0E0E0"/>
              </a:solidFill>
              <a:latin typeface="+mj-lt"/>
            </a:endParaRPr>
          </a:p>
          <a:p>
            <a:pPr>
              <a:lnSpc>
                <a:spcPct val="100000"/>
              </a:lnSpc>
            </a:pPr>
            <a:r>
              <a:rPr lang="en-JP" sz="2400" dirty="0">
                <a:solidFill>
                  <a:srgbClr val="E0E0E0"/>
                </a:solidFill>
              </a:rPr>
              <a:t>検証者：２人。通信を行う。</a:t>
            </a:r>
          </a:p>
          <a:p>
            <a:pPr>
              <a:lnSpc>
                <a:spcPct val="100000"/>
              </a:lnSpc>
            </a:pPr>
            <a:r>
              <a:rPr lang="en-JP" sz="2400" dirty="0">
                <a:solidFill>
                  <a:srgbClr val="E0E0E0"/>
                </a:solidFill>
              </a:rPr>
              <a:t>各検証者に一つずつの証明。</a:t>
            </a:r>
          </a:p>
          <a:p>
            <a:pPr marL="0" indent="0" algn="ctr">
              <a:lnSpc>
                <a:spcPct val="150000"/>
              </a:lnSpc>
              <a:buNone/>
            </a:pPr>
            <a:r>
              <a:rPr lang="en-JP" sz="2600" b="1" dirty="0">
                <a:solidFill>
                  <a:srgbClr val="00FF00"/>
                </a:solidFill>
              </a:rPr>
              <a:t>YES</a:t>
            </a:r>
            <a:r>
              <a:rPr lang="en-JP" sz="2600" dirty="0">
                <a:solidFill>
                  <a:srgbClr val="E0E0E0"/>
                </a:solidFill>
              </a:rPr>
              <a:t>インスタンス</a:t>
            </a:r>
          </a:p>
          <a:p>
            <a:pPr>
              <a:lnSpc>
                <a:spcPct val="100000"/>
              </a:lnSpc>
              <a:buClr>
                <a:schemeClr val="bg1"/>
              </a:buClr>
            </a:pPr>
            <a:r>
              <a:rPr lang="en-JP" sz="2200" dirty="0">
                <a:solidFill>
                  <a:srgbClr val="00FF00"/>
                </a:solidFill>
              </a:rPr>
              <a:t>両方</a:t>
            </a:r>
            <a:r>
              <a:rPr lang="en-JP" sz="2200" dirty="0">
                <a:solidFill>
                  <a:srgbClr val="E0E0E0"/>
                </a:solidFill>
              </a:rPr>
              <a:t>の検証者が受理する証明が存在する。</a:t>
            </a:r>
          </a:p>
          <a:p>
            <a:pPr marL="0" indent="0" algn="ctr">
              <a:lnSpc>
                <a:spcPct val="150000"/>
              </a:lnSpc>
              <a:buNone/>
            </a:pPr>
            <a:r>
              <a:rPr lang="en-US" sz="2600" b="1" dirty="0">
                <a:solidFill>
                  <a:srgbClr val="FF0000"/>
                </a:solidFill>
              </a:rPr>
              <a:t>NO</a:t>
            </a:r>
            <a:r>
              <a:rPr lang="en-JP" sz="2600" dirty="0">
                <a:solidFill>
                  <a:srgbClr val="E0E0E0"/>
                </a:solidFill>
              </a:rPr>
              <a:t>インスタンス</a:t>
            </a:r>
          </a:p>
          <a:p>
            <a:pPr>
              <a:lnSpc>
                <a:spcPct val="100000"/>
              </a:lnSpc>
            </a:pPr>
            <a:r>
              <a:rPr lang="en-JP" sz="2200" dirty="0">
                <a:solidFill>
                  <a:srgbClr val="E0E0E0"/>
                </a:solidFill>
              </a:rPr>
              <a:t>全ての証明に対し、</a:t>
            </a:r>
            <a:r>
              <a:rPr lang="en-JP" sz="2200" dirty="0">
                <a:solidFill>
                  <a:srgbClr val="FF0000"/>
                </a:solidFill>
              </a:rPr>
              <a:t>いずれか</a:t>
            </a:r>
            <a:r>
              <a:rPr lang="en-JP" sz="2200" dirty="0">
                <a:solidFill>
                  <a:srgbClr val="E0E0E0"/>
                </a:solidFill>
              </a:rPr>
              <a:t>の検証者が拒絶。</a:t>
            </a:r>
          </a:p>
        </p:txBody>
      </p:sp>
      <p:pic>
        <p:nvPicPr>
          <p:cNvPr id="81" name="Graphic 80" descr="Badge Tick1 with solid fill">
            <a:extLst>
              <a:ext uri="{FF2B5EF4-FFF2-40B4-BE49-F238E27FC236}">
                <a16:creationId xmlns:a16="http://schemas.microsoft.com/office/drawing/2014/main" id="{484C701A-2632-17FC-7253-73FCD02EF0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40224" y="663880"/>
            <a:ext cx="561665" cy="561665"/>
          </a:xfrm>
          <a:prstGeom prst="rect">
            <a:avLst/>
          </a:prstGeom>
        </p:spPr>
      </p:pic>
      <p:pic>
        <p:nvPicPr>
          <p:cNvPr id="88" name="Graphic 87" descr="Badge Tick1 with solid fill">
            <a:extLst>
              <a:ext uri="{FF2B5EF4-FFF2-40B4-BE49-F238E27FC236}">
                <a16:creationId xmlns:a16="http://schemas.microsoft.com/office/drawing/2014/main" id="{AFA184A6-6E52-8EC6-4E44-7076C20A69D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70800" y="663880"/>
            <a:ext cx="561665" cy="561665"/>
          </a:xfrm>
          <a:prstGeom prst="rect">
            <a:avLst/>
          </a:prstGeom>
        </p:spPr>
      </p:pic>
      <p:cxnSp>
        <p:nvCxnSpPr>
          <p:cNvPr id="94" name="Straight Connector 93">
            <a:extLst>
              <a:ext uri="{FF2B5EF4-FFF2-40B4-BE49-F238E27FC236}">
                <a16:creationId xmlns:a16="http://schemas.microsoft.com/office/drawing/2014/main" id="{98F7DCE3-BAC0-386D-8C23-1040A6F1139A}"/>
              </a:ext>
            </a:extLst>
          </p:cNvPr>
          <p:cNvCxnSpPr>
            <a:cxnSpLocks/>
          </p:cNvCxnSpPr>
          <p:nvPr/>
        </p:nvCxnSpPr>
        <p:spPr>
          <a:xfrm>
            <a:off x="7910610" y="2268000"/>
            <a:ext cx="1538193" cy="0"/>
          </a:xfrm>
          <a:prstGeom prst="line">
            <a:avLst/>
          </a:prstGeom>
          <a:ln>
            <a:solidFill>
              <a:srgbClr val="A8D5BA"/>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BA0DBD51-C157-8443-73A0-17E6EDCE2ED1}"/>
              </a:ext>
            </a:extLst>
          </p:cNvPr>
          <p:cNvCxnSpPr>
            <a:cxnSpLocks/>
          </p:cNvCxnSpPr>
          <p:nvPr/>
        </p:nvCxnSpPr>
        <p:spPr>
          <a:xfrm>
            <a:off x="7910610" y="2304000"/>
            <a:ext cx="1538193" cy="0"/>
          </a:xfrm>
          <a:prstGeom prst="line">
            <a:avLst/>
          </a:prstGeom>
          <a:ln>
            <a:solidFill>
              <a:srgbClr val="A8D5BA"/>
            </a:solidFill>
          </a:ln>
        </p:spPr>
        <p:style>
          <a:lnRef idx="2">
            <a:schemeClr val="accent1"/>
          </a:lnRef>
          <a:fillRef idx="0">
            <a:schemeClr val="accent1"/>
          </a:fillRef>
          <a:effectRef idx="1">
            <a:schemeClr val="accent1"/>
          </a:effectRef>
          <a:fontRef idx="minor">
            <a:schemeClr val="tx1"/>
          </a:fontRef>
        </p:style>
      </p:cxnSp>
      <p:sp>
        <p:nvSpPr>
          <p:cNvPr id="100" name="Rectangle 99">
            <a:extLst>
              <a:ext uri="{FF2B5EF4-FFF2-40B4-BE49-F238E27FC236}">
                <a16:creationId xmlns:a16="http://schemas.microsoft.com/office/drawing/2014/main" id="{4E6241A2-599F-D87E-A6E0-953939EC9249}"/>
              </a:ext>
            </a:extLst>
          </p:cNvPr>
          <p:cNvSpPr/>
          <p:nvPr/>
        </p:nvSpPr>
        <p:spPr>
          <a:xfrm>
            <a:off x="10156910" y="4506170"/>
            <a:ext cx="216025" cy="216025"/>
          </a:xfrm>
          <a:prstGeom prst="rect">
            <a:avLst/>
          </a:prstGeom>
          <a:solidFill>
            <a:srgbClr val="001F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3" name="Rectangle 102">
            <a:extLst>
              <a:ext uri="{FF2B5EF4-FFF2-40B4-BE49-F238E27FC236}">
                <a16:creationId xmlns:a16="http://schemas.microsoft.com/office/drawing/2014/main" id="{A8A75283-C810-845D-0354-9F0C7E21874C}"/>
              </a:ext>
            </a:extLst>
          </p:cNvPr>
          <p:cNvSpPr/>
          <p:nvPr/>
        </p:nvSpPr>
        <p:spPr>
          <a:xfrm>
            <a:off x="9731124" y="5533255"/>
            <a:ext cx="172820" cy="172820"/>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1" name="TextBox 100">
            <a:extLst>
              <a:ext uri="{FF2B5EF4-FFF2-40B4-BE49-F238E27FC236}">
                <a16:creationId xmlns:a16="http://schemas.microsoft.com/office/drawing/2014/main" id="{B867F9DC-82FA-FD8C-776C-2A581D455964}"/>
              </a:ext>
            </a:extLst>
          </p:cNvPr>
          <p:cNvSpPr txBox="1"/>
          <p:nvPr/>
        </p:nvSpPr>
        <p:spPr>
          <a:xfrm>
            <a:off x="9694199" y="5456493"/>
            <a:ext cx="288000" cy="338554"/>
          </a:xfrm>
          <a:prstGeom prst="rect">
            <a:avLst/>
          </a:prstGeom>
          <a:noFill/>
        </p:spPr>
        <p:txBody>
          <a:bodyPr wrap="square" rtlCol="0" anchor="ctr">
            <a:spAutoFit/>
          </a:bodyPr>
          <a:lstStyle/>
          <a:p>
            <a:pPr algn="ctr"/>
            <a:r>
              <a:rPr lang="en-JP" sz="1600">
                <a:solidFill>
                  <a:srgbClr val="FF0000"/>
                </a:solidFill>
              </a:rPr>
              <a:t>6</a:t>
            </a:r>
          </a:p>
        </p:txBody>
      </p:sp>
      <p:sp>
        <p:nvSpPr>
          <p:cNvPr id="3" name="Rectangle 2">
            <a:extLst>
              <a:ext uri="{FF2B5EF4-FFF2-40B4-BE49-F238E27FC236}">
                <a16:creationId xmlns:a16="http://schemas.microsoft.com/office/drawing/2014/main" id="{40F1550C-ACEE-5940-63D7-EFED20CFBDD4}"/>
              </a:ext>
            </a:extLst>
          </p:cNvPr>
          <p:cNvSpPr/>
          <p:nvPr/>
        </p:nvSpPr>
        <p:spPr>
          <a:xfrm>
            <a:off x="9740519" y="4944824"/>
            <a:ext cx="196223" cy="200148"/>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5" name="TextBox 104">
            <a:extLst>
              <a:ext uri="{FF2B5EF4-FFF2-40B4-BE49-F238E27FC236}">
                <a16:creationId xmlns:a16="http://schemas.microsoft.com/office/drawing/2014/main" id="{B13C115C-0EFC-3743-E371-1E06F8C0CFF1}"/>
              </a:ext>
            </a:extLst>
          </p:cNvPr>
          <p:cNvSpPr txBox="1"/>
          <p:nvPr/>
        </p:nvSpPr>
        <p:spPr>
          <a:xfrm>
            <a:off x="9694800" y="4875621"/>
            <a:ext cx="288000" cy="338554"/>
          </a:xfrm>
          <a:prstGeom prst="rect">
            <a:avLst/>
          </a:prstGeom>
          <a:noFill/>
        </p:spPr>
        <p:txBody>
          <a:bodyPr wrap="square" rtlCol="0" anchor="ctr">
            <a:spAutoFit/>
          </a:bodyPr>
          <a:lstStyle/>
          <a:p>
            <a:pPr algn="ctr"/>
            <a:r>
              <a:rPr lang="en-JP" sz="1600">
                <a:solidFill>
                  <a:srgbClr val="FF0000"/>
                </a:solidFill>
              </a:rPr>
              <a:t>6</a:t>
            </a:r>
          </a:p>
        </p:txBody>
      </p:sp>
      <p:pic>
        <p:nvPicPr>
          <p:cNvPr id="19" name="Graphic 18" descr="Warning with solid fill">
            <a:extLst>
              <a:ext uri="{FF2B5EF4-FFF2-40B4-BE49-F238E27FC236}">
                <a16:creationId xmlns:a16="http://schemas.microsoft.com/office/drawing/2014/main" id="{669A1139-BAD6-D1E2-9A3C-8104D95284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77782" y="663810"/>
            <a:ext cx="561600" cy="561600"/>
          </a:xfrm>
          <a:prstGeom prst="rect">
            <a:avLst/>
          </a:prstGeom>
        </p:spPr>
      </p:pic>
      <p:pic>
        <p:nvPicPr>
          <p:cNvPr id="23" name="Graphic 22" descr="Anger Symbol with solid fill">
            <a:extLst>
              <a:ext uri="{FF2B5EF4-FFF2-40B4-BE49-F238E27FC236}">
                <a16:creationId xmlns:a16="http://schemas.microsoft.com/office/drawing/2014/main" id="{1658D0B9-1AC7-DF4D-0A6F-64868C013FA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6836" y="1126524"/>
            <a:ext cx="347366" cy="347366"/>
          </a:xfrm>
          <a:prstGeom prst="rect">
            <a:avLst/>
          </a:prstGeom>
        </p:spPr>
      </p:pic>
      <p:sp>
        <p:nvSpPr>
          <p:cNvPr id="87" name="TextBox 86">
            <a:extLst>
              <a:ext uri="{FF2B5EF4-FFF2-40B4-BE49-F238E27FC236}">
                <a16:creationId xmlns:a16="http://schemas.microsoft.com/office/drawing/2014/main" id="{036AAC7B-50F9-D3B8-D4C2-2439A281E81A}"/>
              </a:ext>
            </a:extLst>
          </p:cNvPr>
          <p:cNvSpPr txBox="1"/>
          <p:nvPr/>
        </p:nvSpPr>
        <p:spPr>
          <a:xfrm>
            <a:off x="6237981" y="2520070"/>
            <a:ext cx="288000" cy="338554"/>
          </a:xfrm>
          <a:prstGeom prst="rect">
            <a:avLst/>
          </a:prstGeom>
          <a:noFill/>
        </p:spPr>
        <p:txBody>
          <a:bodyPr wrap="square" rtlCol="0" anchor="ctr">
            <a:spAutoFit/>
          </a:bodyPr>
          <a:lstStyle/>
          <a:p>
            <a:pPr algn="ctr"/>
            <a:r>
              <a:rPr lang="en-JP" sz="1600" b="1">
                <a:solidFill>
                  <a:srgbClr val="A8D5BA"/>
                </a:solidFill>
              </a:rPr>
              <a:t>2</a:t>
            </a:r>
          </a:p>
        </p:txBody>
      </p:sp>
      <p:sp>
        <p:nvSpPr>
          <p:cNvPr id="89" name="TextBox 88">
            <a:extLst>
              <a:ext uri="{FF2B5EF4-FFF2-40B4-BE49-F238E27FC236}">
                <a16:creationId xmlns:a16="http://schemas.microsoft.com/office/drawing/2014/main" id="{320C9135-122D-6BAE-2742-0585394DFB11}"/>
              </a:ext>
            </a:extLst>
          </p:cNvPr>
          <p:cNvSpPr txBox="1"/>
          <p:nvPr/>
        </p:nvSpPr>
        <p:spPr>
          <a:xfrm>
            <a:off x="6525981" y="252007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90" name="TextBox 89">
            <a:extLst>
              <a:ext uri="{FF2B5EF4-FFF2-40B4-BE49-F238E27FC236}">
                <a16:creationId xmlns:a16="http://schemas.microsoft.com/office/drawing/2014/main" id="{4D129ABE-FC6C-E680-E388-08F3A88E3A06}"/>
              </a:ext>
            </a:extLst>
          </p:cNvPr>
          <p:cNvSpPr txBox="1"/>
          <p:nvPr/>
        </p:nvSpPr>
        <p:spPr>
          <a:xfrm>
            <a:off x="6814582" y="2520070"/>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91" name="TextBox 90">
            <a:extLst>
              <a:ext uri="{FF2B5EF4-FFF2-40B4-BE49-F238E27FC236}">
                <a16:creationId xmlns:a16="http://schemas.microsoft.com/office/drawing/2014/main" id="{58C05C87-9EF9-2501-DFBE-02535E6168D6}"/>
              </a:ext>
            </a:extLst>
          </p:cNvPr>
          <p:cNvSpPr txBox="1"/>
          <p:nvPr/>
        </p:nvSpPr>
        <p:spPr>
          <a:xfrm>
            <a:off x="7101981" y="2520070"/>
            <a:ext cx="288000" cy="338554"/>
          </a:xfrm>
          <a:prstGeom prst="rect">
            <a:avLst/>
          </a:prstGeom>
          <a:noFill/>
        </p:spPr>
        <p:txBody>
          <a:bodyPr wrap="square" rtlCol="0" anchor="ctr">
            <a:spAutoFit/>
          </a:bodyPr>
          <a:lstStyle/>
          <a:p>
            <a:pPr algn="ctr"/>
            <a:r>
              <a:rPr lang="en-JP" sz="1600" b="1">
                <a:solidFill>
                  <a:srgbClr val="A8D5BA"/>
                </a:solidFill>
              </a:rPr>
              <a:t>8</a:t>
            </a:r>
          </a:p>
        </p:txBody>
      </p:sp>
      <p:sp>
        <p:nvSpPr>
          <p:cNvPr id="92" name="TextBox 91">
            <a:extLst>
              <a:ext uri="{FF2B5EF4-FFF2-40B4-BE49-F238E27FC236}">
                <a16:creationId xmlns:a16="http://schemas.microsoft.com/office/drawing/2014/main" id="{9D6DEEA1-5F77-32FD-B2D0-EF8E3EB2A7C1}"/>
              </a:ext>
            </a:extLst>
          </p:cNvPr>
          <p:cNvSpPr txBox="1"/>
          <p:nvPr/>
        </p:nvSpPr>
        <p:spPr>
          <a:xfrm>
            <a:off x="7390582" y="2520070"/>
            <a:ext cx="288000" cy="338554"/>
          </a:xfrm>
          <a:prstGeom prst="rect">
            <a:avLst/>
          </a:prstGeom>
          <a:noFill/>
        </p:spPr>
        <p:txBody>
          <a:bodyPr wrap="square" rtlCol="0" anchor="ctr">
            <a:spAutoFit/>
          </a:bodyPr>
          <a:lstStyle/>
          <a:p>
            <a:pPr algn="ctr"/>
            <a:r>
              <a:rPr lang="en-JP" sz="1600" b="1">
                <a:solidFill>
                  <a:srgbClr val="A8D5BA"/>
                </a:solidFill>
              </a:rPr>
              <a:t>5</a:t>
            </a:r>
          </a:p>
        </p:txBody>
      </p:sp>
      <p:sp>
        <p:nvSpPr>
          <p:cNvPr id="93" name="TextBox 92">
            <a:extLst>
              <a:ext uri="{FF2B5EF4-FFF2-40B4-BE49-F238E27FC236}">
                <a16:creationId xmlns:a16="http://schemas.microsoft.com/office/drawing/2014/main" id="{38BD8A64-4EA1-E8E1-D504-4B34F70DA5C3}"/>
              </a:ext>
            </a:extLst>
          </p:cNvPr>
          <p:cNvSpPr txBox="1"/>
          <p:nvPr/>
        </p:nvSpPr>
        <p:spPr>
          <a:xfrm>
            <a:off x="7677380" y="2520070"/>
            <a:ext cx="288000" cy="338554"/>
          </a:xfrm>
          <a:prstGeom prst="rect">
            <a:avLst/>
          </a:prstGeom>
          <a:noFill/>
        </p:spPr>
        <p:txBody>
          <a:bodyPr wrap="square" rtlCol="0" anchor="ctr">
            <a:spAutoFit/>
          </a:bodyPr>
          <a:lstStyle/>
          <a:p>
            <a:pPr algn="ctr"/>
            <a:r>
              <a:rPr lang="en-JP" sz="1600" b="1">
                <a:solidFill>
                  <a:srgbClr val="A8D5BA"/>
                </a:solidFill>
              </a:rPr>
              <a:t>9</a:t>
            </a:r>
          </a:p>
        </p:txBody>
      </p:sp>
      <p:sp>
        <p:nvSpPr>
          <p:cNvPr id="95" name="TextBox 94">
            <a:extLst>
              <a:ext uri="{FF2B5EF4-FFF2-40B4-BE49-F238E27FC236}">
                <a16:creationId xmlns:a16="http://schemas.microsoft.com/office/drawing/2014/main" id="{EAC875E7-6CE2-77F7-E941-DAFB68C7D6D9}"/>
              </a:ext>
            </a:extLst>
          </p:cNvPr>
          <p:cNvSpPr txBox="1"/>
          <p:nvPr/>
        </p:nvSpPr>
        <p:spPr>
          <a:xfrm>
            <a:off x="7966582" y="2520070"/>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96" name="TextBox 95">
            <a:extLst>
              <a:ext uri="{FF2B5EF4-FFF2-40B4-BE49-F238E27FC236}">
                <a16:creationId xmlns:a16="http://schemas.microsoft.com/office/drawing/2014/main" id="{A594D0E1-AC78-4D3C-B52D-0184840DD824}"/>
              </a:ext>
            </a:extLst>
          </p:cNvPr>
          <p:cNvSpPr txBox="1"/>
          <p:nvPr/>
        </p:nvSpPr>
        <p:spPr>
          <a:xfrm>
            <a:off x="8253079" y="252007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98" name="TextBox 97">
            <a:extLst>
              <a:ext uri="{FF2B5EF4-FFF2-40B4-BE49-F238E27FC236}">
                <a16:creationId xmlns:a16="http://schemas.microsoft.com/office/drawing/2014/main" id="{55BB92D7-E0B8-671E-872D-886928A72D55}"/>
              </a:ext>
            </a:extLst>
          </p:cNvPr>
          <p:cNvSpPr txBox="1"/>
          <p:nvPr/>
        </p:nvSpPr>
        <p:spPr>
          <a:xfrm>
            <a:off x="9117380" y="2520070"/>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99" name="TextBox 98">
            <a:extLst>
              <a:ext uri="{FF2B5EF4-FFF2-40B4-BE49-F238E27FC236}">
                <a16:creationId xmlns:a16="http://schemas.microsoft.com/office/drawing/2014/main" id="{BBF8576F-2A06-F3CB-B03B-E45C43E8B9BF}"/>
              </a:ext>
            </a:extLst>
          </p:cNvPr>
          <p:cNvSpPr txBox="1"/>
          <p:nvPr/>
        </p:nvSpPr>
        <p:spPr>
          <a:xfrm>
            <a:off x="8830582" y="2520070"/>
            <a:ext cx="288000" cy="338554"/>
          </a:xfrm>
          <a:prstGeom prst="rect">
            <a:avLst/>
          </a:prstGeom>
          <a:noFill/>
        </p:spPr>
        <p:txBody>
          <a:bodyPr wrap="square" rtlCol="0" anchor="ctr">
            <a:spAutoFit/>
          </a:bodyPr>
          <a:lstStyle/>
          <a:p>
            <a:pPr algn="ctr"/>
            <a:r>
              <a:rPr lang="en-JP" sz="1600" b="1">
                <a:solidFill>
                  <a:srgbClr val="A8D5BA"/>
                </a:solidFill>
              </a:rPr>
              <a:t>2</a:t>
            </a:r>
          </a:p>
        </p:txBody>
      </p:sp>
      <p:sp>
        <p:nvSpPr>
          <p:cNvPr id="102" name="TextBox 101">
            <a:extLst>
              <a:ext uri="{FF2B5EF4-FFF2-40B4-BE49-F238E27FC236}">
                <a16:creationId xmlns:a16="http://schemas.microsoft.com/office/drawing/2014/main" id="{7F657572-6CB3-72AB-B838-29134FE9B16F}"/>
              </a:ext>
            </a:extLst>
          </p:cNvPr>
          <p:cNvSpPr txBox="1"/>
          <p:nvPr/>
        </p:nvSpPr>
        <p:spPr>
          <a:xfrm>
            <a:off x="9406582" y="2520070"/>
            <a:ext cx="288000" cy="338554"/>
          </a:xfrm>
          <a:prstGeom prst="rect">
            <a:avLst/>
          </a:prstGeom>
          <a:noFill/>
        </p:spPr>
        <p:txBody>
          <a:bodyPr wrap="square" rtlCol="0" anchor="ctr">
            <a:spAutoFit/>
          </a:bodyPr>
          <a:lstStyle/>
          <a:p>
            <a:pPr algn="ctr"/>
            <a:r>
              <a:rPr lang="en-JP" sz="1600" b="1">
                <a:solidFill>
                  <a:srgbClr val="A8D5BA"/>
                </a:solidFill>
              </a:rPr>
              <a:t>5</a:t>
            </a:r>
          </a:p>
        </p:txBody>
      </p:sp>
      <p:sp>
        <p:nvSpPr>
          <p:cNvPr id="104" name="TextBox 103">
            <a:extLst>
              <a:ext uri="{FF2B5EF4-FFF2-40B4-BE49-F238E27FC236}">
                <a16:creationId xmlns:a16="http://schemas.microsoft.com/office/drawing/2014/main" id="{4D97C9F7-CC7A-DBEE-E6DA-430E9D0632B2}"/>
              </a:ext>
            </a:extLst>
          </p:cNvPr>
          <p:cNvSpPr txBox="1"/>
          <p:nvPr/>
        </p:nvSpPr>
        <p:spPr>
          <a:xfrm>
            <a:off x="9694582" y="2520070"/>
            <a:ext cx="288000" cy="338554"/>
          </a:xfrm>
          <a:prstGeom prst="rect">
            <a:avLst/>
          </a:prstGeom>
          <a:noFill/>
        </p:spPr>
        <p:txBody>
          <a:bodyPr wrap="square" rtlCol="0" anchor="ctr">
            <a:spAutoFit/>
          </a:bodyPr>
          <a:lstStyle/>
          <a:p>
            <a:pPr algn="ctr"/>
            <a:r>
              <a:rPr lang="en-JP" sz="1600" b="1">
                <a:solidFill>
                  <a:srgbClr val="A8D5BA"/>
                </a:solidFill>
              </a:rPr>
              <a:t>4</a:t>
            </a:r>
          </a:p>
        </p:txBody>
      </p:sp>
      <p:sp>
        <p:nvSpPr>
          <p:cNvPr id="106" name="TextBox 105">
            <a:extLst>
              <a:ext uri="{FF2B5EF4-FFF2-40B4-BE49-F238E27FC236}">
                <a16:creationId xmlns:a16="http://schemas.microsoft.com/office/drawing/2014/main" id="{8F87D439-0466-82E0-6D7D-3FAF0ED1D040}"/>
              </a:ext>
            </a:extLst>
          </p:cNvPr>
          <p:cNvSpPr txBox="1"/>
          <p:nvPr/>
        </p:nvSpPr>
        <p:spPr>
          <a:xfrm>
            <a:off x="9982582" y="252007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107" name="TextBox 106">
            <a:extLst>
              <a:ext uri="{FF2B5EF4-FFF2-40B4-BE49-F238E27FC236}">
                <a16:creationId xmlns:a16="http://schemas.microsoft.com/office/drawing/2014/main" id="{3DEC7C90-9B36-AFD1-7E1B-22188600952A}"/>
              </a:ext>
            </a:extLst>
          </p:cNvPr>
          <p:cNvSpPr txBox="1"/>
          <p:nvPr/>
        </p:nvSpPr>
        <p:spPr>
          <a:xfrm>
            <a:off x="10270582" y="2520070"/>
            <a:ext cx="288000" cy="338554"/>
          </a:xfrm>
          <a:prstGeom prst="rect">
            <a:avLst/>
          </a:prstGeom>
          <a:noFill/>
        </p:spPr>
        <p:txBody>
          <a:bodyPr wrap="square" rtlCol="0" anchor="ctr">
            <a:spAutoFit/>
          </a:bodyPr>
          <a:lstStyle/>
          <a:p>
            <a:pPr algn="ctr"/>
            <a:r>
              <a:rPr lang="en-JP" sz="1600" b="1">
                <a:solidFill>
                  <a:srgbClr val="A8D5BA"/>
                </a:solidFill>
              </a:rPr>
              <a:t>5</a:t>
            </a:r>
          </a:p>
        </p:txBody>
      </p:sp>
      <p:sp>
        <p:nvSpPr>
          <p:cNvPr id="108" name="TextBox 107">
            <a:extLst>
              <a:ext uri="{FF2B5EF4-FFF2-40B4-BE49-F238E27FC236}">
                <a16:creationId xmlns:a16="http://schemas.microsoft.com/office/drawing/2014/main" id="{BD2B40DF-6C19-08F8-6695-0A589D73D08C}"/>
              </a:ext>
            </a:extLst>
          </p:cNvPr>
          <p:cNvSpPr txBox="1"/>
          <p:nvPr/>
        </p:nvSpPr>
        <p:spPr>
          <a:xfrm>
            <a:off x="10558582" y="2520070"/>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109" name="TextBox 108">
            <a:extLst>
              <a:ext uri="{FF2B5EF4-FFF2-40B4-BE49-F238E27FC236}">
                <a16:creationId xmlns:a16="http://schemas.microsoft.com/office/drawing/2014/main" id="{0504C8DB-AEFB-D8AA-D956-B4E3806B6522}"/>
              </a:ext>
            </a:extLst>
          </p:cNvPr>
          <p:cNvSpPr txBox="1"/>
          <p:nvPr/>
        </p:nvSpPr>
        <p:spPr>
          <a:xfrm>
            <a:off x="10847450" y="2520070"/>
            <a:ext cx="288000" cy="338554"/>
          </a:xfrm>
          <a:prstGeom prst="rect">
            <a:avLst/>
          </a:prstGeom>
          <a:noFill/>
        </p:spPr>
        <p:txBody>
          <a:bodyPr wrap="square" rtlCol="0" anchor="ctr">
            <a:spAutoFit/>
          </a:bodyPr>
          <a:lstStyle/>
          <a:p>
            <a:pPr algn="ctr"/>
            <a:r>
              <a:rPr lang="en-JP" sz="1600" b="1">
                <a:solidFill>
                  <a:srgbClr val="A8D5BA"/>
                </a:solidFill>
              </a:rPr>
              <a:t>5</a:t>
            </a:r>
          </a:p>
        </p:txBody>
      </p:sp>
      <p:pic>
        <p:nvPicPr>
          <p:cNvPr id="110" name="Graphic 109" descr="Warning with solid fill">
            <a:extLst>
              <a:ext uri="{FF2B5EF4-FFF2-40B4-BE49-F238E27FC236}">
                <a16:creationId xmlns:a16="http://schemas.microsoft.com/office/drawing/2014/main" id="{31C9C20C-57EB-4FFD-B700-E0D6FCEB30F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41200" y="662400"/>
            <a:ext cx="561600" cy="561600"/>
          </a:xfrm>
          <a:prstGeom prst="rect">
            <a:avLst/>
          </a:prstGeom>
        </p:spPr>
      </p:pic>
      <p:pic>
        <p:nvPicPr>
          <p:cNvPr id="111" name="Graphic 110" descr="Anger Symbol with solid fill">
            <a:extLst>
              <a:ext uri="{FF2B5EF4-FFF2-40B4-BE49-F238E27FC236}">
                <a16:creationId xmlns:a16="http://schemas.microsoft.com/office/drawing/2014/main" id="{15DD36A5-BB9E-5294-38E3-79AA7B4CE81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74014" y="1126524"/>
            <a:ext cx="347366" cy="347366"/>
          </a:xfrm>
          <a:prstGeom prst="rect">
            <a:avLst/>
          </a:prstGeom>
        </p:spPr>
      </p:pic>
      <p:sp>
        <p:nvSpPr>
          <p:cNvPr id="14" name="Rectangle 13">
            <a:extLst>
              <a:ext uri="{FF2B5EF4-FFF2-40B4-BE49-F238E27FC236}">
                <a16:creationId xmlns:a16="http://schemas.microsoft.com/office/drawing/2014/main" id="{45072B33-A3E7-B70F-D742-110F200798F8}"/>
              </a:ext>
            </a:extLst>
          </p:cNvPr>
          <p:cNvSpPr/>
          <p:nvPr/>
        </p:nvSpPr>
        <p:spPr>
          <a:xfrm>
            <a:off x="7997099" y="5247738"/>
            <a:ext cx="172820" cy="172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6" name="TextBox 15">
            <a:extLst>
              <a:ext uri="{FF2B5EF4-FFF2-40B4-BE49-F238E27FC236}">
                <a16:creationId xmlns:a16="http://schemas.microsoft.com/office/drawing/2014/main" id="{38362576-7383-9178-5C67-D346E3B385EE}"/>
              </a:ext>
            </a:extLst>
          </p:cNvPr>
          <p:cNvSpPr txBox="1"/>
          <p:nvPr/>
        </p:nvSpPr>
        <p:spPr>
          <a:xfrm>
            <a:off x="7960174" y="5170976"/>
            <a:ext cx="288000" cy="338554"/>
          </a:xfrm>
          <a:prstGeom prst="rect">
            <a:avLst/>
          </a:prstGeom>
          <a:noFill/>
        </p:spPr>
        <p:txBody>
          <a:bodyPr wrap="square" rtlCol="0" anchor="ctr">
            <a:spAutoFit/>
          </a:bodyPr>
          <a:lstStyle/>
          <a:p>
            <a:pPr algn="ctr"/>
            <a:r>
              <a:rPr lang="en-JP" sz="1600">
                <a:solidFill>
                  <a:srgbClr val="FF0000"/>
                </a:solidFill>
              </a:rPr>
              <a:t>6</a:t>
            </a:r>
          </a:p>
        </p:txBody>
      </p:sp>
      <p:sp>
        <p:nvSpPr>
          <p:cNvPr id="17" name="Rectangle 16">
            <a:extLst>
              <a:ext uri="{FF2B5EF4-FFF2-40B4-BE49-F238E27FC236}">
                <a16:creationId xmlns:a16="http://schemas.microsoft.com/office/drawing/2014/main" id="{E7D73DD1-DC70-091B-5379-81ED314ACFA9}"/>
              </a:ext>
            </a:extLst>
          </p:cNvPr>
          <p:cNvSpPr/>
          <p:nvPr/>
        </p:nvSpPr>
        <p:spPr>
          <a:xfrm>
            <a:off x="7436109" y="5237901"/>
            <a:ext cx="196223" cy="200148"/>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8" name="TextBox 17">
            <a:extLst>
              <a:ext uri="{FF2B5EF4-FFF2-40B4-BE49-F238E27FC236}">
                <a16:creationId xmlns:a16="http://schemas.microsoft.com/office/drawing/2014/main" id="{8412EB5A-5947-C6C6-C197-930C646DAD3E}"/>
              </a:ext>
            </a:extLst>
          </p:cNvPr>
          <p:cNvSpPr txBox="1"/>
          <p:nvPr/>
        </p:nvSpPr>
        <p:spPr>
          <a:xfrm>
            <a:off x="7390390" y="5168698"/>
            <a:ext cx="288000" cy="338554"/>
          </a:xfrm>
          <a:prstGeom prst="rect">
            <a:avLst/>
          </a:prstGeom>
          <a:noFill/>
        </p:spPr>
        <p:txBody>
          <a:bodyPr wrap="square" rtlCol="0" anchor="ctr">
            <a:spAutoFit/>
          </a:bodyPr>
          <a:lstStyle/>
          <a:p>
            <a:pPr algn="ctr"/>
            <a:r>
              <a:rPr lang="en-JP" sz="1600">
                <a:solidFill>
                  <a:srgbClr val="FF0000"/>
                </a:solidFill>
              </a:rPr>
              <a:t>6</a:t>
            </a:r>
          </a:p>
        </p:txBody>
      </p:sp>
    </p:spTree>
    <p:extLst>
      <p:ext uri="{BB962C8B-B14F-4D97-AF65-F5344CB8AC3E}">
        <p14:creationId xmlns:p14="http://schemas.microsoft.com/office/powerpoint/2010/main" val="275817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1+#ppt_w/2"/>
                                          </p:val>
                                        </p:tav>
                                        <p:tav tm="100000">
                                          <p:val>
                                            <p:strVal val="#ppt_x"/>
                                          </p:val>
                                        </p:tav>
                                      </p:tavLst>
                                    </p:anim>
                                    <p:anim calcmode="lin" valueType="num">
                                      <p:cBhvr additive="base">
                                        <p:cTn id="8" dur="500" fill="hold"/>
                                        <p:tgtEl>
                                          <p:spTgt spid="4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1+#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72">
                                            <p:txEl>
                                              <p:pRg st="1" end="1"/>
                                            </p:txEl>
                                          </p:spTgt>
                                        </p:tgtEl>
                                        <p:attrNameLst>
                                          <p:attrName>style.visibility</p:attrName>
                                        </p:attrNameLst>
                                      </p:cBhvr>
                                      <p:to>
                                        <p:strVal val="visible"/>
                                      </p:to>
                                    </p:set>
                                    <p:anim calcmode="lin" valueType="num">
                                      <p:cBhvr additive="base">
                                        <p:cTn id="15" dur="500" fill="hold"/>
                                        <p:tgtEl>
                                          <p:spTgt spid="72">
                                            <p:txEl>
                                              <p:pRg st="1" end="1"/>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2">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 calcmode="lin" valueType="num">
                                      <p:cBhvr additive="base">
                                        <p:cTn id="19" dur="500" fill="hold"/>
                                        <p:tgtEl>
                                          <p:spTgt spid="72">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2">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anim calcmode="lin" valueType="num">
                                      <p:cBhvr additive="base">
                                        <p:cTn id="23" dur="500" fill="hold"/>
                                        <p:tgtEl>
                                          <p:spTgt spid="94"/>
                                        </p:tgtEl>
                                        <p:attrNameLst>
                                          <p:attrName>ppt_x</p:attrName>
                                        </p:attrNameLst>
                                      </p:cBhvr>
                                      <p:tavLst>
                                        <p:tav tm="0">
                                          <p:val>
                                            <p:strVal val="1+#ppt_w/2"/>
                                          </p:val>
                                        </p:tav>
                                        <p:tav tm="100000">
                                          <p:val>
                                            <p:strVal val="#ppt_x"/>
                                          </p:val>
                                        </p:tav>
                                      </p:tavLst>
                                    </p:anim>
                                    <p:anim calcmode="lin" valueType="num">
                                      <p:cBhvr additive="base">
                                        <p:cTn id="24" dur="500" fill="hold"/>
                                        <p:tgtEl>
                                          <p:spTgt spid="94"/>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97"/>
                                        </p:tgtEl>
                                        <p:attrNameLst>
                                          <p:attrName>style.visibility</p:attrName>
                                        </p:attrNameLst>
                                      </p:cBhvr>
                                      <p:to>
                                        <p:strVal val="visible"/>
                                      </p:to>
                                    </p:set>
                                    <p:anim calcmode="lin" valueType="num">
                                      <p:cBhvr additive="base">
                                        <p:cTn id="27" dur="500" fill="hold"/>
                                        <p:tgtEl>
                                          <p:spTgt spid="97"/>
                                        </p:tgtEl>
                                        <p:attrNameLst>
                                          <p:attrName>ppt_x</p:attrName>
                                        </p:attrNameLst>
                                      </p:cBhvr>
                                      <p:tavLst>
                                        <p:tav tm="0">
                                          <p:val>
                                            <p:strVal val="1+#ppt_w/2"/>
                                          </p:val>
                                        </p:tav>
                                        <p:tav tm="100000">
                                          <p:val>
                                            <p:strVal val="#ppt_x"/>
                                          </p:val>
                                        </p:tav>
                                      </p:tavLst>
                                    </p:anim>
                                    <p:anim calcmode="lin" valueType="num">
                                      <p:cBhvr additive="base">
                                        <p:cTn id="28"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accel="50000" decel="50000" fill="hold" nodeType="click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additive="base">
                                        <p:cTn id="33" dur="500" fill="hold"/>
                                        <p:tgtEl>
                                          <p:spTgt spid="35"/>
                                        </p:tgtEl>
                                        <p:attrNameLst>
                                          <p:attrName>ppt_x</p:attrName>
                                        </p:attrNameLst>
                                      </p:cBhvr>
                                      <p:tavLst>
                                        <p:tav tm="0">
                                          <p:val>
                                            <p:strVal val="1+#ppt_w/2"/>
                                          </p:val>
                                        </p:tav>
                                        <p:tav tm="100000">
                                          <p:val>
                                            <p:strVal val="#ppt_x"/>
                                          </p:val>
                                        </p:tav>
                                      </p:tavLst>
                                    </p:anim>
                                    <p:anim calcmode="lin" valueType="num">
                                      <p:cBhvr additive="base">
                                        <p:cTn id="34" dur="500" fill="hold"/>
                                        <p:tgtEl>
                                          <p:spTgt spid="35"/>
                                        </p:tgtEl>
                                        <p:attrNameLst>
                                          <p:attrName>ppt_y</p:attrName>
                                        </p:attrNameLst>
                                      </p:cBhvr>
                                      <p:tavLst>
                                        <p:tav tm="0">
                                          <p:val>
                                            <p:strVal val="#ppt_y"/>
                                          </p:val>
                                        </p:tav>
                                        <p:tav tm="100000">
                                          <p:val>
                                            <p:strVal val="#ppt_y"/>
                                          </p:val>
                                        </p:tav>
                                      </p:tavLst>
                                    </p:anim>
                                  </p:childTnLst>
                                </p:cTn>
                              </p:par>
                              <p:par>
                                <p:cTn id="35" presetID="2" presetClass="entr" presetSubtype="2" accel="50000" decel="5000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500" fill="hold"/>
                                        <p:tgtEl>
                                          <p:spTgt spid="37"/>
                                        </p:tgtEl>
                                        <p:attrNameLst>
                                          <p:attrName>ppt_x</p:attrName>
                                        </p:attrNameLst>
                                      </p:cBhvr>
                                      <p:tavLst>
                                        <p:tav tm="0">
                                          <p:val>
                                            <p:strVal val="1+#ppt_w/2"/>
                                          </p:val>
                                        </p:tav>
                                        <p:tav tm="100000">
                                          <p:val>
                                            <p:strVal val="#ppt_x"/>
                                          </p:val>
                                        </p:tav>
                                      </p:tavLst>
                                    </p:anim>
                                    <p:anim calcmode="lin" valueType="num">
                                      <p:cBhvr additive="base">
                                        <p:cTn id="38" dur="500" fill="hold"/>
                                        <p:tgtEl>
                                          <p:spTgt spid="37"/>
                                        </p:tgtEl>
                                        <p:attrNameLst>
                                          <p:attrName>ppt_y</p:attrName>
                                        </p:attrNameLst>
                                      </p:cBhvr>
                                      <p:tavLst>
                                        <p:tav tm="0">
                                          <p:val>
                                            <p:strVal val="#ppt_y"/>
                                          </p:val>
                                        </p:tav>
                                        <p:tav tm="100000">
                                          <p:val>
                                            <p:strVal val="#ppt_y"/>
                                          </p:val>
                                        </p:tav>
                                      </p:tavLst>
                                    </p:anim>
                                  </p:childTnLst>
                                </p:cTn>
                              </p:par>
                              <p:par>
                                <p:cTn id="39" presetID="2" presetClass="entr" presetSubtype="2" accel="50000" decel="5000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additive="base">
                                        <p:cTn id="41" dur="500" fill="hold"/>
                                        <p:tgtEl>
                                          <p:spTgt spid="38"/>
                                        </p:tgtEl>
                                        <p:attrNameLst>
                                          <p:attrName>ppt_x</p:attrName>
                                        </p:attrNameLst>
                                      </p:cBhvr>
                                      <p:tavLst>
                                        <p:tav tm="0">
                                          <p:val>
                                            <p:strVal val="1+#ppt_w/2"/>
                                          </p:val>
                                        </p:tav>
                                        <p:tav tm="100000">
                                          <p:val>
                                            <p:strVal val="#ppt_x"/>
                                          </p:val>
                                        </p:tav>
                                      </p:tavLst>
                                    </p:anim>
                                    <p:anim calcmode="lin" valueType="num">
                                      <p:cBhvr additive="base">
                                        <p:cTn id="42" dur="500" fill="hold"/>
                                        <p:tgtEl>
                                          <p:spTgt spid="38"/>
                                        </p:tgtEl>
                                        <p:attrNameLst>
                                          <p:attrName>ppt_y</p:attrName>
                                        </p:attrNameLst>
                                      </p:cBhvr>
                                      <p:tavLst>
                                        <p:tav tm="0">
                                          <p:val>
                                            <p:strVal val="#ppt_y"/>
                                          </p:val>
                                        </p:tav>
                                        <p:tav tm="100000">
                                          <p:val>
                                            <p:strVal val="#ppt_y"/>
                                          </p:val>
                                        </p:tav>
                                      </p:tavLst>
                                    </p:anim>
                                  </p:childTnLst>
                                </p:cTn>
                              </p:par>
                              <p:par>
                                <p:cTn id="43" presetID="2" presetClass="entr" presetSubtype="2" accel="50000" decel="50000" fill="hold" grpId="0" nodeType="withEffect">
                                  <p:stCondLst>
                                    <p:cond delay="0"/>
                                  </p:stCondLst>
                                  <p:childTnLst>
                                    <p:set>
                                      <p:cBhvr>
                                        <p:cTn id="44" dur="1" fill="hold">
                                          <p:stCondLst>
                                            <p:cond delay="0"/>
                                          </p:stCondLst>
                                        </p:cTn>
                                        <p:tgtEl>
                                          <p:spTgt spid="56"/>
                                        </p:tgtEl>
                                        <p:attrNameLst>
                                          <p:attrName>style.visibility</p:attrName>
                                        </p:attrNameLst>
                                      </p:cBhvr>
                                      <p:to>
                                        <p:strVal val="visible"/>
                                      </p:to>
                                    </p:set>
                                    <p:anim calcmode="lin" valueType="num">
                                      <p:cBhvr additive="base">
                                        <p:cTn id="45" dur="500" fill="hold"/>
                                        <p:tgtEl>
                                          <p:spTgt spid="56"/>
                                        </p:tgtEl>
                                        <p:attrNameLst>
                                          <p:attrName>ppt_x</p:attrName>
                                        </p:attrNameLst>
                                      </p:cBhvr>
                                      <p:tavLst>
                                        <p:tav tm="0">
                                          <p:val>
                                            <p:strVal val="1+#ppt_w/2"/>
                                          </p:val>
                                        </p:tav>
                                        <p:tav tm="100000">
                                          <p:val>
                                            <p:strVal val="#ppt_x"/>
                                          </p:val>
                                        </p:tav>
                                      </p:tavLst>
                                    </p:anim>
                                    <p:anim calcmode="lin" valueType="num">
                                      <p:cBhvr additive="base">
                                        <p:cTn id="46" dur="500" fill="hold"/>
                                        <p:tgtEl>
                                          <p:spTgt spid="56"/>
                                        </p:tgtEl>
                                        <p:attrNameLst>
                                          <p:attrName>ppt_y</p:attrName>
                                        </p:attrNameLst>
                                      </p:cBhvr>
                                      <p:tavLst>
                                        <p:tav tm="0">
                                          <p:val>
                                            <p:strVal val="#ppt_y"/>
                                          </p:val>
                                        </p:tav>
                                        <p:tav tm="100000">
                                          <p:val>
                                            <p:strVal val="#ppt_y"/>
                                          </p:val>
                                        </p:tav>
                                      </p:tavLst>
                                    </p:anim>
                                  </p:childTnLst>
                                </p:cTn>
                              </p:par>
                              <p:par>
                                <p:cTn id="47" presetID="2" presetClass="entr" presetSubtype="2" accel="50000" decel="5000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 calcmode="lin" valueType="num">
                                      <p:cBhvr additive="base">
                                        <p:cTn id="49" dur="500" fill="hold"/>
                                        <p:tgtEl>
                                          <p:spTgt spid="57"/>
                                        </p:tgtEl>
                                        <p:attrNameLst>
                                          <p:attrName>ppt_x</p:attrName>
                                        </p:attrNameLst>
                                      </p:cBhvr>
                                      <p:tavLst>
                                        <p:tav tm="0">
                                          <p:val>
                                            <p:strVal val="1+#ppt_w/2"/>
                                          </p:val>
                                        </p:tav>
                                        <p:tav tm="100000">
                                          <p:val>
                                            <p:strVal val="#ppt_x"/>
                                          </p:val>
                                        </p:tav>
                                      </p:tavLst>
                                    </p:anim>
                                    <p:anim calcmode="lin" valueType="num">
                                      <p:cBhvr additive="base">
                                        <p:cTn id="50" dur="500" fill="hold"/>
                                        <p:tgtEl>
                                          <p:spTgt spid="57"/>
                                        </p:tgtEl>
                                        <p:attrNameLst>
                                          <p:attrName>ppt_y</p:attrName>
                                        </p:attrNameLst>
                                      </p:cBhvr>
                                      <p:tavLst>
                                        <p:tav tm="0">
                                          <p:val>
                                            <p:strVal val="#ppt_y"/>
                                          </p:val>
                                        </p:tav>
                                        <p:tav tm="100000">
                                          <p:val>
                                            <p:strVal val="#ppt_y"/>
                                          </p:val>
                                        </p:tav>
                                      </p:tavLst>
                                    </p:anim>
                                  </p:childTnLst>
                                </p:cTn>
                              </p:par>
                              <p:par>
                                <p:cTn id="51" presetID="2" presetClass="entr" presetSubtype="2" accel="50000" decel="5000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anim calcmode="lin" valueType="num">
                                      <p:cBhvr additive="base">
                                        <p:cTn id="53" dur="500" fill="hold"/>
                                        <p:tgtEl>
                                          <p:spTgt spid="58"/>
                                        </p:tgtEl>
                                        <p:attrNameLst>
                                          <p:attrName>ppt_x</p:attrName>
                                        </p:attrNameLst>
                                      </p:cBhvr>
                                      <p:tavLst>
                                        <p:tav tm="0">
                                          <p:val>
                                            <p:strVal val="1+#ppt_w/2"/>
                                          </p:val>
                                        </p:tav>
                                        <p:tav tm="100000">
                                          <p:val>
                                            <p:strVal val="#ppt_x"/>
                                          </p:val>
                                        </p:tav>
                                      </p:tavLst>
                                    </p:anim>
                                    <p:anim calcmode="lin" valueType="num">
                                      <p:cBhvr additive="base">
                                        <p:cTn id="54" dur="500" fill="hold"/>
                                        <p:tgtEl>
                                          <p:spTgt spid="58"/>
                                        </p:tgtEl>
                                        <p:attrNameLst>
                                          <p:attrName>ppt_y</p:attrName>
                                        </p:attrNameLst>
                                      </p:cBhvr>
                                      <p:tavLst>
                                        <p:tav tm="0">
                                          <p:val>
                                            <p:strVal val="#ppt_y"/>
                                          </p:val>
                                        </p:tav>
                                        <p:tav tm="100000">
                                          <p:val>
                                            <p:strVal val="#ppt_y"/>
                                          </p:val>
                                        </p:tav>
                                      </p:tavLst>
                                    </p:anim>
                                  </p:childTnLst>
                                </p:cTn>
                              </p:par>
                              <p:par>
                                <p:cTn id="55" presetID="2" presetClass="entr" presetSubtype="2" accel="50000" decel="5000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anim calcmode="lin" valueType="num">
                                      <p:cBhvr additive="base">
                                        <p:cTn id="57" dur="500" fill="hold"/>
                                        <p:tgtEl>
                                          <p:spTgt spid="59"/>
                                        </p:tgtEl>
                                        <p:attrNameLst>
                                          <p:attrName>ppt_x</p:attrName>
                                        </p:attrNameLst>
                                      </p:cBhvr>
                                      <p:tavLst>
                                        <p:tav tm="0">
                                          <p:val>
                                            <p:strVal val="1+#ppt_w/2"/>
                                          </p:val>
                                        </p:tav>
                                        <p:tav tm="100000">
                                          <p:val>
                                            <p:strVal val="#ppt_x"/>
                                          </p:val>
                                        </p:tav>
                                      </p:tavLst>
                                    </p:anim>
                                    <p:anim calcmode="lin" valueType="num">
                                      <p:cBhvr additive="base">
                                        <p:cTn id="58" dur="500" fill="hold"/>
                                        <p:tgtEl>
                                          <p:spTgt spid="59"/>
                                        </p:tgtEl>
                                        <p:attrNameLst>
                                          <p:attrName>ppt_y</p:attrName>
                                        </p:attrNameLst>
                                      </p:cBhvr>
                                      <p:tavLst>
                                        <p:tav tm="0">
                                          <p:val>
                                            <p:strVal val="#ppt_y"/>
                                          </p:val>
                                        </p:tav>
                                        <p:tav tm="100000">
                                          <p:val>
                                            <p:strVal val="#ppt_y"/>
                                          </p:val>
                                        </p:tav>
                                      </p:tavLst>
                                    </p:anim>
                                  </p:childTnLst>
                                </p:cTn>
                              </p:par>
                              <p:par>
                                <p:cTn id="59" presetID="2" presetClass="entr" presetSubtype="2" accel="50000" decel="5000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anim calcmode="lin" valueType="num">
                                      <p:cBhvr additive="base">
                                        <p:cTn id="61" dur="500" fill="hold"/>
                                        <p:tgtEl>
                                          <p:spTgt spid="60"/>
                                        </p:tgtEl>
                                        <p:attrNameLst>
                                          <p:attrName>ppt_x</p:attrName>
                                        </p:attrNameLst>
                                      </p:cBhvr>
                                      <p:tavLst>
                                        <p:tav tm="0">
                                          <p:val>
                                            <p:strVal val="1+#ppt_w/2"/>
                                          </p:val>
                                        </p:tav>
                                        <p:tav tm="100000">
                                          <p:val>
                                            <p:strVal val="#ppt_x"/>
                                          </p:val>
                                        </p:tav>
                                      </p:tavLst>
                                    </p:anim>
                                    <p:anim calcmode="lin" valueType="num">
                                      <p:cBhvr additive="base">
                                        <p:cTn id="62" dur="500" fill="hold"/>
                                        <p:tgtEl>
                                          <p:spTgt spid="60"/>
                                        </p:tgtEl>
                                        <p:attrNameLst>
                                          <p:attrName>ppt_y</p:attrName>
                                        </p:attrNameLst>
                                      </p:cBhvr>
                                      <p:tavLst>
                                        <p:tav tm="0">
                                          <p:val>
                                            <p:strVal val="#ppt_y"/>
                                          </p:val>
                                        </p:tav>
                                        <p:tav tm="100000">
                                          <p:val>
                                            <p:strVal val="#ppt_y"/>
                                          </p:val>
                                        </p:tav>
                                      </p:tavLst>
                                    </p:anim>
                                  </p:childTnLst>
                                </p:cTn>
                              </p:par>
                              <p:par>
                                <p:cTn id="63" presetID="2" presetClass="entr" presetSubtype="2" accel="50000" decel="50000" fill="hold" grpId="0" nodeType="withEffect">
                                  <p:stCondLst>
                                    <p:cond delay="0"/>
                                  </p:stCondLst>
                                  <p:childTnLst>
                                    <p:set>
                                      <p:cBhvr>
                                        <p:cTn id="64" dur="1" fill="hold">
                                          <p:stCondLst>
                                            <p:cond delay="0"/>
                                          </p:stCondLst>
                                        </p:cTn>
                                        <p:tgtEl>
                                          <p:spTgt spid="61"/>
                                        </p:tgtEl>
                                        <p:attrNameLst>
                                          <p:attrName>style.visibility</p:attrName>
                                        </p:attrNameLst>
                                      </p:cBhvr>
                                      <p:to>
                                        <p:strVal val="visible"/>
                                      </p:to>
                                    </p:set>
                                    <p:anim calcmode="lin" valueType="num">
                                      <p:cBhvr additive="base">
                                        <p:cTn id="65" dur="500" fill="hold"/>
                                        <p:tgtEl>
                                          <p:spTgt spid="61"/>
                                        </p:tgtEl>
                                        <p:attrNameLst>
                                          <p:attrName>ppt_x</p:attrName>
                                        </p:attrNameLst>
                                      </p:cBhvr>
                                      <p:tavLst>
                                        <p:tav tm="0">
                                          <p:val>
                                            <p:strVal val="1+#ppt_w/2"/>
                                          </p:val>
                                        </p:tav>
                                        <p:tav tm="100000">
                                          <p:val>
                                            <p:strVal val="#ppt_x"/>
                                          </p:val>
                                        </p:tav>
                                      </p:tavLst>
                                    </p:anim>
                                    <p:anim calcmode="lin" valueType="num">
                                      <p:cBhvr additive="base">
                                        <p:cTn id="66" dur="500" fill="hold"/>
                                        <p:tgtEl>
                                          <p:spTgt spid="61"/>
                                        </p:tgtEl>
                                        <p:attrNameLst>
                                          <p:attrName>ppt_y</p:attrName>
                                        </p:attrNameLst>
                                      </p:cBhvr>
                                      <p:tavLst>
                                        <p:tav tm="0">
                                          <p:val>
                                            <p:strVal val="#ppt_y"/>
                                          </p:val>
                                        </p:tav>
                                        <p:tav tm="100000">
                                          <p:val>
                                            <p:strVal val="#ppt_y"/>
                                          </p:val>
                                        </p:tav>
                                      </p:tavLst>
                                    </p:anim>
                                  </p:childTnLst>
                                </p:cTn>
                              </p:par>
                              <p:par>
                                <p:cTn id="67" presetID="2" presetClass="entr" presetSubtype="2" accel="50000" decel="5000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anim calcmode="lin" valueType="num">
                                      <p:cBhvr additive="base">
                                        <p:cTn id="69" dur="500" fill="hold"/>
                                        <p:tgtEl>
                                          <p:spTgt spid="62"/>
                                        </p:tgtEl>
                                        <p:attrNameLst>
                                          <p:attrName>ppt_x</p:attrName>
                                        </p:attrNameLst>
                                      </p:cBhvr>
                                      <p:tavLst>
                                        <p:tav tm="0">
                                          <p:val>
                                            <p:strVal val="1+#ppt_w/2"/>
                                          </p:val>
                                        </p:tav>
                                        <p:tav tm="100000">
                                          <p:val>
                                            <p:strVal val="#ppt_x"/>
                                          </p:val>
                                        </p:tav>
                                      </p:tavLst>
                                    </p:anim>
                                    <p:anim calcmode="lin" valueType="num">
                                      <p:cBhvr additive="base">
                                        <p:cTn id="70" dur="500" fill="hold"/>
                                        <p:tgtEl>
                                          <p:spTgt spid="62"/>
                                        </p:tgtEl>
                                        <p:attrNameLst>
                                          <p:attrName>ppt_y</p:attrName>
                                        </p:attrNameLst>
                                      </p:cBhvr>
                                      <p:tavLst>
                                        <p:tav tm="0">
                                          <p:val>
                                            <p:strVal val="#ppt_y"/>
                                          </p:val>
                                        </p:tav>
                                        <p:tav tm="100000">
                                          <p:val>
                                            <p:strVal val="#ppt_y"/>
                                          </p:val>
                                        </p:tav>
                                      </p:tavLst>
                                    </p:anim>
                                  </p:childTnLst>
                                </p:cTn>
                              </p:par>
                              <p:par>
                                <p:cTn id="71" presetID="2" presetClass="entr" presetSubtype="2" accel="50000" decel="5000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anim calcmode="lin" valueType="num">
                                      <p:cBhvr additive="base">
                                        <p:cTn id="73" dur="500" fill="hold"/>
                                        <p:tgtEl>
                                          <p:spTgt spid="63"/>
                                        </p:tgtEl>
                                        <p:attrNameLst>
                                          <p:attrName>ppt_x</p:attrName>
                                        </p:attrNameLst>
                                      </p:cBhvr>
                                      <p:tavLst>
                                        <p:tav tm="0">
                                          <p:val>
                                            <p:strVal val="1+#ppt_w/2"/>
                                          </p:val>
                                        </p:tav>
                                        <p:tav tm="100000">
                                          <p:val>
                                            <p:strVal val="#ppt_x"/>
                                          </p:val>
                                        </p:tav>
                                      </p:tavLst>
                                    </p:anim>
                                    <p:anim calcmode="lin" valueType="num">
                                      <p:cBhvr additive="base">
                                        <p:cTn id="74" dur="500" fill="hold"/>
                                        <p:tgtEl>
                                          <p:spTgt spid="63"/>
                                        </p:tgtEl>
                                        <p:attrNameLst>
                                          <p:attrName>ppt_y</p:attrName>
                                        </p:attrNameLst>
                                      </p:cBhvr>
                                      <p:tavLst>
                                        <p:tav tm="0">
                                          <p:val>
                                            <p:strVal val="#ppt_y"/>
                                          </p:val>
                                        </p:tav>
                                        <p:tav tm="100000">
                                          <p:val>
                                            <p:strVal val="#ppt_y"/>
                                          </p:val>
                                        </p:tav>
                                      </p:tavLst>
                                    </p:anim>
                                  </p:childTnLst>
                                </p:cTn>
                              </p:par>
                              <p:par>
                                <p:cTn id="75" presetID="2" presetClass="entr" presetSubtype="2" accel="50000" decel="50000" fill="hold" grpId="0" nodeType="withEffect">
                                  <p:stCondLst>
                                    <p:cond delay="0"/>
                                  </p:stCondLst>
                                  <p:childTnLst>
                                    <p:set>
                                      <p:cBhvr>
                                        <p:cTn id="76" dur="1" fill="hold">
                                          <p:stCondLst>
                                            <p:cond delay="0"/>
                                          </p:stCondLst>
                                        </p:cTn>
                                        <p:tgtEl>
                                          <p:spTgt spid="65"/>
                                        </p:tgtEl>
                                        <p:attrNameLst>
                                          <p:attrName>style.visibility</p:attrName>
                                        </p:attrNameLst>
                                      </p:cBhvr>
                                      <p:to>
                                        <p:strVal val="visible"/>
                                      </p:to>
                                    </p:set>
                                    <p:anim calcmode="lin" valueType="num">
                                      <p:cBhvr additive="base">
                                        <p:cTn id="77" dur="500" fill="hold"/>
                                        <p:tgtEl>
                                          <p:spTgt spid="65"/>
                                        </p:tgtEl>
                                        <p:attrNameLst>
                                          <p:attrName>ppt_x</p:attrName>
                                        </p:attrNameLst>
                                      </p:cBhvr>
                                      <p:tavLst>
                                        <p:tav tm="0">
                                          <p:val>
                                            <p:strVal val="1+#ppt_w/2"/>
                                          </p:val>
                                        </p:tav>
                                        <p:tav tm="100000">
                                          <p:val>
                                            <p:strVal val="#ppt_x"/>
                                          </p:val>
                                        </p:tav>
                                      </p:tavLst>
                                    </p:anim>
                                    <p:anim calcmode="lin" valueType="num">
                                      <p:cBhvr additive="base">
                                        <p:cTn id="78" dur="500" fill="hold"/>
                                        <p:tgtEl>
                                          <p:spTgt spid="65"/>
                                        </p:tgtEl>
                                        <p:attrNameLst>
                                          <p:attrName>ppt_y</p:attrName>
                                        </p:attrNameLst>
                                      </p:cBhvr>
                                      <p:tavLst>
                                        <p:tav tm="0">
                                          <p:val>
                                            <p:strVal val="#ppt_y"/>
                                          </p:val>
                                        </p:tav>
                                        <p:tav tm="100000">
                                          <p:val>
                                            <p:strVal val="#ppt_y"/>
                                          </p:val>
                                        </p:tav>
                                      </p:tavLst>
                                    </p:anim>
                                  </p:childTnLst>
                                </p:cTn>
                              </p:par>
                              <p:par>
                                <p:cTn id="79" presetID="2" presetClass="entr" presetSubtype="2" accel="50000" decel="50000" fill="hold" grpId="0" nodeType="withEffect">
                                  <p:stCondLst>
                                    <p:cond delay="0"/>
                                  </p:stCondLst>
                                  <p:childTnLst>
                                    <p:set>
                                      <p:cBhvr>
                                        <p:cTn id="80" dur="1" fill="hold">
                                          <p:stCondLst>
                                            <p:cond delay="0"/>
                                          </p:stCondLst>
                                        </p:cTn>
                                        <p:tgtEl>
                                          <p:spTgt spid="66"/>
                                        </p:tgtEl>
                                        <p:attrNameLst>
                                          <p:attrName>style.visibility</p:attrName>
                                        </p:attrNameLst>
                                      </p:cBhvr>
                                      <p:to>
                                        <p:strVal val="visible"/>
                                      </p:to>
                                    </p:set>
                                    <p:anim calcmode="lin" valueType="num">
                                      <p:cBhvr additive="base">
                                        <p:cTn id="81" dur="500" fill="hold"/>
                                        <p:tgtEl>
                                          <p:spTgt spid="66"/>
                                        </p:tgtEl>
                                        <p:attrNameLst>
                                          <p:attrName>ppt_x</p:attrName>
                                        </p:attrNameLst>
                                      </p:cBhvr>
                                      <p:tavLst>
                                        <p:tav tm="0">
                                          <p:val>
                                            <p:strVal val="1+#ppt_w/2"/>
                                          </p:val>
                                        </p:tav>
                                        <p:tav tm="100000">
                                          <p:val>
                                            <p:strVal val="#ppt_x"/>
                                          </p:val>
                                        </p:tav>
                                      </p:tavLst>
                                    </p:anim>
                                    <p:anim calcmode="lin" valueType="num">
                                      <p:cBhvr additive="base">
                                        <p:cTn id="82" dur="500" fill="hold"/>
                                        <p:tgtEl>
                                          <p:spTgt spid="66"/>
                                        </p:tgtEl>
                                        <p:attrNameLst>
                                          <p:attrName>ppt_y</p:attrName>
                                        </p:attrNameLst>
                                      </p:cBhvr>
                                      <p:tavLst>
                                        <p:tav tm="0">
                                          <p:val>
                                            <p:strVal val="#ppt_y"/>
                                          </p:val>
                                        </p:tav>
                                        <p:tav tm="100000">
                                          <p:val>
                                            <p:strVal val="#ppt_y"/>
                                          </p:val>
                                        </p:tav>
                                      </p:tavLst>
                                    </p:anim>
                                  </p:childTnLst>
                                </p:cTn>
                              </p:par>
                              <p:par>
                                <p:cTn id="83" presetID="2" presetClass="entr" presetSubtype="2" accel="50000" decel="50000" fill="hold" grpId="0" nodeType="withEffect">
                                  <p:stCondLst>
                                    <p:cond delay="0"/>
                                  </p:stCondLst>
                                  <p:childTnLst>
                                    <p:set>
                                      <p:cBhvr>
                                        <p:cTn id="84" dur="1" fill="hold">
                                          <p:stCondLst>
                                            <p:cond delay="0"/>
                                          </p:stCondLst>
                                        </p:cTn>
                                        <p:tgtEl>
                                          <p:spTgt spid="67"/>
                                        </p:tgtEl>
                                        <p:attrNameLst>
                                          <p:attrName>style.visibility</p:attrName>
                                        </p:attrNameLst>
                                      </p:cBhvr>
                                      <p:to>
                                        <p:strVal val="visible"/>
                                      </p:to>
                                    </p:set>
                                    <p:anim calcmode="lin" valueType="num">
                                      <p:cBhvr additive="base">
                                        <p:cTn id="85" dur="500" fill="hold"/>
                                        <p:tgtEl>
                                          <p:spTgt spid="67"/>
                                        </p:tgtEl>
                                        <p:attrNameLst>
                                          <p:attrName>ppt_x</p:attrName>
                                        </p:attrNameLst>
                                      </p:cBhvr>
                                      <p:tavLst>
                                        <p:tav tm="0">
                                          <p:val>
                                            <p:strVal val="1+#ppt_w/2"/>
                                          </p:val>
                                        </p:tav>
                                        <p:tav tm="100000">
                                          <p:val>
                                            <p:strVal val="#ppt_x"/>
                                          </p:val>
                                        </p:tav>
                                      </p:tavLst>
                                    </p:anim>
                                    <p:anim calcmode="lin" valueType="num">
                                      <p:cBhvr additive="base">
                                        <p:cTn id="86" dur="500" fill="hold"/>
                                        <p:tgtEl>
                                          <p:spTgt spid="67"/>
                                        </p:tgtEl>
                                        <p:attrNameLst>
                                          <p:attrName>ppt_y</p:attrName>
                                        </p:attrNameLst>
                                      </p:cBhvr>
                                      <p:tavLst>
                                        <p:tav tm="0">
                                          <p:val>
                                            <p:strVal val="#ppt_y"/>
                                          </p:val>
                                        </p:tav>
                                        <p:tav tm="100000">
                                          <p:val>
                                            <p:strVal val="#ppt_y"/>
                                          </p:val>
                                        </p:tav>
                                      </p:tavLst>
                                    </p:anim>
                                  </p:childTnLst>
                                </p:cTn>
                              </p:par>
                              <p:par>
                                <p:cTn id="87" presetID="2" presetClass="entr" presetSubtype="2" accel="50000" decel="50000" fill="hold" grpId="0" nodeType="withEffect">
                                  <p:stCondLst>
                                    <p:cond delay="0"/>
                                  </p:stCondLst>
                                  <p:childTnLst>
                                    <p:set>
                                      <p:cBhvr>
                                        <p:cTn id="88" dur="1" fill="hold">
                                          <p:stCondLst>
                                            <p:cond delay="0"/>
                                          </p:stCondLst>
                                        </p:cTn>
                                        <p:tgtEl>
                                          <p:spTgt spid="68"/>
                                        </p:tgtEl>
                                        <p:attrNameLst>
                                          <p:attrName>style.visibility</p:attrName>
                                        </p:attrNameLst>
                                      </p:cBhvr>
                                      <p:to>
                                        <p:strVal val="visible"/>
                                      </p:to>
                                    </p:set>
                                    <p:anim calcmode="lin" valueType="num">
                                      <p:cBhvr additive="base">
                                        <p:cTn id="89" dur="500" fill="hold"/>
                                        <p:tgtEl>
                                          <p:spTgt spid="68"/>
                                        </p:tgtEl>
                                        <p:attrNameLst>
                                          <p:attrName>ppt_x</p:attrName>
                                        </p:attrNameLst>
                                      </p:cBhvr>
                                      <p:tavLst>
                                        <p:tav tm="0">
                                          <p:val>
                                            <p:strVal val="1+#ppt_w/2"/>
                                          </p:val>
                                        </p:tav>
                                        <p:tav tm="100000">
                                          <p:val>
                                            <p:strVal val="#ppt_x"/>
                                          </p:val>
                                        </p:tav>
                                      </p:tavLst>
                                    </p:anim>
                                    <p:anim calcmode="lin" valueType="num">
                                      <p:cBhvr additive="base">
                                        <p:cTn id="90" dur="500" fill="hold"/>
                                        <p:tgtEl>
                                          <p:spTgt spid="68"/>
                                        </p:tgtEl>
                                        <p:attrNameLst>
                                          <p:attrName>ppt_y</p:attrName>
                                        </p:attrNameLst>
                                      </p:cBhvr>
                                      <p:tavLst>
                                        <p:tav tm="0">
                                          <p:val>
                                            <p:strVal val="#ppt_y"/>
                                          </p:val>
                                        </p:tav>
                                        <p:tav tm="100000">
                                          <p:val>
                                            <p:strVal val="#ppt_y"/>
                                          </p:val>
                                        </p:tav>
                                      </p:tavLst>
                                    </p:anim>
                                  </p:childTnLst>
                                </p:cTn>
                              </p:par>
                              <p:par>
                                <p:cTn id="91" presetID="2" presetClass="entr" presetSubtype="2" accel="50000" decel="50000" fill="hold" grpId="0" nodeType="withEffect">
                                  <p:stCondLst>
                                    <p:cond delay="0"/>
                                  </p:stCondLst>
                                  <p:childTnLst>
                                    <p:set>
                                      <p:cBhvr>
                                        <p:cTn id="92" dur="1" fill="hold">
                                          <p:stCondLst>
                                            <p:cond delay="0"/>
                                          </p:stCondLst>
                                        </p:cTn>
                                        <p:tgtEl>
                                          <p:spTgt spid="69"/>
                                        </p:tgtEl>
                                        <p:attrNameLst>
                                          <p:attrName>style.visibility</p:attrName>
                                        </p:attrNameLst>
                                      </p:cBhvr>
                                      <p:to>
                                        <p:strVal val="visible"/>
                                      </p:to>
                                    </p:set>
                                    <p:anim calcmode="lin" valueType="num">
                                      <p:cBhvr additive="base">
                                        <p:cTn id="93" dur="500" fill="hold"/>
                                        <p:tgtEl>
                                          <p:spTgt spid="69"/>
                                        </p:tgtEl>
                                        <p:attrNameLst>
                                          <p:attrName>ppt_x</p:attrName>
                                        </p:attrNameLst>
                                      </p:cBhvr>
                                      <p:tavLst>
                                        <p:tav tm="0">
                                          <p:val>
                                            <p:strVal val="1+#ppt_w/2"/>
                                          </p:val>
                                        </p:tav>
                                        <p:tav tm="100000">
                                          <p:val>
                                            <p:strVal val="#ppt_x"/>
                                          </p:val>
                                        </p:tav>
                                      </p:tavLst>
                                    </p:anim>
                                    <p:anim calcmode="lin" valueType="num">
                                      <p:cBhvr additive="base">
                                        <p:cTn id="94" dur="500" fill="hold"/>
                                        <p:tgtEl>
                                          <p:spTgt spid="69"/>
                                        </p:tgtEl>
                                        <p:attrNameLst>
                                          <p:attrName>ppt_y</p:attrName>
                                        </p:attrNameLst>
                                      </p:cBhvr>
                                      <p:tavLst>
                                        <p:tav tm="0">
                                          <p:val>
                                            <p:strVal val="#ppt_y"/>
                                          </p:val>
                                        </p:tav>
                                        <p:tav tm="100000">
                                          <p:val>
                                            <p:strVal val="#ppt_y"/>
                                          </p:val>
                                        </p:tav>
                                      </p:tavLst>
                                    </p:anim>
                                  </p:childTnLst>
                                </p:cTn>
                              </p:par>
                              <p:par>
                                <p:cTn id="95" presetID="2" presetClass="entr" presetSubtype="2" accel="50000" decel="50000" fill="hold" grpId="0" nodeType="withEffect">
                                  <p:stCondLst>
                                    <p:cond delay="0"/>
                                  </p:stCondLst>
                                  <p:childTnLst>
                                    <p:set>
                                      <p:cBhvr>
                                        <p:cTn id="96" dur="1" fill="hold">
                                          <p:stCondLst>
                                            <p:cond delay="0"/>
                                          </p:stCondLst>
                                        </p:cTn>
                                        <p:tgtEl>
                                          <p:spTgt spid="70"/>
                                        </p:tgtEl>
                                        <p:attrNameLst>
                                          <p:attrName>style.visibility</p:attrName>
                                        </p:attrNameLst>
                                      </p:cBhvr>
                                      <p:to>
                                        <p:strVal val="visible"/>
                                      </p:to>
                                    </p:set>
                                    <p:anim calcmode="lin" valueType="num">
                                      <p:cBhvr additive="base">
                                        <p:cTn id="97" dur="500" fill="hold"/>
                                        <p:tgtEl>
                                          <p:spTgt spid="70"/>
                                        </p:tgtEl>
                                        <p:attrNameLst>
                                          <p:attrName>ppt_x</p:attrName>
                                        </p:attrNameLst>
                                      </p:cBhvr>
                                      <p:tavLst>
                                        <p:tav tm="0">
                                          <p:val>
                                            <p:strVal val="1+#ppt_w/2"/>
                                          </p:val>
                                        </p:tav>
                                        <p:tav tm="100000">
                                          <p:val>
                                            <p:strVal val="#ppt_x"/>
                                          </p:val>
                                        </p:tav>
                                      </p:tavLst>
                                    </p:anim>
                                    <p:anim calcmode="lin" valueType="num">
                                      <p:cBhvr additive="base">
                                        <p:cTn id="98" dur="500" fill="hold"/>
                                        <p:tgtEl>
                                          <p:spTgt spid="70"/>
                                        </p:tgtEl>
                                        <p:attrNameLst>
                                          <p:attrName>ppt_y</p:attrName>
                                        </p:attrNameLst>
                                      </p:cBhvr>
                                      <p:tavLst>
                                        <p:tav tm="0">
                                          <p:val>
                                            <p:strVal val="#ppt_y"/>
                                          </p:val>
                                        </p:tav>
                                        <p:tav tm="100000">
                                          <p:val>
                                            <p:strVal val="#ppt_y"/>
                                          </p:val>
                                        </p:tav>
                                      </p:tavLst>
                                    </p:anim>
                                  </p:childTnLst>
                                </p:cTn>
                              </p:par>
                              <p:par>
                                <p:cTn id="99" presetID="2" presetClass="entr" presetSubtype="2" accel="50000" decel="50000" fill="hold" grpId="0" nodeType="withEffect">
                                  <p:stCondLst>
                                    <p:cond delay="0"/>
                                  </p:stCondLst>
                                  <p:childTnLst>
                                    <p:set>
                                      <p:cBhvr>
                                        <p:cTn id="100" dur="1" fill="hold">
                                          <p:stCondLst>
                                            <p:cond delay="0"/>
                                          </p:stCondLst>
                                        </p:cTn>
                                        <p:tgtEl>
                                          <p:spTgt spid="64"/>
                                        </p:tgtEl>
                                        <p:attrNameLst>
                                          <p:attrName>style.visibility</p:attrName>
                                        </p:attrNameLst>
                                      </p:cBhvr>
                                      <p:to>
                                        <p:strVal val="visible"/>
                                      </p:to>
                                    </p:set>
                                    <p:anim calcmode="lin" valueType="num">
                                      <p:cBhvr additive="base">
                                        <p:cTn id="101" dur="500" fill="hold"/>
                                        <p:tgtEl>
                                          <p:spTgt spid="64"/>
                                        </p:tgtEl>
                                        <p:attrNameLst>
                                          <p:attrName>ppt_x</p:attrName>
                                        </p:attrNameLst>
                                      </p:cBhvr>
                                      <p:tavLst>
                                        <p:tav tm="0">
                                          <p:val>
                                            <p:strVal val="1+#ppt_w/2"/>
                                          </p:val>
                                        </p:tav>
                                        <p:tav tm="100000">
                                          <p:val>
                                            <p:strVal val="#ppt_x"/>
                                          </p:val>
                                        </p:tav>
                                      </p:tavLst>
                                    </p:anim>
                                    <p:anim calcmode="lin" valueType="num">
                                      <p:cBhvr additive="base">
                                        <p:cTn id="102" dur="500" fill="hold"/>
                                        <p:tgtEl>
                                          <p:spTgt spid="64"/>
                                        </p:tgtEl>
                                        <p:attrNameLst>
                                          <p:attrName>ppt_y</p:attrName>
                                        </p:attrNameLst>
                                      </p:cBhvr>
                                      <p:tavLst>
                                        <p:tav tm="0">
                                          <p:val>
                                            <p:strVal val="#ppt_y"/>
                                          </p:val>
                                        </p:tav>
                                        <p:tav tm="100000">
                                          <p:val>
                                            <p:strVal val="#ppt_y"/>
                                          </p:val>
                                        </p:tav>
                                      </p:tavLst>
                                    </p:anim>
                                  </p:childTnLst>
                                </p:cTn>
                              </p:par>
                              <p:par>
                                <p:cTn id="103" presetID="2" presetClass="entr" presetSubtype="8" fill="hold" nodeType="withEffect">
                                  <p:stCondLst>
                                    <p:cond delay="0"/>
                                  </p:stCondLst>
                                  <p:childTnLst>
                                    <p:set>
                                      <p:cBhvr>
                                        <p:cTn id="104" dur="1" fill="hold">
                                          <p:stCondLst>
                                            <p:cond delay="0"/>
                                          </p:stCondLst>
                                        </p:cTn>
                                        <p:tgtEl>
                                          <p:spTgt spid="72">
                                            <p:txEl>
                                              <p:pRg st="2" end="2"/>
                                            </p:txEl>
                                          </p:spTgt>
                                        </p:tgtEl>
                                        <p:attrNameLst>
                                          <p:attrName>style.visibility</p:attrName>
                                        </p:attrNameLst>
                                      </p:cBhvr>
                                      <p:to>
                                        <p:strVal val="visible"/>
                                      </p:to>
                                    </p:set>
                                    <p:anim calcmode="lin" valueType="num">
                                      <p:cBhvr additive="base">
                                        <p:cTn id="105" dur="500" fill="hold"/>
                                        <p:tgtEl>
                                          <p:spTgt spid="72">
                                            <p:txEl>
                                              <p:pRg st="2" end="2"/>
                                            </p:txEl>
                                          </p:spTgt>
                                        </p:tgtEl>
                                        <p:attrNameLst>
                                          <p:attrName>ppt_x</p:attrName>
                                        </p:attrNameLst>
                                      </p:cBhvr>
                                      <p:tavLst>
                                        <p:tav tm="0">
                                          <p:val>
                                            <p:strVal val="0-#ppt_w/2"/>
                                          </p:val>
                                        </p:tav>
                                        <p:tav tm="100000">
                                          <p:val>
                                            <p:strVal val="#ppt_x"/>
                                          </p:val>
                                        </p:tav>
                                      </p:tavLst>
                                    </p:anim>
                                    <p:anim calcmode="lin" valueType="num">
                                      <p:cBhvr additive="base">
                                        <p:cTn id="106" dur="500" fill="hold"/>
                                        <p:tgtEl>
                                          <p:spTgt spid="7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path" presetSubtype="0" accel="50000" decel="50000" fill="hold" grpId="1" nodeType="clickEffect">
                                  <p:stCondLst>
                                    <p:cond delay="0"/>
                                  </p:stCondLst>
                                  <p:childTnLst>
                                    <p:animMotion origin="layout" path="M 2.5E-6 3.7037E-7 L 0.23659 0.2162 " pathEditMode="relative" rAng="0" ptsTypes="AA">
                                      <p:cBhvr>
                                        <p:cTn id="110" dur="2000" fill="hold"/>
                                        <p:tgtEl>
                                          <p:spTgt spid="38"/>
                                        </p:tgtEl>
                                        <p:attrNameLst>
                                          <p:attrName>ppt_x</p:attrName>
                                          <p:attrName>ppt_y</p:attrName>
                                        </p:attrNameLst>
                                      </p:cBhvr>
                                      <p:rCtr x="11823" y="10810"/>
                                    </p:animMotion>
                                  </p:childTnLst>
                                </p:cTn>
                              </p:par>
                              <p:par>
                                <p:cTn id="111" presetID="42" presetClass="path" presetSubtype="0" accel="50000" decel="50000" fill="hold" grpId="1" nodeType="withEffect">
                                  <p:stCondLst>
                                    <p:cond delay="0"/>
                                  </p:stCondLst>
                                  <p:childTnLst>
                                    <p:animMotion origin="layout" path="M 4.79167E-6 3.7037E-7 L 0.16549 0.09005 " pathEditMode="relative" rAng="0" ptsTypes="AA">
                                      <p:cBhvr>
                                        <p:cTn id="112" dur="2000" fill="hold"/>
                                        <p:tgtEl>
                                          <p:spTgt spid="56"/>
                                        </p:tgtEl>
                                        <p:attrNameLst>
                                          <p:attrName>ppt_x</p:attrName>
                                          <p:attrName>ppt_y</p:attrName>
                                        </p:attrNameLst>
                                      </p:cBhvr>
                                      <p:rCtr x="8268" y="4491"/>
                                    </p:animMotion>
                                  </p:childTnLst>
                                </p:cTn>
                              </p:par>
                              <p:par>
                                <p:cTn id="113" presetID="42" presetClass="path" presetSubtype="0" accel="50000" decel="50000" fill="hold" grpId="1" nodeType="withEffect">
                                  <p:stCondLst>
                                    <p:cond delay="0"/>
                                  </p:stCondLst>
                                  <p:childTnLst>
                                    <p:animMotion origin="layout" path="M -3.125E-6 3.7037E-7 L 0.21211 0.13171 " pathEditMode="relative" rAng="0" ptsTypes="AA">
                                      <p:cBhvr>
                                        <p:cTn id="114" dur="2000" fill="hold"/>
                                        <p:tgtEl>
                                          <p:spTgt spid="57"/>
                                        </p:tgtEl>
                                        <p:attrNameLst>
                                          <p:attrName>ppt_x</p:attrName>
                                          <p:attrName>ppt_y</p:attrName>
                                        </p:attrNameLst>
                                      </p:cBhvr>
                                      <p:rCtr x="10599" y="6574"/>
                                    </p:animMotion>
                                  </p:childTnLst>
                                </p:cTn>
                              </p:par>
                              <p:par>
                                <p:cTn id="115" presetID="42" presetClass="path" presetSubtype="0" accel="50000" decel="50000" fill="hold" grpId="1" nodeType="withEffect">
                                  <p:stCondLst>
                                    <p:cond delay="0"/>
                                  </p:stCondLst>
                                  <p:childTnLst>
                                    <p:animMotion origin="layout" path="M -8.33333E-7 3.7037E-7 L 0.21263 0.38588 " pathEditMode="relative" rAng="0" ptsTypes="AA">
                                      <p:cBhvr>
                                        <p:cTn id="116" dur="2000" fill="hold"/>
                                        <p:tgtEl>
                                          <p:spTgt spid="58"/>
                                        </p:tgtEl>
                                        <p:attrNameLst>
                                          <p:attrName>ppt_x</p:attrName>
                                          <p:attrName>ppt_y</p:attrName>
                                        </p:attrNameLst>
                                      </p:cBhvr>
                                      <p:rCtr x="10625" y="19282"/>
                                    </p:animMotion>
                                  </p:childTnLst>
                                </p:cTn>
                              </p:par>
                              <p:par>
                                <p:cTn id="117" presetID="42" presetClass="path" presetSubtype="0" accel="50000" decel="50000" fill="hold" grpId="1" nodeType="withEffect">
                                  <p:stCondLst>
                                    <p:cond delay="0"/>
                                  </p:stCondLst>
                                  <p:childTnLst>
                                    <p:animMotion origin="layout" path="M 1.25E-6 3.7037E-7 L 0.00013 0.34329 " pathEditMode="relative" rAng="0" ptsTypes="AA">
                                      <p:cBhvr>
                                        <p:cTn id="118" dur="2000" fill="hold"/>
                                        <p:tgtEl>
                                          <p:spTgt spid="59"/>
                                        </p:tgtEl>
                                        <p:attrNameLst>
                                          <p:attrName>ppt_x</p:attrName>
                                          <p:attrName>ppt_y</p:attrName>
                                        </p:attrNameLst>
                                      </p:cBhvr>
                                      <p:rCtr x="0" y="17153"/>
                                    </p:animMotion>
                                  </p:childTnLst>
                                </p:cTn>
                              </p:par>
                              <p:par>
                                <p:cTn id="119" presetID="42" presetClass="path" presetSubtype="0" accel="50000" decel="50000" fill="hold" grpId="1" nodeType="withEffect">
                                  <p:stCondLst>
                                    <p:cond delay="0"/>
                                  </p:stCondLst>
                                  <p:childTnLst>
                                    <p:animMotion origin="layout" path="M 3.54167E-6 3.7037E-7 L 0.02343 0.13171 " pathEditMode="relative" rAng="0" ptsTypes="AA">
                                      <p:cBhvr>
                                        <p:cTn id="120" dur="2000" fill="hold"/>
                                        <p:tgtEl>
                                          <p:spTgt spid="60"/>
                                        </p:tgtEl>
                                        <p:attrNameLst>
                                          <p:attrName>ppt_x</p:attrName>
                                          <p:attrName>ppt_y</p:attrName>
                                        </p:attrNameLst>
                                      </p:cBhvr>
                                      <p:rCtr x="1172" y="6574"/>
                                    </p:animMotion>
                                  </p:childTnLst>
                                </p:cTn>
                              </p:par>
                              <p:par>
                                <p:cTn id="121" presetID="42" presetClass="path" presetSubtype="0" accel="50000" decel="50000" fill="hold" grpId="1" nodeType="withEffect">
                                  <p:stCondLst>
                                    <p:cond delay="0"/>
                                  </p:stCondLst>
                                  <p:childTnLst>
                                    <p:animMotion origin="layout" path="M -4.375E-6 3.7037E-7 L 0.04727 0.2588 " pathEditMode="relative" rAng="0" ptsTypes="AA">
                                      <p:cBhvr>
                                        <p:cTn id="122" dur="2000" fill="hold"/>
                                        <p:tgtEl>
                                          <p:spTgt spid="61"/>
                                        </p:tgtEl>
                                        <p:attrNameLst>
                                          <p:attrName>ppt_x</p:attrName>
                                          <p:attrName>ppt_y</p:attrName>
                                        </p:attrNameLst>
                                      </p:cBhvr>
                                      <p:rCtr x="2357" y="12940"/>
                                    </p:animMotion>
                                  </p:childTnLst>
                                </p:cTn>
                              </p:par>
                              <p:par>
                                <p:cTn id="123" presetID="42" presetClass="path" presetSubtype="0" accel="50000" decel="50000" fill="hold" grpId="1" nodeType="withEffect">
                                  <p:stCondLst>
                                    <p:cond delay="0"/>
                                  </p:stCondLst>
                                  <p:childTnLst>
                                    <p:animMotion origin="layout" path="M -1.875E-6 3.7037E-7 L 0.04727 0.42662 " pathEditMode="relative" rAng="0" ptsTypes="AA">
                                      <p:cBhvr>
                                        <p:cTn id="124" dur="2000" fill="hold"/>
                                        <p:tgtEl>
                                          <p:spTgt spid="62"/>
                                        </p:tgtEl>
                                        <p:attrNameLst>
                                          <p:attrName>ppt_x</p:attrName>
                                          <p:attrName>ppt_y</p:attrName>
                                        </p:attrNameLst>
                                      </p:cBhvr>
                                      <p:rCtr x="2357" y="21319"/>
                                    </p:animMotion>
                                  </p:childTnLst>
                                </p:cTn>
                              </p:par>
                              <p:par>
                                <p:cTn id="125" presetID="42" presetClass="path" presetSubtype="0" accel="50000" decel="50000" fill="hold" grpId="1" nodeType="withEffect">
                                  <p:stCondLst>
                                    <p:cond delay="0"/>
                                  </p:stCondLst>
                                  <p:childTnLst>
                                    <p:animMotion origin="layout" path="M 2.29167E-6 3.7037E-7 L -0.11797 0.13171 " pathEditMode="relative" rAng="0" ptsTypes="AA">
                                      <p:cBhvr>
                                        <p:cTn id="126" dur="2000" fill="hold"/>
                                        <p:tgtEl>
                                          <p:spTgt spid="64"/>
                                        </p:tgtEl>
                                        <p:attrNameLst>
                                          <p:attrName>ppt_x</p:attrName>
                                          <p:attrName>ppt_y</p:attrName>
                                        </p:attrNameLst>
                                      </p:cBhvr>
                                      <p:rCtr x="-5898" y="6574"/>
                                    </p:animMotion>
                                  </p:childTnLst>
                                </p:cTn>
                              </p:par>
                              <p:par>
                                <p:cTn id="127" presetID="42" presetClass="path" presetSubtype="0" accel="50000" decel="50000" fill="hold" grpId="1" nodeType="withEffect">
                                  <p:stCondLst>
                                    <p:cond delay="0"/>
                                  </p:stCondLst>
                                  <p:childTnLst>
                                    <p:animMotion origin="layout" path="M 4.58333E-6 3.7037E-7 L -0.1181 0.0912 " pathEditMode="relative" rAng="0" ptsTypes="AA">
                                      <p:cBhvr>
                                        <p:cTn id="128" dur="2000" fill="hold"/>
                                        <p:tgtEl>
                                          <p:spTgt spid="63"/>
                                        </p:tgtEl>
                                        <p:attrNameLst>
                                          <p:attrName>ppt_x</p:attrName>
                                          <p:attrName>ppt_y</p:attrName>
                                        </p:attrNameLst>
                                      </p:cBhvr>
                                      <p:rCtr x="-5911" y="4560"/>
                                    </p:animMotion>
                                  </p:childTnLst>
                                </p:cTn>
                              </p:par>
                              <p:par>
                                <p:cTn id="129" presetID="42" presetClass="path" presetSubtype="0" accel="50000" decel="50000" fill="hold" grpId="1" nodeType="withEffect">
                                  <p:stCondLst>
                                    <p:cond delay="0"/>
                                  </p:stCondLst>
                                  <p:childTnLst>
                                    <p:animMotion origin="layout" path="M -3.33333E-6 3.7037E-7 L -0.14179 0.2588 " pathEditMode="relative" rAng="0" ptsTypes="AA">
                                      <p:cBhvr>
                                        <p:cTn id="130" dur="2000" fill="hold"/>
                                        <p:tgtEl>
                                          <p:spTgt spid="65"/>
                                        </p:tgtEl>
                                        <p:attrNameLst>
                                          <p:attrName>ppt_x</p:attrName>
                                          <p:attrName>ppt_y</p:attrName>
                                        </p:attrNameLst>
                                      </p:cBhvr>
                                      <p:rCtr x="-7096" y="12940"/>
                                    </p:animMotion>
                                  </p:childTnLst>
                                </p:cTn>
                              </p:par>
                              <p:par>
                                <p:cTn id="131" presetID="42" presetClass="path" presetSubtype="0" accel="50000" decel="50000" fill="hold" grpId="1" nodeType="withEffect">
                                  <p:stCondLst>
                                    <p:cond delay="0"/>
                                  </p:stCondLst>
                                  <p:childTnLst>
                                    <p:animMotion origin="layout" path="M -1.04167E-6 3.7037E-7 L -1.04167E-6 0.17454 " pathEditMode="relative" rAng="0" ptsTypes="AA">
                                      <p:cBhvr>
                                        <p:cTn id="132" dur="2000" fill="hold"/>
                                        <p:tgtEl>
                                          <p:spTgt spid="66"/>
                                        </p:tgtEl>
                                        <p:attrNameLst>
                                          <p:attrName>ppt_x</p:attrName>
                                          <p:attrName>ppt_y</p:attrName>
                                        </p:attrNameLst>
                                      </p:cBhvr>
                                      <p:rCtr x="0" y="8727"/>
                                    </p:animMotion>
                                  </p:childTnLst>
                                </p:cTn>
                              </p:par>
                              <p:par>
                                <p:cTn id="133" presetID="42" presetClass="path" presetSubtype="0" accel="50000" decel="50000" fill="hold" grpId="1" nodeType="withEffect">
                                  <p:stCondLst>
                                    <p:cond delay="0"/>
                                  </p:stCondLst>
                                  <p:childTnLst>
                                    <p:animMotion origin="layout" path="M 1.04167E-6 3.7037E-7 L -0.07122 0.30046 " pathEditMode="relative" rAng="0" ptsTypes="AA">
                                      <p:cBhvr>
                                        <p:cTn id="134" dur="2000" fill="hold"/>
                                        <p:tgtEl>
                                          <p:spTgt spid="67"/>
                                        </p:tgtEl>
                                        <p:attrNameLst>
                                          <p:attrName>ppt_x</p:attrName>
                                          <p:attrName>ppt_y</p:attrName>
                                        </p:attrNameLst>
                                      </p:cBhvr>
                                      <p:rCtr x="-3568" y="15023"/>
                                    </p:animMotion>
                                  </p:childTnLst>
                                </p:cTn>
                              </p:par>
                              <p:par>
                                <p:cTn id="135" presetID="42" presetClass="path" presetSubtype="0" accel="50000" decel="50000" fill="hold" grpId="1" nodeType="withEffect">
                                  <p:stCondLst>
                                    <p:cond delay="0"/>
                                  </p:stCondLst>
                                  <p:childTnLst>
                                    <p:animMotion origin="layout" path="M 3.33333E-6 3.7037E-7 L -0.14167 0.34329 " pathEditMode="relative" rAng="0" ptsTypes="AA">
                                      <p:cBhvr>
                                        <p:cTn id="136" dur="2000" fill="hold"/>
                                        <p:tgtEl>
                                          <p:spTgt spid="68"/>
                                        </p:tgtEl>
                                        <p:attrNameLst>
                                          <p:attrName>ppt_x</p:attrName>
                                          <p:attrName>ppt_y</p:attrName>
                                        </p:attrNameLst>
                                      </p:cBhvr>
                                      <p:rCtr x="-7083" y="17153"/>
                                    </p:animMotion>
                                  </p:childTnLst>
                                </p:cTn>
                              </p:par>
                              <p:par>
                                <p:cTn id="137" presetID="42" presetClass="path" presetSubtype="0" accel="50000" decel="50000" fill="hold" grpId="1" nodeType="withEffect">
                                  <p:stCondLst>
                                    <p:cond delay="0"/>
                                  </p:stCondLst>
                                  <p:childTnLst>
                                    <p:animMotion origin="layout" path="M -4.58333E-6 3.7037E-7 L -0.21223 0.21736 " pathEditMode="relative" rAng="0" ptsTypes="AA">
                                      <p:cBhvr>
                                        <p:cTn id="138" dur="2000" fill="hold"/>
                                        <p:tgtEl>
                                          <p:spTgt spid="69"/>
                                        </p:tgtEl>
                                        <p:attrNameLst>
                                          <p:attrName>ppt_x</p:attrName>
                                          <p:attrName>ppt_y</p:attrName>
                                        </p:attrNameLst>
                                      </p:cBhvr>
                                      <p:rCtr x="-10612" y="10856"/>
                                    </p:animMotion>
                                  </p:childTnLst>
                                </p:cTn>
                              </p:par>
                              <p:par>
                                <p:cTn id="139" presetID="42" presetClass="path" presetSubtype="0" accel="50000" decel="50000" fill="hold" grpId="1" nodeType="withEffect">
                                  <p:stCondLst>
                                    <p:cond delay="0"/>
                                  </p:stCondLst>
                                  <p:childTnLst>
                                    <p:animMotion origin="layout" path="M -2.5E-6 3.7037E-7 L -0.16562 0.2162 " pathEditMode="relative" rAng="0" ptsTypes="AA">
                                      <p:cBhvr>
                                        <p:cTn id="140" dur="2000" fill="hold"/>
                                        <p:tgtEl>
                                          <p:spTgt spid="70"/>
                                        </p:tgtEl>
                                        <p:attrNameLst>
                                          <p:attrName>ppt_x</p:attrName>
                                          <p:attrName>ppt_y</p:attrName>
                                        </p:attrNameLst>
                                      </p:cBhvr>
                                      <p:rCtr x="-8281" y="10810"/>
                                    </p:animMotion>
                                  </p:childTnLst>
                                </p:cTn>
                              </p:par>
                              <p:par>
                                <p:cTn id="141" presetID="1" presetClass="entr" presetSubtype="0" fill="hold" nodeType="withEffect">
                                  <p:stCondLst>
                                    <p:cond delay="0"/>
                                  </p:stCondLst>
                                  <p:childTnLst>
                                    <p:set>
                                      <p:cBhvr>
                                        <p:cTn id="142" dur="1" fill="hold">
                                          <p:stCondLst>
                                            <p:cond delay="0"/>
                                          </p:stCondLst>
                                        </p:cTn>
                                        <p:tgtEl>
                                          <p:spTgt spid="72">
                                            <p:txEl>
                                              <p:pRg st="3" end="3"/>
                                            </p:txEl>
                                          </p:spTgt>
                                        </p:tgtEl>
                                        <p:attrNameLst>
                                          <p:attrName>style.visibility</p:attrName>
                                        </p:attrNameLst>
                                      </p:cBhvr>
                                      <p:to>
                                        <p:strVal val="visible"/>
                                      </p:to>
                                    </p:set>
                                  </p:childTnLst>
                                </p:cTn>
                              </p:par>
                            </p:childTnLst>
                          </p:cTn>
                        </p:par>
                        <p:par>
                          <p:cTn id="143" fill="hold">
                            <p:stCondLst>
                              <p:cond delay="2000"/>
                            </p:stCondLst>
                            <p:childTnLst>
                              <p:par>
                                <p:cTn id="144" presetID="1" presetClass="entr" presetSubtype="0" fill="hold" nodeType="afterEffect">
                                  <p:stCondLst>
                                    <p:cond delay="0"/>
                                  </p:stCondLst>
                                  <p:childTnLst>
                                    <p:set>
                                      <p:cBhvr>
                                        <p:cTn id="145" dur="1" fill="hold">
                                          <p:stCondLst>
                                            <p:cond delay="0"/>
                                          </p:stCondLst>
                                        </p:cTn>
                                        <p:tgtEl>
                                          <p:spTgt spid="72">
                                            <p:txEl>
                                              <p:pRg st="4" end="4"/>
                                            </p:txEl>
                                          </p:spTgt>
                                        </p:tgtEl>
                                        <p:attrNameLst>
                                          <p:attrName>style.visibility</p:attrName>
                                        </p:attrNameLst>
                                      </p:cBhvr>
                                      <p:to>
                                        <p:strVal val="visible"/>
                                      </p:to>
                                    </p:set>
                                  </p:childTnLst>
                                </p:cTn>
                              </p:par>
                            </p:childTnLst>
                          </p:cTn>
                        </p:par>
                        <p:par>
                          <p:cTn id="146" fill="hold">
                            <p:stCondLst>
                              <p:cond delay="2000"/>
                            </p:stCondLst>
                            <p:childTnLst>
                              <p:par>
                                <p:cTn id="147" presetID="1" presetClass="entr" presetSubtype="0" fill="hold" nodeType="afterEffect">
                                  <p:stCondLst>
                                    <p:cond delay="0"/>
                                  </p:stCondLst>
                                  <p:childTnLst>
                                    <p:set>
                                      <p:cBhvr>
                                        <p:cTn id="148" dur="1" fill="hold">
                                          <p:stCondLst>
                                            <p:cond delay="0"/>
                                          </p:stCondLst>
                                        </p:cTn>
                                        <p:tgtEl>
                                          <p:spTgt spid="88"/>
                                        </p:tgtEl>
                                        <p:attrNameLst>
                                          <p:attrName>style.visibility</p:attrName>
                                        </p:attrNameLst>
                                      </p:cBhvr>
                                      <p:to>
                                        <p:strVal val="visible"/>
                                      </p:to>
                                    </p:set>
                                  </p:childTnLst>
                                </p:cTn>
                              </p:par>
                            </p:childTnLst>
                          </p:cTn>
                        </p:par>
                        <p:par>
                          <p:cTn id="149" fill="hold">
                            <p:stCondLst>
                              <p:cond delay="2000"/>
                            </p:stCondLst>
                            <p:childTnLst>
                              <p:par>
                                <p:cTn id="150" presetID="1" presetClass="entr" presetSubtype="0" fill="hold" nodeType="afterEffect">
                                  <p:stCondLst>
                                    <p:cond delay="0"/>
                                  </p:stCondLst>
                                  <p:childTnLst>
                                    <p:set>
                                      <p:cBhvr>
                                        <p:cTn id="151" dur="1" fill="hold">
                                          <p:stCondLst>
                                            <p:cond delay="0"/>
                                          </p:stCondLst>
                                        </p:cTn>
                                        <p:tgtEl>
                                          <p:spTgt spid="81"/>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9" presetClass="entr" presetSubtype="0" fill="hold" grpId="0" nodeType="clickEffect">
                                  <p:stCondLst>
                                    <p:cond delay="0"/>
                                  </p:stCondLst>
                                  <p:childTnLst>
                                    <p:set>
                                      <p:cBhvr>
                                        <p:cTn id="155" dur="1" fill="hold">
                                          <p:stCondLst>
                                            <p:cond delay="0"/>
                                          </p:stCondLst>
                                        </p:cTn>
                                        <p:tgtEl>
                                          <p:spTgt spid="3"/>
                                        </p:tgtEl>
                                        <p:attrNameLst>
                                          <p:attrName>style.visibility</p:attrName>
                                        </p:attrNameLst>
                                      </p:cBhvr>
                                      <p:to>
                                        <p:strVal val="visible"/>
                                      </p:to>
                                    </p:set>
                                    <p:animEffect transition="in" filter="dissolve">
                                      <p:cBhvr>
                                        <p:cTn id="156" dur="500"/>
                                        <p:tgtEl>
                                          <p:spTgt spid="3"/>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103"/>
                                        </p:tgtEl>
                                        <p:attrNameLst>
                                          <p:attrName>style.visibility</p:attrName>
                                        </p:attrNameLst>
                                      </p:cBhvr>
                                      <p:to>
                                        <p:strVal val="visible"/>
                                      </p:to>
                                    </p:set>
                                    <p:animEffect transition="in" filter="dissolve">
                                      <p:cBhvr>
                                        <p:cTn id="159" dur="500"/>
                                        <p:tgtEl>
                                          <p:spTgt spid="103"/>
                                        </p:tgtEl>
                                      </p:cBhvr>
                                    </p:animEffect>
                                  </p:childTnLst>
                                </p:cTn>
                              </p:par>
                              <p:par>
                                <p:cTn id="160" presetID="2" presetClass="entr" presetSubtype="2" fill="hold" grpId="0" nodeType="withEffect">
                                  <p:stCondLst>
                                    <p:cond delay="0"/>
                                  </p:stCondLst>
                                  <p:childTnLst>
                                    <p:set>
                                      <p:cBhvr>
                                        <p:cTn id="161" dur="1" fill="hold">
                                          <p:stCondLst>
                                            <p:cond delay="0"/>
                                          </p:stCondLst>
                                        </p:cTn>
                                        <p:tgtEl>
                                          <p:spTgt spid="105"/>
                                        </p:tgtEl>
                                        <p:attrNameLst>
                                          <p:attrName>style.visibility</p:attrName>
                                        </p:attrNameLst>
                                      </p:cBhvr>
                                      <p:to>
                                        <p:strVal val="visible"/>
                                      </p:to>
                                    </p:set>
                                    <p:anim calcmode="lin" valueType="num">
                                      <p:cBhvr additive="base">
                                        <p:cTn id="162" dur="500" fill="hold"/>
                                        <p:tgtEl>
                                          <p:spTgt spid="105"/>
                                        </p:tgtEl>
                                        <p:attrNameLst>
                                          <p:attrName>ppt_x</p:attrName>
                                        </p:attrNameLst>
                                      </p:cBhvr>
                                      <p:tavLst>
                                        <p:tav tm="0">
                                          <p:val>
                                            <p:strVal val="1+#ppt_w/2"/>
                                          </p:val>
                                        </p:tav>
                                        <p:tav tm="100000">
                                          <p:val>
                                            <p:strVal val="#ppt_x"/>
                                          </p:val>
                                        </p:tav>
                                      </p:tavLst>
                                    </p:anim>
                                    <p:anim calcmode="lin" valueType="num">
                                      <p:cBhvr additive="base">
                                        <p:cTn id="163" dur="500" fill="hold"/>
                                        <p:tgtEl>
                                          <p:spTgt spid="105"/>
                                        </p:tgtEl>
                                        <p:attrNameLst>
                                          <p:attrName>ppt_y</p:attrName>
                                        </p:attrNameLst>
                                      </p:cBhvr>
                                      <p:tavLst>
                                        <p:tav tm="0">
                                          <p:val>
                                            <p:strVal val="#ppt_y"/>
                                          </p:val>
                                        </p:tav>
                                        <p:tav tm="100000">
                                          <p:val>
                                            <p:strVal val="#ppt_y"/>
                                          </p:val>
                                        </p:tav>
                                      </p:tavLst>
                                    </p:anim>
                                  </p:childTnLst>
                                </p:cTn>
                              </p:par>
                              <p:par>
                                <p:cTn id="164" presetID="2" presetClass="entr" presetSubtype="2" fill="hold" grpId="0" nodeType="withEffect">
                                  <p:stCondLst>
                                    <p:cond delay="0"/>
                                  </p:stCondLst>
                                  <p:childTnLst>
                                    <p:set>
                                      <p:cBhvr>
                                        <p:cTn id="165" dur="1" fill="hold">
                                          <p:stCondLst>
                                            <p:cond delay="0"/>
                                          </p:stCondLst>
                                        </p:cTn>
                                        <p:tgtEl>
                                          <p:spTgt spid="101"/>
                                        </p:tgtEl>
                                        <p:attrNameLst>
                                          <p:attrName>style.visibility</p:attrName>
                                        </p:attrNameLst>
                                      </p:cBhvr>
                                      <p:to>
                                        <p:strVal val="visible"/>
                                      </p:to>
                                    </p:set>
                                    <p:anim calcmode="lin" valueType="num">
                                      <p:cBhvr additive="base">
                                        <p:cTn id="166" dur="500" fill="hold"/>
                                        <p:tgtEl>
                                          <p:spTgt spid="101"/>
                                        </p:tgtEl>
                                        <p:attrNameLst>
                                          <p:attrName>ppt_x</p:attrName>
                                        </p:attrNameLst>
                                      </p:cBhvr>
                                      <p:tavLst>
                                        <p:tav tm="0">
                                          <p:val>
                                            <p:strVal val="1+#ppt_w/2"/>
                                          </p:val>
                                        </p:tav>
                                        <p:tav tm="100000">
                                          <p:val>
                                            <p:strVal val="#ppt_x"/>
                                          </p:val>
                                        </p:tav>
                                      </p:tavLst>
                                    </p:anim>
                                    <p:anim calcmode="lin" valueType="num">
                                      <p:cBhvr additive="base">
                                        <p:cTn id="167" dur="500" fill="hold"/>
                                        <p:tgtEl>
                                          <p:spTgt spid="101"/>
                                        </p:tgtEl>
                                        <p:attrNameLst>
                                          <p:attrName>ppt_y</p:attrName>
                                        </p:attrNameLst>
                                      </p:cBhvr>
                                      <p:tavLst>
                                        <p:tav tm="0">
                                          <p:val>
                                            <p:strVal val="#ppt_y"/>
                                          </p:val>
                                        </p:tav>
                                        <p:tav tm="100000">
                                          <p:val>
                                            <p:strVal val="#ppt_y"/>
                                          </p:val>
                                        </p:tav>
                                      </p:tavLst>
                                    </p:anim>
                                  </p:childTnLst>
                                </p:cTn>
                              </p:par>
                              <p:par>
                                <p:cTn id="168" presetID="2" presetClass="entr" presetSubtype="8" fill="hold" nodeType="withEffect">
                                  <p:stCondLst>
                                    <p:cond delay="0"/>
                                  </p:stCondLst>
                                  <p:childTnLst>
                                    <p:set>
                                      <p:cBhvr>
                                        <p:cTn id="169" dur="1" fill="hold">
                                          <p:stCondLst>
                                            <p:cond delay="0"/>
                                          </p:stCondLst>
                                        </p:cTn>
                                        <p:tgtEl>
                                          <p:spTgt spid="72">
                                            <p:txEl>
                                              <p:pRg st="5" end="5"/>
                                            </p:txEl>
                                          </p:spTgt>
                                        </p:tgtEl>
                                        <p:attrNameLst>
                                          <p:attrName>style.visibility</p:attrName>
                                        </p:attrNameLst>
                                      </p:cBhvr>
                                      <p:to>
                                        <p:strVal val="visible"/>
                                      </p:to>
                                    </p:set>
                                    <p:anim calcmode="lin" valueType="num">
                                      <p:cBhvr additive="base">
                                        <p:cTn id="170" dur="500" fill="hold"/>
                                        <p:tgtEl>
                                          <p:spTgt spid="72">
                                            <p:txEl>
                                              <p:pRg st="5" end="5"/>
                                            </p:txEl>
                                          </p:spTgt>
                                        </p:tgtEl>
                                        <p:attrNameLst>
                                          <p:attrName>ppt_x</p:attrName>
                                        </p:attrNameLst>
                                      </p:cBhvr>
                                      <p:tavLst>
                                        <p:tav tm="0">
                                          <p:val>
                                            <p:strVal val="0-#ppt_w/2"/>
                                          </p:val>
                                        </p:tav>
                                        <p:tav tm="100000">
                                          <p:val>
                                            <p:strVal val="#ppt_x"/>
                                          </p:val>
                                        </p:tav>
                                      </p:tavLst>
                                    </p:anim>
                                    <p:anim calcmode="lin" valueType="num">
                                      <p:cBhvr additive="base">
                                        <p:cTn id="171" dur="500" fill="hold"/>
                                        <p:tgtEl>
                                          <p:spTgt spid="72">
                                            <p:txEl>
                                              <p:pRg st="5" end="5"/>
                                            </p:txEl>
                                          </p:spTgt>
                                        </p:tgtEl>
                                        <p:attrNameLst>
                                          <p:attrName>ppt_y</p:attrName>
                                        </p:attrNameLst>
                                      </p:cBhvr>
                                      <p:tavLst>
                                        <p:tav tm="0">
                                          <p:val>
                                            <p:strVal val="#ppt_y"/>
                                          </p:val>
                                        </p:tav>
                                        <p:tav tm="100000">
                                          <p:val>
                                            <p:strVal val="#ppt_y"/>
                                          </p:val>
                                        </p:tav>
                                      </p:tavLst>
                                    </p:anim>
                                  </p:childTnLst>
                                </p:cTn>
                              </p:par>
                              <p:par>
                                <p:cTn id="172" presetID="1" presetClass="exit" presetSubtype="0" fill="hold" nodeType="withEffect">
                                  <p:stCondLst>
                                    <p:cond delay="0"/>
                                  </p:stCondLst>
                                  <p:childTnLst>
                                    <p:set>
                                      <p:cBhvr>
                                        <p:cTn id="173" dur="1" fill="hold">
                                          <p:stCondLst>
                                            <p:cond delay="0"/>
                                          </p:stCondLst>
                                        </p:cTn>
                                        <p:tgtEl>
                                          <p:spTgt spid="88"/>
                                        </p:tgtEl>
                                        <p:attrNameLst>
                                          <p:attrName>style.visibility</p:attrName>
                                        </p:attrNameLst>
                                      </p:cBhvr>
                                      <p:to>
                                        <p:strVal val="hidden"/>
                                      </p:to>
                                    </p:set>
                                  </p:childTnLst>
                                </p:cTn>
                              </p:par>
                              <p:par>
                                <p:cTn id="174" presetID="1" presetClass="exit" presetSubtype="0" fill="hold" nodeType="withEffect">
                                  <p:stCondLst>
                                    <p:cond delay="0"/>
                                  </p:stCondLst>
                                  <p:childTnLst>
                                    <p:set>
                                      <p:cBhvr>
                                        <p:cTn id="175" dur="1" fill="hold">
                                          <p:stCondLst>
                                            <p:cond delay="0"/>
                                          </p:stCondLst>
                                        </p:cTn>
                                        <p:tgtEl>
                                          <p:spTgt spid="81"/>
                                        </p:tgtEl>
                                        <p:attrNameLst>
                                          <p:attrName>style.visibility</p:attrName>
                                        </p:attrNameLst>
                                      </p:cBhvr>
                                      <p:to>
                                        <p:strVal val="hidden"/>
                                      </p:to>
                                    </p:set>
                                  </p:childTnLst>
                                </p:cTn>
                              </p:par>
                            </p:childTnLst>
                          </p:cTn>
                        </p:par>
                        <p:par>
                          <p:cTn id="176" fill="hold">
                            <p:stCondLst>
                              <p:cond delay="500"/>
                            </p:stCondLst>
                            <p:childTnLst>
                              <p:par>
                                <p:cTn id="177" presetID="1" presetClass="entr" presetSubtype="0" fill="hold" nodeType="afterEffect">
                                  <p:stCondLst>
                                    <p:cond delay="0"/>
                                  </p:stCondLst>
                                  <p:childTnLst>
                                    <p:set>
                                      <p:cBhvr>
                                        <p:cTn id="178" dur="1" fill="hold">
                                          <p:stCondLst>
                                            <p:cond delay="0"/>
                                          </p:stCondLst>
                                        </p:cTn>
                                        <p:tgtEl>
                                          <p:spTgt spid="81"/>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9"/>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23"/>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nodeType="clickEffect">
                                  <p:stCondLst>
                                    <p:cond delay="0"/>
                                  </p:stCondLst>
                                  <p:childTnLst>
                                    <p:set>
                                      <p:cBhvr>
                                        <p:cTn id="186" dur="1" fill="hold">
                                          <p:stCondLst>
                                            <p:cond delay="0"/>
                                          </p:stCondLst>
                                        </p:cTn>
                                        <p:tgtEl>
                                          <p:spTgt spid="72">
                                            <p:txEl>
                                              <p:pRg st="6" end="6"/>
                                            </p:txEl>
                                          </p:spTgt>
                                        </p:tgtEl>
                                        <p:attrNameLst>
                                          <p:attrName>style.visibility</p:attrName>
                                        </p:attrNameLst>
                                      </p:cBhvr>
                                      <p:to>
                                        <p:strVal val="visible"/>
                                      </p:to>
                                    </p:set>
                                    <p:anim calcmode="lin" valueType="num">
                                      <p:cBhvr additive="base">
                                        <p:cTn id="187" dur="500" fill="hold"/>
                                        <p:tgtEl>
                                          <p:spTgt spid="72">
                                            <p:txEl>
                                              <p:pRg st="6" end="6"/>
                                            </p:txEl>
                                          </p:spTgt>
                                        </p:tgtEl>
                                        <p:attrNameLst>
                                          <p:attrName>ppt_x</p:attrName>
                                        </p:attrNameLst>
                                      </p:cBhvr>
                                      <p:tavLst>
                                        <p:tav tm="0">
                                          <p:val>
                                            <p:strVal val="0-#ppt_w/2"/>
                                          </p:val>
                                        </p:tav>
                                        <p:tav tm="100000">
                                          <p:val>
                                            <p:strVal val="#ppt_x"/>
                                          </p:val>
                                        </p:tav>
                                      </p:tavLst>
                                    </p:anim>
                                    <p:anim calcmode="lin" valueType="num">
                                      <p:cBhvr additive="base">
                                        <p:cTn id="188" dur="500" fill="hold"/>
                                        <p:tgtEl>
                                          <p:spTgt spid="72">
                                            <p:txEl>
                                              <p:pRg st="6" end="6"/>
                                            </p:txEl>
                                          </p:spTgt>
                                        </p:tgtEl>
                                        <p:attrNameLst>
                                          <p:attrName>ppt_y</p:attrName>
                                        </p:attrNameLst>
                                      </p:cBhvr>
                                      <p:tavLst>
                                        <p:tav tm="0">
                                          <p:val>
                                            <p:strVal val="#ppt_y"/>
                                          </p:val>
                                        </p:tav>
                                        <p:tav tm="100000">
                                          <p:val>
                                            <p:strVal val="#ppt_y"/>
                                          </p:val>
                                        </p:tav>
                                      </p:tavLst>
                                    </p:anim>
                                  </p:childTnLst>
                                </p:cTn>
                              </p:par>
                              <p:par>
                                <p:cTn id="189" presetID="2" presetClass="exit" presetSubtype="4" fill="hold" grpId="2" nodeType="withEffect">
                                  <p:stCondLst>
                                    <p:cond delay="0"/>
                                  </p:stCondLst>
                                  <p:childTnLst>
                                    <p:anim calcmode="lin" valueType="num">
                                      <p:cBhvr additive="base">
                                        <p:cTn id="190" dur="500"/>
                                        <p:tgtEl>
                                          <p:spTgt spid="38"/>
                                        </p:tgtEl>
                                        <p:attrNameLst>
                                          <p:attrName>ppt_x</p:attrName>
                                        </p:attrNameLst>
                                      </p:cBhvr>
                                      <p:tavLst>
                                        <p:tav tm="0">
                                          <p:val>
                                            <p:strVal val="ppt_x"/>
                                          </p:val>
                                        </p:tav>
                                        <p:tav tm="100000">
                                          <p:val>
                                            <p:strVal val="ppt_x"/>
                                          </p:val>
                                        </p:tav>
                                      </p:tavLst>
                                    </p:anim>
                                    <p:anim calcmode="lin" valueType="num">
                                      <p:cBhvr additive="base">
                                        <p:cTn id="191" dur="500"/>
                                        <p:tgtEl>
                                          <p:spTgt spid="38"/>
                                        </p:tgtEl>
                                        <p:attrNameLst>
                                          <p:attrName>ppt_y</p:attrName>
                                        </p:attrNameLst>
                                      </p:cBhvr>
                                      <p:tavLst>
                                        <p:tav tm="0">
                                          <p:val>
                                            <p:strVal val="ppt_y"/>
                                          </p:val>
                                        </p:tav>
                                        <p:tav tm="100000">
                                          <p:val>
                                            <p:strVal val="1+ppt_h/2"/>
                                          </p:val>
                                        </p:tav>
                                      </p:tavLst>
                                    </p:anim>
                                    <p:set>
                                      <p:cBhvr>
                                        <p:cTn id="192" dur="1" fill="hold">
                                          <p:stCondLst>
                                            <p:cond delay="499"/>
                                          </p:stCondLst>
                                        </p:cTn>
                                        <p:tgtEl>
                                          <p:spTgt spid="38"/>
                                        </p:tgtEl>
                                        <p:attrNameLst>
                                          <p:attrName>style.visibility</p:attrName>
                                        </p:attrNameLst>
                                      </p:cBhvr>
                                      <p:to>
                                        <p:strVal val="hidden"/>
                                      </p:to>
                                    </p:set>
                                  </p:childTnLst>
                                </p:cTn>
                              </p:par>
                              <p:par>
                                <p:cTn id="193" presetID="2" presetClass="exit" presetSubtype="4" fill="hold" grpId="2" nodeType="withEffect">
                                  <p:stCondLst>
                                    <p:cond delay="0"/>
                                  </p:stCondLst>
                                  <p:childTnLst>
                                    <p:anim calcmode="lin" valueType="num">
                                      <p:cBhvr additive="base">
                                        <p:cTn id="194" dur="500"/>
                                        <p:tgtEl>
                                          <p:spTgt spid="56"/>
                                        </p:tgtEl>
                                        <p:attrNameLst>
                                          <p:attrName>ppt_x</p:attrName>
                                        </p:attrNameLst>
                                      </p:cBhvr>
                                      <p:tavLst>
                                        <p:tav tm="0">
                                          <p:val>
                                            <p:strVal val="ppt_x"/>
                                          </p:val>
                                        </p:tav>
                                        <p:tav tm="100000">
                                          <p:val>
                                            <p:strVal val="ppt_x"/>
                                          </p:val>
                                        </p:tav>
                                      </p:tavLst>
                                    </p:anim>
                                    <p:anim calcmode="lin" valueType="num">
                                      <p:cBhvr additive="base">
                                        <p:cTn id="195" dur="500"/>
                                        <p:tgtEl>
                                          <p:spTgt spid="56"/>
                                        </p:tgtEl>
                                        <p:attrNameLst>
                                          <p:attrName>ppt_y</p:attrName>
                                        </p:attrNameLst>
                                      </p:cBhvr>
                                      <p:tavLst>
                                        <p:tav tm="0">
                                          <p:val>
                                            <p:strVal val="ppt_y"/>
                                          </p:val>
                                        </p:tav>
                                        <p:tav tm="100000">
                                          <p:val>
                                            <p:strVal val="1+ppt_h/2"/>
                                          </p:val>
                                        </p:tav>
                                      </p:tavLst>
                                    </p:anim>
                                    <p:set>
                                      <p:cBhvr>
                                        <p:cTn id="196" dur="1" fill="hold">
                                          <p:stCondLst>
                                            <p:cond delay="499"/>
                                          </p:stCondLst>
                                        </p:cTn>
                                        <p:tgtEl>
                                          <p:spTgt spid="56"/>
                                        </p:tgtEl>
                                        <p:attrNameLst>
                                          <p:attrName>style.visibility</p:attrName>
                                        </p:attrNameLst>
                                      </p:cBhvr>
                                      <p:to>
                                        <p:strVal val="hidden"/>
                                      </p:to>
                                    </p:set>
                                  </p:childTnLst>
                                </p:cTn>
                              </p:par>
                              <p:par>
                                <p:cTn id="197" presetID="2" presetClass="exit" presetSubtype="4" fill="hold" grpId="2" nodeType="withEffect">
                                  <p:stCondLst>
                                    <p:cond delay="0"/>
                                  </p:stCondLst>
                                  <p:childTnLst>
                                    <p:anim calcmode="lin" valueType="num">
                                      <p:cBhvr additive="base">
                                        <p:cTn id="198" dur="500"/>
                                        <p:tgtEl>
                                          <p:spTgt spid="57"/>
                                        </p:tgtEl>
                                        <p:attrNameLst>
                                          <p:attrName>ppt_x</p:attrName>
                                        </p:attrNameLst>
                                      </p:cBhvr>
                                      <p:tavLst>
                                        <p:tav tm="0">
                                          <p:val>
                                            <p:strVal val="ppt_x"/>
                                          </p:val>
                                        </p:tav>
                                        <p:tav tm="100000">
                                          <p:val>
                                            <p:strVal val="ppt_x"/>
                                          </p:val>
                                        </p:tav>
                                      </p:tavLst>
                                    </p:anim>
                                    <p:anim calcmode="lin" valueType="num">
                                      <p:cBhvr additive="base">
                                        <p:cTn id="199" dur="500"/>
                                        <p:tgtEl>
                                          <p:spTgt spid="57"/>
                                        </p:tgtEl>
                                        <p:attrNameLst>
                                          <p:attrName>ppt_y</p:attrName>
                                        </p:attrNameLst>
                                      </p:cBhvr>
                                      <p:tavLst>
                                        <p:tav tm="0">
                                          <p:val>
                                            <p:strVal val="ppt_y"/>
                                          </p:val>
                                        </p:tav>
                                        <p:tav tm="100000">
                                          <p:val>
                                            <p:strVal val="1+ppt_h/2"/>
                                          </p:val>
                                        </p:tav>
                                      </p:tavLst>
                                    </p:anim>
                                    <p:set>
                                      <p:cBhvr>
                                        <p:cTn id="200" dur="1" fill="hold">
                                          <p:stCondLst>
                                            <p:cond delay="499"/>
                                          </p:stCondLst>
                                        </p:cTn>
                                        <p:tgtEl>
                                          <p:spTgt spid="57"/>
                                        </p:tgtEl>
                                        <p:attrNameLst>
                                          <p:attrName>style.visibility</p:attrName>
                                        </p:attrNameLst>
                                      </p:cBhvr>
                                      <p:to>
                                        <p:strVal val="hidden"/>
                                      </p:to>
                                    </p:set>
                                  </p:childTnLst>
                                </p:cTn>
                              </p:par>
                              <p:par>
                                <p:cTn id="201" presetID="2" presetClass="exit" presetSubtype="4" fill="hold" grpId="2" nodeType="withEffect">
                                  <p:stCondLst>
                                    <p:cond delay="0"/>
                                  </p:stCondLst>
                                  <p:childTnLst>
                                    <p:anim calcmode="lin" valueType="num">
                                      <p:cBhvr additive="base">
                                        <p:cTn id="202" dur="500"/>
                                        <p:tgtEl>
                                          <p:spTgt spid="58"/>
                                        </p:tgtEl>
                                        <p:attrNameLst>
                                          <p:attrName>ppt_x</p:attrName>
                                        </p:attrNameLst>
                                      </p:cBhvr>
                                      <p:tavLst>
                                        <p:tav tm="0">
                                          <p:val>
                                            <p:strVal val="ppt_x"/>
                                          </p:val>
                                        </p:tav>
                                        <p:tav tm="100000">
                                          <p:val>
                                            <p:strVal val="ppt_x"/>
                                          </p:val>
                                        </p:tav>
                                      </p:tavLst>
                                    </p:anim>
                                    <p:anim calcmode="lin" valueType="num">
                                      <p:cBhvr additive="base">
                                        <p:cTn id="203" dur="500"/>
                                        <p:tgtEl>
                                          <p:spTgt spid="58"/>
                                        </p:tgtEl>
                                        <p:attrNameLst>
                                          <p:attrName>ppt_y</p:attrName>
                                        </p:attrNameLst>
                                      </p:cBhvr>
                                      <p:tavLst>
                                        <p:tav tm="0">
                                          <p:val>
                                            <p:strVal val="ppt_y"/>
                                          </p:val>
                                        </p:tav>
                                        <p:tav tm="100000">
                                          <p:val>
                                            <p:strVal val="1+ppt_h/2"/>
                                          </p:val>
                                        </p:tav>
                                      </p:tavLst>
                                    </p:anim>
                                    <p:set>
                                      <p:cBhvr>
                                        <p:cTn id="204" dur="1" fill="hold">
                                          <p:stCondLst>
                                            <p:cond delay="499"/>
                                          </p:stCondLst>
                                        </p:cTn>
                                        <p:tgtEl>
                                          <p:spTgt spid="58"/>
                                        </p:tgtEl>
                                        <p:attrNameLst>
                                          <p:attrName>style.visibility</p:attrName>
                                        </p:attrNameLst>
                                      </p:cBhvr>
                                      <p:to>
                                        <p:strVal val="hidden"/>
                                      </p:to>
                                    </p:set>
                                  </p:childTnLst>
                                </p:cTn>
                              </p:par>
                              <p:par>
                                <p:cTn id="205" presetID="2" presetClass="exit" presetSubtype="4" fill="hold" grpId="2" nodeType="withEffect">
                                  <p:stCondLst>
                                    <p:cond delay="0"/>
                                  </p:stCondLst>
                                  <p:childTnLst>
                                    <p:anim calcmode="lin" valueType="num">
                                      <p:cBhvr additive="base">
                                        <p:cTn id="206" dur="500"/>
                                        <p:tgtEl>
                                          <p:spTgt spid="59"/>
                                        </p:tgtEl>
                                        <p:attrNameLst>
                                          <p:attrName>ppt_x</p:attrName>
                                        </p:attrNameLst>
                                      </p:cBhvr>
                                      <p:tavLst>
                                        <p:tav tm="0">
                                          <p:val>
                                            <p:strVal val="ppt_x"/>
                                          </p:val>
                                        </p:tav>
                                        <p:tav tm="100000">
                                          <p:val>
                                            <p:strVal val="ppt_x"/>
                                          </p:val>
                                        </p:tav>
                                      </p:tavLst>
                                    </p:anim>
                                    <p:anim calcmode="lin" valueType="num">
                                      <p:cBhvr additive="base">
                                        <p:cTn id="207" dur="500"/>
                                        <p:tgtEl>
                                          <p:spTgt spid="59"/>
                                        </p:tgtEl>
                                        <p:attrNameLst>
                                          <p:attrName>ppt_y</p:attrName>
                                        </p:attrNameLst>
                                      </p:cBhvr>
                                      <p:tavLst>
                                        <p:tav tm="0">
                                          <p:val>
                                            <p:strVal val="ppt_y"/>
                                          </p:val>
                                        </p:tav>
                                        <p:tav tm="100000">
                                          <p:val>
                                            <p:strVal val="1+ppt_h/2"/>
                                          </p:val>
                                        </p:tav>
                                      </p:tavLst>
                                    </p:anim>
                                    <p:set>
                                      <p:cBhvr>
                                        <p:cTn id="208" dur="1" fill="hold">
                                          <p:stCondLst>
                                            <p:cond delay="499"/>
                                          </p:stCondLst>
                                        </p:cTn>
                                        <p:tgtEl>
                                          <p:spTgt spid="59"/>
                                        </p:tgtEl>
                                        <p:attrNameLst>
                                          <p:attrName>style.visibility</p:attrName>
                                        </p:attrNameLst>
                                      </p:cBhvr>
                                      <p:to>
                                        <p:strVal val="hidden"/>
                                      </p:to>
                                    </p:set>
                                  </p:childTnLst>
                                </p:cTn>
                              </p:par>
                              <p:par>
                                <p:cTn id="209" presetID="2" presetClass="exit" presetSubtype="4" fill="hold" grpId="2" nodeType="withEffect">
                                  <p:stCondLst>
                                    <p:cond delay="0"/>
                                  </p:stCondLst>
                                  <p:childTnLst>
                                    <p:anim calcmode="lin" valueType="num">
                                      <p:cBhvr additive="base">
                                        <p:cTn id="210" dur="500"/>
                                        <p:tgtEl>
                                          <p:spTgt spid="60"/>
                                        </p:tgtEl>
                                        <p:attrNameLst>
                                          <p:attrName>ppt_x</p:attrName>
                                        </p:attrNameLst>
                                      </p:cBhvr>
                                      <p:tavLst>
                                        <p:tav tm="0">
                                          <p:val>
                                            <p:strVal val="ppt_x"/>
                                          </p:val>
                                        </p:tav>
                                        <p:tav tm="100000">
                                          <p:val>
                                            <p:strVal val="ppt_x"/>
                                          </p:val>
                                        </p:tav>
                                      </p:tavLst>
                                    </p:anim>
                                    <p:anim calcmode="lin" valueType="num">
                                      <p:cBhvr additive="base">
                                        <p:cTn id="211" dur="500"/>
                                        <p:tgtEl>
                                          <p:spTgt spid="60"/>
                                        </p:tgtEl>
                                        <p:attrNameLst>
                                          <p:attrName>ppt_y</p:attrName>
                                        </p:attrNameLst>
                                      </p:cBhvr>
                                      <p:tavLst>
                                        <p:tav tm="0">
                                          <p:val>
                                            <p:strVal val="ppt_y"/>
                                          </p:val>
                                        </p:tav>
                                        <p:tav tm="100000">
                                          <p:val>
                                            <p:strVal val="1+ppt_h/2"/>
                                          </p:val>
                                        </p:tav>
                                      </p:tavLst>
                                    </p:anim>
                                    <p:set>
                                      <p:cBhvr>
                                        <p:cTn id="212" dur="1" fill="hold">
                                          <p:stCondLst>
                                            <p:cond delay="499"/>
                                          </p:stCondLst>
                                        </p:cTn>
                                        <p:tgtEl>
                                          <p:spTgt spid="60"/>
                                        </p:tgtEl>
                                        <p:attrNameLst>
                                          <p:attrName>style.visibility</p:attrName>
                                        </p:attrNameLst>
                                      </p:cBhvr>
                                      <p:to>
                                        <p:strVal val="hidden"/>
                                      </p:to>
                                    </p:set>
                                  </p:childTnLst>
                                </p:cTn>
                              </p:par>
                              <p:par>
                                <p:cTn id="213" presetID="2" presetClass="exit" presetSubtype="4" fill="hold" grpId="2" nodeType="withEffect">
                                  <p:stCondLst>
                                    <p:cond delay="0"/>
                                  </p:stCondLst>
                                  <p:childTnLst>
                                    <p:anim calcmode="lin" valueType="num">
                                      <p:cBhvr additive="base">
                                        <p:cTn id="214" dur="500"/>
                                        <p:tgtEl>
                                          <p:spTgt spid="61"/>
                                        </p:tgtEl>
                                        <p:attrNameLst>
                                          <p:attrName>ppt_x</p:attrName>
                                        </p:attrNameLst>
                                      </p:cBhvr>
                                      <p:tavLst>
                                        <p:tav tm="0">
                                          <p:val>
                                            <p:strVal val="ppt_x"/>
                                          </p:val>
                                        </p:tav>
                                        <p:tav tm="100000">
                                          <p:val>
                                            <p:strVal val="ppt_x"/>
                                          </p:val>
                                        </p:tav>
                                      </p:tavLst>
                                    </p:anim>
                                    <p:anim calcmode="lin" valueType="num">
                                      <p:cBhvr additive="base">
                                        <p:cTn id="215" dur="500"/>
                                        <p:tgtEl>
                                          <p:spTgt spid="61"/>
                                        </p:tgtEl>
                                        <p:attrNameLst>
                                          <p:attrName>ppt_y</p:attrName>
                                        </p:attrNameLst>
                                      </p:cBhvr>
                                      <p:tavLst>
                                        <p:tav tm="0">
                                          <p:val>
                                            <p:strVal val="ppt_y"/>
                                          </p:val>
                                        </p:tav>
                                        <p:tav tm="100000">
                                          <p:val>
                                            <p:strVal val="1+ppt_h/2"/>
                                          </p:val>
                                        </p:tav>
                                      </p:tavLst>
                                    </p:anim>
                                    <p:set>
                                      <p:cBhvr>
                                        <p:cTn id="216" dur="1" fill="hold">
                                          <p:stCondLst>
                                            <p:cond delay="499"/>
                                          </p:stCondLst>
                                        </p:cTn>
                                        <p:tgtEl>
                                          <p:spTgt spid="61"/>
                                        </p:tgtEl>
                                        <p:attrNameLst>
                                          <p:attrName>style.visibility</p:attrName>
                                        </p:attrNameLst>
                                      </p:cBhvr>
                                      <p:to>
                                        <p:strVal val="hidden"/>
                                      </p:to>
                                    </p:set>
                                  </p:childTnLst>
                                </p:cTn>
                              </p:par>
                              <p:par>
                                <p:cTn id="217" presetID="2" presetClass="exit" presetSubtype="4" fill="hold" grpId="2" nodeType="withEffect">
                                  <p:stCondLst>
                                    <p:cond delay="0"/>
                                  </p:stCondLst>
                                  <p:childTnLst>
                                    <p:anim calcmode="lin" valueType="num">
                                      <p:cBhvr additive="base">
                                        <p:cTn id="218" dur="500"/>
                                        <p:tgtEl>
                                          <p:spTgt spid="62"/>
                                        </p:tgtEl>
                                        <p:attrNameLst>
                                          <p:attrName>ppt_x</p:attrName>
                                        </p:attrNameLst>
                                      </p:cBhvr>
                                      <p:tavLst>
                                        <p:tav tm="0">
                                          <p:val>
                                            <p:strVal val="ppt_x"/>
                                          </p:val>
                                        </p:tav>
                                        <p:tav tm="100000">
                                          <p:val>
                                            <p:strVal val="ppt_x"/>
                                          </p:val>
                                        </p:tav>
                                      </p:tavLst>
                                    </p:anim>
                                    <p:anim calcmode="lin" valueType="num">
                                      <p:cBhvr additive="base">
                                        <p:cTn id="219" dur="500"/>
                                        <p:tgtEl>
                                          <p:spTgt spid="62"/>
                                        </p:tgtEl>
                                        <p:attrNameLst>
                                          <p:attrName>ppt_y</p:attrName>
                                        </p:attrNameLst>
                                      </p:cBhvr>
                                      <p:tavLst>
                                        <p:tav tm="0">
                                          <p:val>
                                            <p:strVal val="ppt_y"/>
                                          </p:val>
                                        </p:tav>
                                        <p:tav tm="100000">
                                          <p:val>
                                            <p:strVal val="1+ppt_h/2"/>
                                          </p:val>
                                        </p:tav>
                                      </p:tavLst>
                                    </p:anim>
                                    <p:set>
                                      <p:cBhvr>
                                        <p:cTn id="220" dur="1" fill="hold">
                                          <p:stCondLst>
                                            <p:cond delay="499"/>
                                          </p:stCondLst>
                                        </p:cTn>
                                        <p:tgtEl>
                                          <p:spTgt spid="62"/>
                                        </p:tgtEl>
                                        <p:attrNameLst>
                                          <p:attrName>style.visibility</p:attrName>
                                        </p:attrNameLst>
                                      </p:cBhvr>
                                      <p:to>
                                        <p:strVal val="hidden"/>
                                      </p:to>
                                    </p:set>
                                  </p:childTnLst>
                                </p:cTn>
                              </p:par>
                              <p:par>
                                <p:cTn id="221" presetID="2" presetClass="exit" presetSubtype="4" fill="hold" grpId="2" nodeType="withEffect">
                                  <p:stCondLst>
                                    <p:cond delay="0"/>
                                  </p:stCondLst>
                                  <p:childTnLst>
                                    <p:anim calcmode="lin" valueType="num">
                                      <p:cBhvr additive="base">
                                        <p:cTn id="222" dur="500"/>
                                        <p:tgtEl>
                                          <p:spTgt spid="64"/>
                                        </p:tgtEl>
                                        <p:attrNameLst>
                                          <p:attrName>ppt_x</p:attrName>
                                        </p:attrNameLst>
                                      </p:cBhvr>
                                      <p:tavLst>
                                        <p:tav tm="0">
                                          <p:val>
                                            <p:strVal val="ppt_x"/>
                                          </p:val>
                                        </p:tav>
                                        <p:tav tm="100000">
                                          <p:val>
                                            <p:strVal val="ppt_x"/>
                                          </p:val>
                                        </p:tav>
                                      </p:tavLst>
                                    </p:anim>
                                    <p:anim calcmode="lin" valueType="num">
                                      <p:cBhvr additive="base">
                                        <p:cTn id="223" dur="500"/>
                                        <p:tgtEl>
                                          <p:spTgt spid="64"/>
                                        </p:tgtEl>
                                        <p:attrNameLst>
                                          <p:attrName>ppt_y</p:attrName>
                                        </p:attrNameLst>
                                      </p:cBhvr>
                                      <p:tavLst>
                                        <p:tav tm="0">
                                          <p:val>
                                            <p:strVal val="ppt_y"/>
                                          </p:val>
                                        </p:tav>
                                        <p:tav tm="100000">
                                          <p:val>
                                            <p:strVal val="1+ppt_h/2"/>
                                          </p:val>
                                        </p:tav>
                                      </p:tavLst>
                                    </p:anim>
                                    <p:set>
                                      <p:cBhvr>
                                        <p:cTn id="224" dur="1" fill="hold">
                                          <p:stCondLst>
                                            <p:cond delay="499"/>
                                          </p:stCondLst>
                                        </p:cTn>
                                        <p:tgtEl>
                                          <p:spTgt spid="64"/>
                                        </p:tgtEl>
                                        <p:attrNameLst>
                                          <p:attrName>style.visibility</p:attrName>
                                        </p:attrNameLst>
                                      </p:cBhvr>
                                      <p:to>
                                        <p:strVal val="hidden"/>
                                      </p:to>
                                    </p:set>
                                  </p:childTnLst>
                                </p:cTn>
                              </p:par>
                              <p:par>
                                <p:cTn id="225" presetID="2" presetClass="exit" presetSubtype="4" fill="hold" grpId="2" nodeType="withEffect">
                                  <p:stCondLst>
                                    <p:cond delay="0"/>
                                  </p:stCondLst>
                                  <p:childTnLst>
                                    <p:anim calcmode="lin" valueType="num">
                                      <p:cBhvr additive="base">
                                        <p:cTn id="226" dur="500"/>
                                        <p:tgtEl>
                                          <p:spTgt spid="63"/>
                                        </p:tgtEl>
                                        <p:attrNameLst>
                                          <p:attrName>ppt_x</p:attrName>
                                        </p:attrNameLst>
                                      </p:cBhvr>
                                      <p:tavLst>
                                        <p:tav tm="0">
                                          <p:val>
                                            <p:strVal val="ppt_x"/>
                                          </p:val>
                                        </p:tav>
                                        <p:tav tm="100000">
                                          <p:val>
                                            <p:strVal val="ppt_x"/>
                                          </p:val>
                                        </p:tav>
                                      </p:tavLst>
                                    </p:anim>
                                    <p:anim calcmode="lin" valueType="num">
                                      <p:cBhvr additive="base">
                                        <p:cTn id="227" dur="500"/>
                                        <p:tgtEl>
                                          <p:spTgt spid="63"/>
                                        </p:tgtEl>
                                        <p:attrNameLst>
                                          <p:attrName>ppt_y</p:attrName>
                                        </p:attrNameLst>
                                      </p:cBhvr>
                                      <p:tavLst>
                                        <p:tav tm="0">
                                          <p:val>
                                            <p:strVal val="ppt_y"/>
                                          </p:val>
                                        </p:tav>
                                        <p:tav tm="100000">
                                          <p:val>
                                            <p:strVal val="1+ppt_h/2"/>
                                          </p:val>
                                        </p:tav>
                                      </p:tavLst>
                                    </p:anim>
                                    <p:set>
                                      <p:cBhvr>
                                        <p:cTn id="228" dur="1" fill="hold">
                                          <p:stCondLst>
                                            <p:cond delay="499"/>
                                          </p:stCondLst>
                                        </p:cTn>
                                        <p:tgtEl>
                                          <p:spTgt spid="63"/>
                                        </p:tgtEl>
                                        <p:attrNameLst>
                                          <p:attrName>style.visibility</p:attrName>
                                        </p:attrNameLst>
                                      </p:cBhvr>
                                      <p:to>
                                        <p:strVal val="hidden"/>
                                      </p:to>
                                    </p:set>
                                  </p:childTnLst>
                                </p:cTn>
                              </p:par>
                              <p:par>
                                <p:cTn id="229" presetID="2" presetClass="exit" presetSubtype="4" fill="hold" grpId="2" nodeType="withEffect">
                                  <p:stCondLst>
                                    <p:cond delay="0"/>
                                  </p:stCondLst>
                                  <p:childTnLst>
                                    <p:anim calcmode="lin" valueType="num">
                                      <p:cBhvr additive="base">
                                        <p:cTn id="230" dur="500"/>
                                        <p:tgtEl>
                                          <p:spTgt spid="65"/>
                                        </p:tgtEl>
                                        <p:attrNameLst>
                                          <p:attrName>ppt_x</p:attrName>
                                        </p:attrNameLst>
                                      </p:cBhvr>
                                      <p:tavLst>
                                        <p:tav tm="0">
                                          <p:val>
                                            <p:strVal val="ppt_x"/>
                                          </p:val>
                                        </p:tav>
                                        <p:tav tm="100000">
                                          <p:val>
                                            <p:strVal val="ppt_x"/>
                                          </p:val>
                                        </p:tav>
                                      </p:tavLst>
                                    </p:anim>
                                    <p:anim calcmode="lin" valueType="num">
                                      <p:cBhvr additive="base">
                                        <p:cTn id="231" dur="500"/>
                                        <p:tgtEl>
                                          <p:spTgt spid="65"/>
                                        </p:tgtEl>
                                        <p:attrNameLst>
                                          <p:attrName>ppt_y</p:attrName>
                                        </p:attrNameLst>
                                      </p:cBhvr>
                                      <p:tavLst>
                                        <p:tav tm="0">
                                          <p:val>
                                            <p:strVal val="ppt_y"/>
                                          </p:val>
                                        </p:tav>
                                        <p:tav tm="100000">
                                          <p:val>
                                            <p:strVal val="1+ppt_h/2"/>
                                          </p:val>
                                        </p:tav>
                                      </p:tavLst>
                                    </p:anim>
                                    <p:set>
                                      <p:cBhvr>
                                        <p:cTn id="232" dur="1" fill="hold">
                                          <p:stCondLst>
                                            <p:cond delay="499"/>
                                          </p:stCondLst>
                                        </p:cTn>
                                        <p:tgtEl>
                                          <p:spTgt spid="65"/>
                                        </p:tgtEl>
                                        <p:attrNameLst>
                                          <p:attrName>style.visibility</p:attrName>
                                        </p:attrNameLst>
                                      </p:cBhvr>
                                      <p:to>
                                        <p:strVal val="hidden"/>
                                      </p:to>
                                    </p:set>
                                  </p:childTnLst>
                                </p:cTn>
                              </p:par>
                              <p:par>
                                <p:cTn id="233" presetID="2" presetClass="exit" presetSubtype="4" fill="hold" grpId="2" nodeType="withEffect">
                                  <p:stCondLst>
                                    <p:cond delay="0"/>
                                  </p:stCondLst>
                                  <p:childTnLst>
                                    <p:anim calcmode="lin" valueType="num">
                                      <p:cBhvr additive="base">
                                        <p:cTn id="234" dur="500"/>
                                        <p:tgtEl>
                                          <p:spTgt spid="66"/>
                                        </p:tgtEl>
                                        <p:attrNameLst>
                                          <p:attrName>ppt_x</p:attrName>
                                        </p:attrNameLst>
                                      </p:cBhvr>
                                      <p:tavLst>
                                        <p:tav tm="0">
                                          <p:val>
                                            <p:strVal val="ppt_x"/>
                                          </p:val>
                                        </p:tav>
                                        <p:tav tm="100000">
                                          <p:val>
                                            <p:strVal val="ppt_x"/>
                                          </p:val>
                                        </p:tav>
                                      </p:tavLst>
                                    </p:anim>
                                    <p:anim calcmode="lin" valueType="num">
                                      <p:cBhvr additive="base">
                                        <p:cTn id="235" dur="500"/>
                                        <p:tgtEl>
                                          <p:spTgt spid="66"/>
                                        </p:tgtEl>
                                        <p:attrNameLst>
                                          <p:attrName>ppt_y</p:attrName>
                                        </p:attrNameLst>
                                      </p:cBhvr>
                                      <p:tavLst>
                                        <p:tav tm="0">
                                          <p:val>
                                            <p:strVal val="ppt_y"/>
                                          </p:val>
                                        </p:tav>
                                        <p:tav tm="100000">
                                          <p:val>
                                            <p:strVal val="1+ppt_h/2"/>
                                          </p:val>
                                        </p:tav>
                                      </p:tavLst>
                                    </p:anim>
                                    <p:set>
                                      <p:cBhvr>
                                        <p:cTn id="236" dur="1" fill="hold">
                                          <p:stCondLst>
                                            <p:cond delay="499"/>
                                          </p:stCondLst>
                                        </p:cTn>
                                        <p:tgtEl>
                                          <p:spTgt spid="66"/>
                                        </p:tgtEl>
                                        <p:attrNameLst>
                                          <p:attrName>style.visibility</p:attrName>
                                        </p:attrNameLst>
                                      </p:cBhvr>
                                      <p:to>
                                        <p:strVal val="hidden"/>
                                      </p:to>
                                    </p:set>
                                  </p:childTnLst>
                                </p:cTn>
                              </p:par>
                              <p:par>
                                <p:cTn id="237" presetID="2" presetClass="exit" presetSubtype="4" fill="hold" grpId="2" nodeType="withEffect">
                                  <p:stCondLst>
                                    <p:cond delay="0"/>
                                  </p:stCondLst>
                                  <p:childTnLst>
                                    <p:anim calcmode="lin" valueType="num">
                                      <p:cBhvr additive="base">
                                        <p:cTn id="238" dur="500"/>
                                        <p:tgtEl>
                                          <p:spTgt spid="67"/>
                                        </p:tgtEl>
                                        <p:attrNameLst>
                                          <p:attrName>ppt_x</p:attrName>
                                        </p:attrNameLst>
                                      </p:cBhvr>
                                      <p:tavLst>
                                        <p:tav tm="0">
                                          <p:val>
                                            <p:strVal val="ppt_x"/>
                                          </p:val>
                                        </p:tav>
                                        <p:tav tm="100000">
                                          <p:val>
                                            <p:strVal val="ppt_x"/>
                                          </p:val>
                                        </p:tav>
                                      </p:tavLst>
                                    </p:anim>
                                    <p:anim calcmode="lin" valueType="num">
                                      <p:cBhvr additive="base">
                                        <p:cTn id="239" dur="500"/>
                                        <p:tgtEl>
                                          <p:spTgt spid="67"/>
                                        </p:tgtEl>
                                        <p:attrNameLst>
                                          <p:attrName>ppt_y</p:attrName>
                                        </p:attrNameLst>
                                      </p:cBhvr>
                                      <p:tavLst>
                                        <p:tav tm="0">
                                          <p:val>
                                            <p:strVal val="ppt_y"/>
                                          </p:val>
                                        </p:tav>
                                        <p:tav tm="100000">
                                          <p:val>
                                            <p:strVal val="1+ppt_h/2"/>
                                          </p:val>
                                        </p:tav>
                                      </p:tavLst>
                                    </p:anim>
                                    <p:set>
                                      <p:cBhvr>
                                        <p:cTn id="240" dur="1" fill="hold">
                                          <p:stCondLst>
                                            <p:cond delay="499"/>
                                          </p:stCondLst>
                                        </p:cTn>
                                        <p:tgtEl>
                                          <p:spTgt spid="67"/>
                                        </p:tgtEl>
                                        <p:attrNameLst>
                                          <p:attrName>style.visibility</p:attrName>
                                        </p:attrNameLst>
                                      </p:cBhvr>
                                      <p:to>
                                        <p:strVal val="hidden"/>
                                      </p:to>
                                    </p:set>
                                  </p:childTnLst>
                                </p:cTn>
                              </p:par>
                              <p:par>
                                <p:cTn id="241" presetID="2" presetClass="exit" presetSubtype="4" fill="hold" grpId="2" nodeType="withEffect">
                                  <p:stCondLst>
                                    <p:cond delay="0"/>
                                  </p:stCondLst>
                                  <p:childTnLst>
                                    <p:anim calcmode="lin" valueType="num">
                                      <p:cBhvr additive="base">
                                        <p:cTn id="242" dur="500"/>
                                        <p:tgtEl>
                                          <p:spTgt spid="68"/>
                                        </p:tgtEl>
                                        <p:attrNameLst>
                                          <p:attrName>ppt_x</p:attrName>
                                        </p:attrNameLst>
                                      </p:cBhvr>
                                      <p:tavLst>
                                        <p:tav tm="0">
                                          <p:val>
                                            <p:strVal val="ppt_x"/>
                                          </p:val>
                                        </p:tav>
                                        <p:tav tm="100000">
                                          <p:val>
                                            <p:strVal val="ppt_x"/>
                                          </p:val>
                                        </p:tav>
                                      </p:tavLst>
                                    </p:anim>
                                    <p:anim calcmode="lin" valueType="num">
                                      <p:cBhvr additive="base">
                                        <p:cTn id="243" dur="500"/>
                                        <p:tgtEl>
                                          <p:spTgt spid="68"/>
                                        </p:tgtEl>
                                        <p:attrNameLst>
                                          <p:attrName>ppt_y</p:attrName>
                                        </p:attrNameLst>
                                      </p:cBhvr>
                                      <p:tavLst>
                                        <p:tav tm="0">
                                          <p:val>
                                            <p:strVal val="ppt_y"/>
                                          </p:val>
                                        </p:tav>
                                        <p:tav tm="100000">
                                          <p:val>
                                            <p:strVal val="1+ppt_h/2"/>
                                          </p:val>
                                        </p:tav>
                                      </p:tavLst>
                                    </p:anim>
                                    <p:set>
                                      <p:cBhvr>
                                        <p:cTn id="244" dur="1" fill="hold">
                                          <p:stCondLst>
                                            <p:cond delay="499"/>
                                          </p:stCondLst>
                                        </p:cTn>
                                        <p:tgtEl>
                                          <p:spTgt spid="68"/>
                                        </p:tgtEl>
                                        <p:attrNameLst>
                                          <p:attrName>style.visibility</p:attrName>
                                        </p:attrNameLst>
                                      </p:cBhvr>
                                      <p:to>
                                        <p:strVal val="hidden"/>
                                      </p:to>
                                    </p:set>
                                  </p:childTnLst>
                                </p:cTn>
                              </p:par>
                              <p:par>
                                <p:cTn id="245" presetID="2" presetClass="exit" presetSubtype="4" fill="hold" grpId="2" nodeType="withEffect">
                                  <p:stCondLst>
                                    <p:cond delay="0"/>
                                  </p:stCondLst>
                                  <p:childTnLst>
                                    <p:anim calcmode="lin" valueType="num">
                                      <p:cBhvr additive="base">
                                        <p:cTn id="246" dur="500"/>
                                        <p:tgtEl>
                                          <p:spTgt spid="69"/>
                                        </p:tgtEl>
                                        <p:attrNameLst>
                                          <p:attrName>ppt_x</p:attrName>
                                        </p:attrNameLst>
                                      </p:cBhvr>
                                      <p:tavLst>
                                        <p:tav tm="0">
                                          <p:val>
                                            <p:strVal val="ppt_x"/>
                                          </p:val>
                                        </p:tav>
                                        <p:tav tm="100000">
                                          <p:val>
                                            <p:strVal val="ppt_x"/>
                                          </p:val>
                                        </p:tav>
                                      </p:tavLst>
                                    </p:anim>
                                    <p:anim calcmode="lin" valueType="num">
                                      <p:cBhvr additive="base">
                                        <p:cTn id="247" dur="500"/>
                                        <p:tgtEl>
                                          <p:spTgt spid="69"/>
                                        </p:tgtEl>
                                        <p:attrNameLst>
                                          <p:attrName>ppt_y</p:attrName>
                                        </p:attrNameLst>
                                      </p:cBhvr>
                                      <p:tavLst>
                                        <p:tav tm="0">
                                          <p:val>
                                            <p:strVal val="ppt_y"/>
                                          </p:val>
                                        </p:tav>
                                        <p:tav tm="100000">
                                          <p:val>
                                            <p:strVal val="1+ppt_h/2"/>
                                          </p:val>
                                        </p:tav>
                                      </p:tavLst>
                                    </p:anim>
                                    <p:set>
                                      <p:cBhvr>
                                        <p:cTn id="248" dur="1" fill="hold">
                                          <p:stCondLst>
                                            <p:cond delay="499"/>
                                          </p:stCondLst>
                                        </p:cTn>
                                        <p:tgtEl>
                                          <p:spTgt spid="69"/>
                                        </p:tgtEl>
                                        <p:attrNameLst>
                                          <p:attrName>style.visibility</p:attrName>
                                        </p:attrNameLst>
                                      </p:cBhvr>
                                      <p:to>
                                        <p:strVal val="hidden"/>
                                      </p:to>
                                    </p:set>
                                  </p:childTnLst>
                                </p:cTn>
                              </p:par>
                              <p:par>
                                <p:cTn id="249" presetID="2" presetClass="exit" presetSubtype="4" fill="hold" grpId="2" nodeType="withEffect">
                                  <p:stCondLst>
                                    <p:cond delay="0"/>
                                  </p:stCondLst>
                                  <p:childTnLst>
                                    <p:anim calcmode="lin" valueType="num">
                                      <p:cBhvr additive="base">
                                        <p:cTn id="250" dur="500"/>
                                        <p:tgtEl>
                                          <p:spTgt spid="70"/>
                                        </p:tgtEl>
                                        <p:attrNameLst>
                                          <p:attrName>ppt_x</p:attrName>
                                        </p:attrNameLst>
                                      </p:cBhvr>
                                      <p:tavLst>
                                        <p:tav tm="0">
                                          <p:val>
                                            <p:strVal val="ppt_x"/>
                                          </p:val>
                                        </p:tav>
                                        <p:tav tm="100000">
                                          <p:val>
                                            <p:strVal val="ppt_x"/>
                                          </p:val>
                                        </p:tav>
                                      </p:tavLst>
                                    </p:anim>
                                    <p:anim calcmode="lin" valueType="num">
                                      <p:cBhvr additive="base">
                                        <p:cTn id="251" dur="500"/>
                                        <p:tgtEl>
                                          <p:spTgt spid="70"/>
                                        </p:tgtEl>
                                        <p:attrNameLst>
                                          <p:attrName>ppt_y</p:attrName>
                                        </p:attrNameLst>
                                      </p:cBhvr>
                                      <p:tavLst>
                                        <p:tav tm="0">
                                          <p:val>
                                            <p:strVal val="ppt_y"/>
                                          </p:val>
                                        </p:tav>
                                        <p:tav tm="100000">
                                          <p:val>
                                            <p:strVal val="1+ppt_h/2"/>
                                          </p:val>
                                        </p:tav>
                                      </p:tavLst>
                                    </p:anim>
                                    <p:set>
                                      <p:cBhvr>
                                        <p:cTn id="252" dur="1" fill="hold">
                                          <p:stCondLst>
                                            <p:cond delay="499"/>
                                          </p:stCondLst>
                                        </p:cTn>
                                        <p:tgtEl>
                                          <p:spTgt spid="70"/>
                                        </p:tgtEl>
                                        <p:attrNameLst>
                                          <p:attrName>style.visibility</p:attrName>
                                        </p:attrNameLst>
                                      </p:cBhvr>
                                      <p:to>
                                        <p:strVal val="hidden"/>
                                      </p:to>
                                    </p:set>
                                  </p:childTnLst>
                                </p:cTn>
                              </p:par>
                              <p:par>
                                <p:cTn id="253" presetID="10" presetClass="exit" presetSubtype="0" fill="hold" grpId="1" nodeType="withEffect">
                                  <p:stCondLst>
                                    <p:cond delay="0"/>
                                  </p:stCondLst>
                                  <p:childTnLst>
                                    <p:animEffect transition="out" filter="fade">
                                      <p:cBhvr>
                                        <p:cTn id="254" dur="500"/>
                                        <p:tgtEl>
                                          <p:spTgt spid="105"/>
                                        </p:tgtEl>
                                      </p:cBhvr>
                                    </p:animEffect>
                                    <p:set>
                                      <p:cBhvr>
                                        <p:cTn id="255" dur="1" fill="hold">
                                          <p:stCondLst>
                                            <p:cond delay="499"/>
                                          </p:stCondLst>
                                        </p:cTn>
                                        <p:tgtEl>
                                          <p:spTgt spid="105"/>
                                        </p:tgtEl>
                                        <p:attrNameLst>
                                          <p:attrName>style.visibility</p:attrName>
                                        </p:attrNameLst>
                                      </p:cBhvr>
                                      <p:to>
                                        <p:strVal val="hidden"/>
                                      </p:to>
                                    </p:set>
                                  </p:childTnLst>
                                </p:cTn>
                              </p:par>
                              <p:par>
                                <p:cTn id="256" presetID="10" presetClass="exit" presetSubtype="0" fill="hold" grpId="1" nodeType="withEffect">
                                  <p:stCondLst>
                                    <p:cond delay="0"/>
                                  </p:stCondLst>
                                  <p:childTnLst>
                                    <p:animEffect transition="out" filter="fade">
                                      <p:cBhvr>
                                        <p:cTn id="257" dur="500"/>
                                        <p:tgtEl>
                                          <p:spTgt spid="101"/>
                                        </p:tgtEl>
                                      </p:cBhvr>
                                    </p:animEffect>
                                    <p:set>
                                      <p:cBhvr>
                                        <p:cTn id="258" dur="1" fill="hold">
                                          <p:stCondLst>
                                            <p:cond delay="499"/>
                                          </p:stCondLst>
                                        </p:cTn>
                                        <p:tgtEl>
                                          <p:spTgt spid="101"/>
                                        </p:tgtEl>
                                        <p:attrNameLst>
                                          <p:attrName>style.visibility</p:attrName>
                                        </p:attrNameLst>
                                      </p:cBhvr>
                                      <p:to>
                                        <p:strVal val="hidden"/>
                                      </p:to>
                                    </p:set>
                                  </p:childTnLst>
                                </p:cTn>
                              </p:par>
                              <p:par>
                                <p:cTn id="259" presetID="10" presetClass="exit" presetSubtype="0" fill="hold" grpId="1" nodeType="withEffect">
                                  <p:stCondLst>
                                    <p:cond delay="0"/>
                                  </p:stCondLst>
                                  <p:childTnLst>
                                    <p:animEffect transition="out" filter="fade">
                                      <p:cBhvr>
                                        <p:cTn id="260" dur="500"/>
                                        <p:tgtEl>
                                          <p:spTgt spid="103"/>
                                        </p:tgtEl>
                                      </p:cBhvr>
                                    </p:animEffect>
                                    <p:set>
                                      <p:cBhvr>
                                        <p:cTn id="261" dur="1" fill="hold">
                                          <p:stCondLst>
                                            <p:cond delay="499"/>
                                          </p:stCondLst>
                                        </p:cTn>
                                        <p:tgtEl>
                                          <p:spTgt spid="103"/>
                                        </p:tgtEl>
                                        <p:attrNameLst>
                                          <p:attrName>style.visibility</p:attrName>
                                        </p:attrNameLst>
                                      </p:cBhvr>
                                      <p:to>
                                        <p:strVal val="hidden"/>
                                      </p:to>
                                    </p:set>
                                  </p:childTnLst>
                                </p:cTn>
                              </p:par>
                              <p:par>
                                <p:cTn id="262" presetID="10" presetClass="exit" presetSubtype="0" fill="hold" grpId="1" nodeType="withEffect">
                                  <p:stCondLst>
                                    <p:cond delay="0"/>
                                  </p:stCondLst>
                                  <p:childTnLst>
                                    <p:animEffect transition="out" filter="fade">
                                      <p:cBhvr>
                                        <p:cTn id="263" dur="500"/>
                                        <p:tgtEl>
                                          <p:spTgt spid="3"/>
                                        </p:tgtEl>
                                      </p:cBhvr>
                                    </p:animEffect>
                                    <p:set>
                                      <p:cBhvr>
                                        <p:cTn id="264" dur="1" fill="hold">
                                          <p:stCondLst>
                                            <p:cond delay="499"/>
                                          </p:stCondLst>
                                        </p:cTn>
                                        <p:tgtEl>
                                          <p:spTgt spid="3"/>
                                        </p:tgtEl>
                                        <p:attrNameLst>
                                          <p:attrName>style.visibility</p:attrName>
                                        </p:attrNameLst>
                                      </p:cBhvr>
                                      <p:to>
                                        <p:strVal val="hidden"/>
                                      </p:to>
                                    </p:set>
                                  </p:childTnLst>
                                </p:cTn>
                              </p:par>
                            </p:childTnLst>
                          </p:cTn>
                        </p:par>
                        <p:par>
                          <p:cTn id="265" fill="hold">
                            <p:stCondLst>
                              <p:cond delay="500"/>
                            </p:stCondLst>
                            <p:childTnLst>
                              <p:par>
                                <p:cTn id="266" presetID="10" presetClass="entr" presetSubtype="0" fill="hold" grpId="0" nodeType="afterEffect">
                                  <p:stCondLst>
                                    <p:cond delay="500"/>
                                  </p:stCondLst>
                                  <p:childTnLst>
                                    <p:set>
                                      <p:cBhvr>
                                        <p:cTn id="267" dur="1" fill="hold">
                                          <p:stCondLst>
                                            <p:cond delay="0"/>
                                          </p:stCondLst>
                                        </p:cTn>
                                        <p:tgtEl>
                                          <p:spTgt spid="14"/>
                                        </p:tgtEl>
                                        <p:attrNameLst>
                                          <p:attrName>style.visibility</p:attrName>
                                        </p:attrNameLst>
                                      </p:cBhvr>
                                      <p:to>
                                        <p:strVal val="visible"/>
                                      </p:to>
                                    </p:set>
                                    <p:animEffect transition="in" filter="fade">
                                      <p:cBhvr>
                                        <p:cTn id="268" dur="500"/>
                                        <p:tgtEl>
                                          <p:spTgt spid="14"/>
                                        </p:tgtEl>
                                      </p:cBhvr>
                                    </p:animEffect>
                                  </p:childTnLst>
                                </p:cTn>
                              </p:par>
                              <p:par>
                                <p:cTn id="269" presetID="10" presetClass="entr" presetSubtype="0" fill="hold" grpId="0" nodeType="withEffect">
                                  <p:stCondLst>
                                    <p:cond delay="500"/>
                                  </p:stCondLst>
                                  <p:childTnLst>
                                    <p:set>
                                      <p:cBhvr>
                                        <p:cTn id="270" dur="1" fill="hold">
                                          <p:stCondLst>
                                            <p:cond delay="0"/>
                                          </p:stCondLst>
                                        </p:cTn>
                                        <p:tgtEl>
                                          <p:spTgt spid="17"/>
                                        </p:tgtEl>
                                        <p:attrNameLst>
                                          <p:attrName>style.visibility</p:attrName>
                                        </p:attrNameLst>
                                      </p:cBhvr>
                                      <p:to>
                                        <p:strVal val="visible"/>
                                      </p:to>
                                    </p:set>
                                    <p:animEffect transition="in" filter="fade">
                                      <p:cBhvr>
                                        <p:cTn id="271" dur="500"/>
                                        <p:tgtEl>
                                          <p:spTgt spid="17"/>
                                        </p:tgtEl>
                                      </p:cBhvr>
                                    </p:animEffect>
                                  </p:childTnLst>
                                </p:cTn>
                              </p:par>
                              <p:par>
                                <p:cTn id="272" presetID="2" presetClass="entr" presetSubtype="4" fill="hold" grpId="0" nodeType="withEffect">
                                  <p:stCondLst>
                                    <p:cond delay="500"/>
                                  </p:stCondLst>
                                  <p:childTnLst>
                                    <p:set>
                                      <p:cBhvr>
                                        <p:cTn id="273" dur="1" fill="hold">
                                          <p:stCondLst>
                                            <p:cond delay="0"/>
                                          </p:stCondLst>
                                        </p:cTn>
                                        <p:tgtEl>
                                          <p:spTgt spid="18"/>
                                        </p:tgtEl>
                                        <p:attrNameLst>
                                          <p:attrName>style.visibility</p:attrName>
                                        </p:attrNameLst>
                                      </p:cBhvr>
                                      <p:to>
                                        <p:strVal val="visible"/>
                                      </p:to>
                                    </p:set>
                                    <p:anim calcmode="lin" valueType="num">
                                      <p:cBhvr additive="base">
                                        <p:cTn id="274" dur="500" fill="hold"/>
                                        <p:tgtEl>
                                          <p:spTgt spid="18"/>
                                        </p:tgtEl>
                                        <p:attrNameLst>
                                          <p:attrName>ppt_x</p:attrName>
                                        </p:attrNameLst>
                                      </p:cBhvr>
                                      <p:tavLst>
                                        <p:tav tm="0">
                                          <p:val>
                                            <p:strVal val="#ppt_x"/>
                                          </p:val>
                                        </p:tav>
                                        <p:tav tm="100000">
                                          <p:val>
                                            <p:strVal val="#ppt_x"/>
                                          </p:val>
                                        </p:tav>
                                      </p:tavLst>
                                    </p:anim>
                                    <p:anim calcmode="lin" valueType="num">
                                      <p:cBhvr additive="base">
                                        <p:cTn id="275" dur="500" fill="hold"/>
                                        <p:tgtEl>
                                          <p:spTgt spid="18"/>
                                        </p:tgtEl>
                                        <p:attrNameLst>
                                          <p:attrName>ppt_y</p:attrName>
                                        </p:attrNameLst>
                                      </p:cBhvr>
                                      <p:tavLst>
                                        <p:tav tm="0">
                                          <p:val>
                                            <p:strVal val="1+#ppt_h/2"/>
                                          </p:val>
                                        </p:tav>
                                        <p:tav tm="100000">
                                          <p:val>
                                            <p:strVal val="#ppt_y"/>
                                          </p:val>
                                        </p:tav>
                                      </p:tavLst>
                                    </p:anim>
                                  </p:childTnLst>
                                </p:cTn>
                              </p:par>
                              <p:par>
                                <p:cTn id="276" presetID="2" presetClass="entr" presetSubtype="4" fill="hold" grpId="0" nodeType="withEffect">
                                  <p:stCondLst>
                                    <p:cond delay="500"/>
                                  </p:stCondLst>
                                  <p:childTnLst>
                                    <p:set>
                                      <p:cBhvr>
                                        <p:cTn id="277" dur="1" fill="hold">
                                          <p:stCondLst>
                                            <p:cond delay="0"/>
                                          </p:stCondLst>
                                        </p:cTn>
                                        <p:tgtEl>
                                          <p:spTgt spid="16"/>
                                        </p:tgtEl>
                                        <p:attrNameLst>
                                          <p:attrName>style.visibility</p:attrName>
                                        </p:attrNameLst>
                                      </p:cBhvr>
                                      <p:to>
                                        <p:strVal val="visible"/>
                                      </p:to>
                                    </p:set>
                                    <p:anim calcmode="lin" valueType="num">
                                      <p:cBhvr additive="base">
                                        <p:cTn id="278" dur="500" fill="hold"/>
                                        <p:tgtEl>
                                          <p:spTgt spid="16"/>
                                        </p:tgtEl>
                                        <p:attrNameLst>
                                          <p:attrName>ppt_x</p:attrName>
                                        </p:attrNameLst>
                                      </p:cBhvr>
                                      <p:tavLst>
                                        <p:tav tm="0">
                                          <p:val>
                                            <p:strVal val="#ppt_x"/>
                                          </p:val>
                                        </p:tav>
                                        <p:tav tm="100000">
                                          <p:val>
                                            <p:strVal val="#ppt_x"/>
                                          </p:val>
                                        </p:tav>
                                      </p:tavLst>
                                    </p:anim>
                                    <p:anim calcmode="lin" valueType="num">
                                      <p:cBhvr additive="base">
                                        <p:cTn id="279" dur="500" fill="hold"/>
                                        <p:tgtEl>
                                          <p:spTgt spid="16"/>
                                        </p:tgtEl>
                                        <p:attrNameLst>
                                          <p:attrName>ppt_y</p:attrName>
                                        </p:attrNameLst>
                                      </p:cBhvr>
                                      <p:tavLst>
                                        <p:tav tm="0">
                                          <p:val>
                                            <p:strVal val="1+#ppt_h/2"/>
                                          </p:val>
                                        </p:tav>
                                        <p:tav tm="100000">
                                          <p:val>
                                            <p:strVal val="#ppt_y"/>
                                          </p:val>
                                        </p:tav>
                                      </p:tavLst>
                                    </p:anim>
                                  </p:childTnLst>
                                </p:cTn>
                              </p:par>
                            </p:childTnLst>
                          </p:cTn>
                        </p:par>
                        <p:par>
                          <p:cTn id="280" fill="hold">
                            <p:stCondLst>
                              <p:cond delay="1500"/>
                            </p:stCondLst>
                            <p:childTnLst>
                              <p:par>
                                <p:cTn id="281" presetID="2" presetClass="entr" presetSubtype="2" accel="50000" decel="50000" fill="hold" grpId="0" nodeType="afterEffect">
                                  <p:stCondLst>
                                    <p:cond delay="0"/>
                                  </p:stCondLst>
                                  <p:childTnLst>
                                    <p:set>
                                      <p:cBhvr>
                                        <p:cTn id="282" dur="1" fill="hold">
                                          <p:stCondLst>
                                            <p:cond delay="0"/>
                                          </p:stCondLst>
                                        </p:cTn>
                                        <p:tgtEl>
                                          <p:spTgt spid="87"/>
                                        </p:tgtEl>
                                        <p:attrNameLst>
                                          <p:attrName>style.visibility</p:attrName>
                                        </p:attrNameLst>
                                      </p:cBhvr>
                                      <p:to>
                                        <p:strVal val="visible"/>
                                      </p:to>
                                    </p:set>
                                    <p:anim calcmode="lin" valueType="num">
                                      <p:cBhvr additive="base">
                                        <p:cTn id="283" dur="1000" fill="hold"/>
                                        <p:tgtEl>
                                          <p:spTgt spid="87"/>
                                        </p:tgtEl>
                                        <p:attrNameLst>
                                          <p:attrName>ppt_x</p:attrName>
                                        </p:attrNameLst>
                                      </p:cBhvr>
                                      <p:tavLst>
                                        <p:tav tm="0">
                                          <p:val>
                                            <p:strVal val="1+#ppt_w/2"/>
                                          </p:val>
                                        </p:tav>
                                        <p:tav tm="100000">
                                          <p:val>
                                            <p:strVal val="#ppt_x"/>
                                          </p:val>
                                        </p:tav>
                                      </p:tavLst>
                                    </p:anim>
                                    <p:anim calcmode="lin" valueType="num">
                                      <p:cBhvr additive="base">
                                        <p:cTn id="284" dur="1000" fill="hold"/>
                                        <p:tgtEl>
                                          <p:spTgt spid="87"/>
                                        </p:tgtEl>
                                        <p:attrNameLst>
                                          <p:attrName>ppt_y</p:attrName>
                                        </p:attrNameLst>
                                      </p:cBhvr>
                                      <p:tavLst>
                                        <p:tav tm="0">
                                          <p:val>
                                            <p:strVal val="#ppt_y"/>
                                          </p:val>
                                        </p:tav>
                                        <p:tav tm="100000">
                                          <p:val>
                                            <p:strVal val="#ppt_y"/>
                                          </p:val>
                                        </p:tav>
                                      </p:tavLst>
                                    </p:anim>
                                  </p:childTnLst>
                                </p:cTn>
                              </p:par>
                              <p:par>
                                <p:cTn id="285" presetID="2" presetClass="entr" presetSubtype="2" accel="50000" decel="50000" fill="hold" grpId="0" nodeType="withEffect">
                                  <p:stCondLst>
                                    <p:cond delay="0"/>
                                  </p:stCondLst>
                                  <p:childTnLst>
                                    <p:set>
                                      <p:cBhvr>
                                        <p:cTn id="286" dur="1" fill="hold">
                                          <p:stCondLst>
                                            <p:cond delay="0"/>
                                          </p:stCondLst>
                                        </p:cTn>
                                        <p:tgtEl>
                                          <p:spTgt spid="89"/>
                                        </p:tgtEl>
                                        <p:attrNameLst>
                                          <p:attrName>style.visibility</p:attrName>
                                        </p:attrNameLst>
                                      </p:cBhvr>
                                      <p:to>
                                        <p:strVal val="visible"/>
                                      </p:to>
                                    </p:set>
                                    <p:anim calcmode="lin" valueType="num">
                                      <p:cBhvr additive="base">
                                        <p:cTn id="287" dur="1000" fill="hold"/>
                                        <p:tgtEl>
                                          <p:spTgt spid="89"/>
                                        </p:tgtEl>
                                        <p:attrNameLst>
                                          <p:attrName>ppt_x</p:attrName>
                                        </p:attrNameLst>
                                      </p:cBhvr>
                                      <p:tavLst>
                                        <p:tav tm="0">
                                          <p:val>
                                            <p:strVal val="1+#ppt_w/2"/>
                                          </p:val>
                                        </p:tav>
                                        <p:tav tm="100000">
                                          <p:val>
                                            <p:strVal val="#ppt_x"/>
                                          </p:val>
                                        </p:tav>
                                      </p:tavLst>
                                    </p:anim>
                                    <p:anim calcmode="lin" valueType="num">
                                      <p:cBhvr additive="base">
                                        <p:cTn id="288" dur="1000" fill="hold"/>
                                        <p:tgtEl>
                                          <p:spTgt spid="89"/>
                                        </p:tgtEl>
                                        <p:attrNameLst>
                                          <p:attrName>ppt_y</p:attrName>
                                        </p:attrNameLst>
                                      </p:cBhvr>
                                      <p:tavLst>
                                        <p:tav tm="0">
                                          <p:val>
                                            <p:strVal val="#ppt_y"/>
                                          </p:val>
                                        </p:tav>
                                        <p:tav tm="100000">
                                          <p:val>
                                            <p:strVal val="#ppt_y"/>
                                          </p:val>
                                        </p:tav>
                                      </p:tavLst>
                                    </p:anim>
                                  </p:childTnLst>
                                </p:cTn>
                              </p:par>
                              <p:par>
                                <p:cTn id="289" presetID="2" presetClass="entr" presetSubtype="2" accel="50000" decel="50000" fill="hold" grpId="0" nodeType="withEffect">
                                  <p:stCondLst>
                                    <p:cond delay="0"/>
                                  </p:stCondLst>
                                  <p:childTnLst>
                                    <p:set>
                                      <p:cBhvr>
                                        <p:cTn id="290" dur="1" fill="hold">
                                          <p:stCondLst>
                                            <p:cond delay="0"/>
                                          </p:stCondLst>
                                        </p:cTn>
                                        <p:tgtEl>
                                          <p:spTgt spid="90"/>
                                        </p:tgtEl>
                                        <p:attrNameLst>
                                          <p:attrName>style.visibility</p:attrName>
                                        </p:attrNameLst>
                                      </p:cBhvr>
                                      <p:to>
                                        <p:strVal val="visible"/>
                                      </p:to>
                                    </p:set>
                                    <p:anim calcmode="lin" valueType="num">
                                      <p:cBhvr additive="base">
                                        <p:cTn id="291" dur="1000" fill="hold"/>
                                        <p:tgtEl>
                                          <p:spTgt spid="90"/>
                                        </p:tgtEl>
                                        <p:attrNameLst>
                                          <p:attrName>ppt_x</p:attrName>
                                        </p:attrNameLst>
                                      </p:cBhvr>
                                      <p:tavLst>
                                        <p:tav tm="0">
                                          <p:val>
                                            <p:strVal val="1+#ppt_w/2"/>
                                          </p:val>
                                        </p:tav>
                                        <p:tav tm="100000">
                                          <p:val>
                                            <p:strVal val="#ppt_x"/>
                                          </p:val>
                                        </p:tav>
                                      </p:tavLst>
                                    </p:anim>
                                    <p:anim calcmode="lin" valueType="num">
                                      <p:cBhvr additive="base">
                                        <p:cTn id="292" dur="1000" fill="hold"/>
                                        <p:tgtEl>
                                          <p:spTgt spid="90"/>
                                        </p:tgtEl>
                                        <p:attrNameLst>
                                          <p:attrName>ppt_y</p:attrName>
                                        </p:attrNameLst>
                                      </p:cBhvr>
                                      <p:tavLst>
                                        <p:tav tm="0">
                                          <p:val>
                                            <p:strVal val="#ppt_y"/>
                                          </p:val>
                                        </p:tav>
                                        <p:tav tm="100000">
                                          <p:val>
                                            <p:strVal val="#ppt_y"/>
                                          </p:val>
                                        </p:tav>
                                      </p:tavLst>
                                    </p:anim>
                                  </p:childTnLst>
                                </p:cTn>
                              </p:par>
                              <p:par>
                                <p:cTn id="293" presetID="2" presetClass="entr" presetSubtype="2" accel="50000" decel="50000" fill="hold" grpId="0" nodeType="withEffect">
                                  <p:stCondLst>
                                    <p:cond delay="0"/>
                                  </p:stCondLst>
                                  <p:childTnLst>
                                    <p:set>
                                      <p:cBhvr>
                                        <p:cTn id="294" dur="1" fill="hold">
                                          <p:stCondLst>
                                            <p:cond delay="0"/>
                                          </p:stCondLst>
                                        </p:cTn>
                                        <p:tgtEl>
                                          <p:spTgt spid="91"/>
                                        </p:tgtEl>
                                        <p:attrNameLst>
                                          <p:attrName>style.visibility</p:attrName>
                                        </p:attrNameLst>
                                      </p:cBhvr>
                                      <p:to>
                                        <p:strVal val="visible"/>
                                      </p:to>
                                    </p:set>
                                    <p:anim calcmode="lin" valueType="num">
                                      <p:cBhvr additive="base">
                                        <p:cTn id="295" dur="1000" fill="hold"/>
                                        <p:tgtEl>
                                          <p:spTgt spid="91"/>
                                        </p:tgtEl>
                                        <p:attrNameLst>
                                          <p:attrName>ppt_x</p:attrName>
                                        </p:attrNameLst>
                                      </p:cBhvr>
                                      <p:tavLst>
                                        <p:tav tm="0">
                                          <p:val>
                                            <p:strVal val="1+#ppt_w/2"/>
                                          </p:val>
                                        </p:tav>
                                        <p:tav tm="100000">
                                          <p:val>
                                            <p:strVal val="#ppt_x"/>
                                          </p:val>
                                        </p:tav>
                                      </p:tavLst>
                                    </p:anim>
                                    <p:anim calcmode="lin" valueType="num">
                                      <p:cBhvr additive="base">
                                        <p:cTn id="296" dur="1000" fill="hold"/>
                                        <p:tgtEl>
                                          <p:spTgt spid="91"/>
                                        </p:tgtEl>
                                        <p:attrNameLst>
                                          <p:attrName>ppt_y</p:attrName>
                                        </p:attrNameLst>
                                      </p:cBhvr>
                                      <p:tavLst>
                                        <p:tav tm="0">
                                          <p:val>
                                            <p:strVal val="#ppt_y"/>
                                          </p:val>
                                        </p:tav>
                                        <p:tav tm="100000">
                                          <p:val>
                                            <p:strVal val="#ppt_y"/>
                                          </p:val>
                                        </p:tav>
                                      </p:tavLst>
                                    </p:anim>
                                  </p:childTnLst>
                                </p:cTn>
                              </p:par>
                              <p:par>
                                <p:cTn id="297" presetID="2" presetClass="entr" presetSubtype="2" accel="50000" decel="50000" fill="hold" grpId="0" nodeType="withEffect">
                                  <p:stCondLst>
                                    <p:cond delay="0"/>
                                  </p:stCondLst>
                                  <p:childTnLst>
                                    <p:set>
                                      <p:cBhvr>
                                        <p:cTn id="298" dur="1" fill="hold">
                                          <p:stCondLst>
                                            <p:cond delay="0"/>
                                          </p:stCondLst>
                                        </p:cTn>
                                        <p:tgtEl>
                                          <p:spTgt spid="92"/>
                                        </p:tgtEl>
                                        <p:attrNameLst>
                                          <p:attrName>style.visibility</p:attrName>
                                        </p:attrNameLst>
                                      </p:cBhvr>
                                      <p:to>
                                        <p:strVal val="visible"/>
                                      </p:to>
                                    </p:set>
                                    <p:anim calcmode="lin" valueType="num">
                                      <p:cBhvr additive="base">
                                        <p:cTn id="299" dur="1000" fill="hold"/>
                                        <p:tgtEl>
                                          <p:spTgt spid="92"/>
                                        </p:tgtEl>
                                        <p:attrNameLst>
                                          <p:attrName>ppt_x</p:attrName>
                                        </p:attrNameLst>
                                      </p:cBhvr>
                                      <p:tavLst>
                                        <p:tav tm="0">
                                          <p:val>
                                            <p:strVal val="1+#ppt_w/2"/>
                                          </p:val>
                                        </p:tav>
                                        <p:tav tm="100000">
                                          <p:val>
                                            <p:strVal val="#ppt_x"/>
                                          </p:val>
                                        </p:tav>
                                      </p:tavLst>
                                    </p:anim>
                                    <p:anim calcmode="lin" valueType="num">
                                      <p:cBhvr additive="base">
                                        <p:cTn id="300" dur="1000" fill="hold"/>
                                        <p:tgtEl>
                                          <p:spTgt spid="92"/>
                                        </p:tgtEl>
                                        <p:attrNameLst>
                                          <p:attrName>ppt_y</p:attrName>
                                        </p:attrNameLst>
                                      </p:cBhvr>
                                      <p:tavLst>
                                        <p:tav tm="0">
                                          <p:val>
                                            <p:strVal val="#ppt_y"/>
                                          </p:val>
                                        </p:tav>
                                        <p:tav tm="100000">
                                          <p:val>
                                            <p:strVal val="#ppt_y"/>
                                          </p:val>
                                        </p:tav>
                                      </p:tavLst>
                                    </p:anim>
                                  </p:childTnLst>
                                </p:cTn>
                              </p:par>
                              <p:par>
                                <p:cTn id="301" presetID="2" presetClass="entr" presetSubtype="2" accel="50000" decel="50000" fill="hold" grpId="0" nodeType="withEffect">
                                  <p:stCondLst>
                                    <p:cond delay="0"/>
                                  </p:stCondLst>
                                  <p:childTnLst>
                                    <p:set>
                                      <p:cBhvr>
                                        <p:cTn id="302" dur="1" fill="hold">
                                          <p:stCondLst>
                                            <p:cond delay="0"/>
                                          </p:stCondLst>
                                        </p:cTn>
                                        <p:tgtEl>
                                          <p:spTgt spid="93"/>
                                        </p:tgtEl>
                                        <p:attrNameLst>
                                          <p:attrName>style.visibility</p:attrName>
                                        </p:attrNameLst>
                                      </p:cBhvr>
                                      <p:to>
                                        <p:strVal val="visible"/>
                                      </p:to>
                                    </p:set>
                                    <p:anim calcmode="lin" valueType="num">
                                      <p:cBhvr additive="base">
                                        <p:cTn id="303" dur="1000" fill="hold"/>
                                        <p:tgtEl>
                                          <p:spTgt spid="93"/>
                                        </p:tgtEl>
                                        <p:attrNameLst>
                                          <p:attrName>ppt_x</p:attrName>
                                        </p:attrNameLst>
                                      </p:cBhvr>
                                      <p:tavLst>
                                        <p:tav tm="0">
                                          <p:val>
                                            <p:strVal val="1+#ppt_w/2"/>
                                          </p:val>
                                        </p:tav>
                                        <p:tav tm="100000">
                                          <p:val>
                                            <p:strVal val="#ppt_x"/>
                                          </p:val>
                                        </p:tav>
                                      </p:tavLst>
                                    </p:anim>
                                    <p:anim calcmode="lin" valueType="num">
                                      <p:cBhvr additive="base">
                                        <p:cTn id="304" dur="1000" fill="hold"/>
                                        <p:tgtEl>
                                          <p:spTgt spid="93"/>
                                        </p:tgtEl>
                                        <p:attrNameLst>
                                          <p:attrName>ppt_y</p:attrName>
                                        </p:attrNameLst>
                                      </p:cBhvr>
                                      <p:tavLst>
                                        <p:tav tm="0">
                                          <p:val>
                                            <p:strVal val="#ppt_y"/>
                                          </p:val>
                                        </p:tav>
                                        <p:tav tm="100000">
                                          <p:val>
                                            <p:strVal val="#ppt_y"/>
                                          </p:val>
                                        </p:tav>
                                      </p:tavLst>
                                    </p:anim>
                                  </p:childTnLst>
                                </p:cTn>
                              </p:par>
                              <p:par>
                                <p:cTn id="305" presetID="2" presetClass="entr" presetSubtype="2" accel="50000" decel="50000" fill="hold" grpId="0" nodeType="withEffect">
                                  <p:stCondLst>
                                    <p:cond delay="0"/>
                                  </p:stCondLst>
                                  <p:childTnLst>
                                    <p:set>
                                      <p:cBhvr>
                                        <p:cTn id="306" dur="1" fill="hold">
                                          <p:stCondLst>
                                            <p:cond delay="0"/>
                                          </p:stCondLst>
                                        </p:cTn>
                                        <p:tgtEl>
                                          <p:spTgt spid="95"/>
                                        </p:tgtEl>
                                        <p:attrNameLst>
                                          <p:attrName>style.visibility</p:attrName>
                                        </p:attrNameLst>
                                      </p:cBhvr>
                                      <p:to>
                                        <p:strVal val="visible"/>
                                      </p:to>
                                    </p:set>
                                    <p:anim calcmode="lin" valueType="num">
                                      <p:cBhvr additive="base">
                                        <p:cTn id="307" dur="1000" fill="hold"/>
                                        <p:tgtEl>
                                          <p:spTgt spid="95"/>
                                        </p:tgtEl>
                                        <p:attrNameLst>
                                          <p:attrName>ppt_x</p:attrName>
                                        </p:attrNameLst>
                                      </p:cBhvr>
                                      <p:tavLst>
                                        <p:tav tm="0">
                                          <p:val>
                                            <p:strVal val="1+#ppt_w/2"/>
                                          </p:val>
                                        </p:tav>
                                        <p:tav tm="100000">
                                          <p:val>
                                            <p:strVal val="#ppt_x"/>
                                          </p:val>
                                        </p:tav>
                                      </p:tavLst>
                                    </p:anim>
                                    <p:anim calcmode="lin" valueType="num">
                                      <p:cBhvr additive="base">
                                        <p:cTn id="308" dur="1000" fill="hold"/>
                                        <p:tgtEl>
                                          <p:spTgt spid="95"/>
                                        </p:tgtEl>
                                        <p:attrNameLst>
                                          <p:attrName>ppt_y</p:attrName>
                                        </p:attrNameLst>
                                      </p:cBhvr>
                                      <p:tavLst>
                                        <p:tav tm="0">
                                          <p:val>
                                            <p:strVal val="#ppt_y"/>
                                          </p:val>
                                        </p:tav>
                                        <p:tav tm="100000">
                                          <p:val>
                                            <p:strVal val="#ppt_y"/>
                                          </p:val>
                                        </p:tav>
                                      </p:tavLst>
                                    </p:anim>
                                  </p:childTnLst>
                                </p:cTn>
                              </p:par>
                              <p:par>
                                <p:cTn id="309" presetID="2" presetClass="entr" presetSubtype="2" accel="50000" decel="50000" fill="hold" grpId="0" nodeType="withEffect">
                                  <p:stCondLst>
                                    <p:cond delay="0"/>
                                  </p:stCondLst>
                                  <p:childTnLst>
                                    <p:set>
                                      <p:cBhvr>
                                        <p:cTn id="310" dur="1" fill="hold">
                                          <p:stCondLst>
                                            <p:cond delay="0"/>
                                          </p:stCondLst>
                                        </p:cTn>
                                        <p:tgtEl>
                                          <p:spTgt spid="96"/>
                                        </p:tgtEl>
                                        <p:attrNameLst>
                                          <p:attrName>style.visibility</p:attrName>
                                        </p:attrNameLst>
                                      </p:cBhvr>
                                      <p:to>
                                        <p:strVal val="visible"/>
                                      </p:to>
                                    </p:set>
                                    <p:anim calcmode="lin" valueType="num">
                                      <p:cBhvr additive="base">
                                        <p:cTn id="311" dur="1000" fill="hold"/>
                                        <p:tgtEl>
                                          <p:spTgt spid="96"/>
                                        </p:tgtEl>
                                        <p:attrNameLst>
                                          <p:attrName>ppt_x</p:attrName>
                                        </p:attrNameLst>
                                      </p:cBhvr>
                                      <p:tavLst>
                                        <p:tav tm="0">
                                          <p:val>
                                            <p:strVal val="1+#ppt_w/2"/>
                                          </p:val>
                                        </p:tav>
                                        <p:tav tm="100000">
                                          <p:val>
                                            <p:strVal val="#ppt_x"/>
                                          </p:val>
                                        </p:tav>
                                      </p:tavLst>
                                    </p:anim>
                                    <p:anim calcmode="lin" valueType="num">
                                      <p:cBhvr additive="base">
                                        <p:cTn id="312" dur="1000" fill="hold"/>
                                        <p:tgtEl>
                                          <p:spTgt spid="96"/>
                                        </p:tgtEl>
                                        <p:attrNameLst>
                                          <p:attrName>ppt_y</p:attrName>
                                        </p:attrNameLst>
                                      </p:cBhvr>
                                      <p:tavLst>
                                        <p:tav tm="0">
                                          <p:val>
                                            <p:strVal val="#ppt_y"/>
                                          </p:val>
                                        </p:tav>
                                        <p:tav tm="100000">
                                          <p:val>
                                            <p:strVal val="#ppt_y"/>
                                          </p:val>
                                        </p:tav>
                                      </p:tavLst>
                                    </p:anim>
                                  </p:childTnLst>
                                </p:cTn>
                              </p:par>
                              <p:par>
                                <p:cTn id="313" presetID="2" presetClass="entr" presetSubtype="2" accel="50000" decel="50000" fill="hold" grpId="0" nodeType="withEffect">
                                  <p:stCondLst>
                                    <p:cond delay="0"/>
                                  </p:stCondLst>
                                  <p:childTnLst>
                                    <p:set>
                                      <p:cBhvr>
                                        <p:cTn id="314" dur="1" fill="hold">
                                          <p:stCondLst>
                                            <p:cond delay="0"/>
                                          </p:stCondLst>
                                        </p:cTn>
                                        <p:tgtEl>
                                          <p:spTgt spid="98"/>
                                        </p:tgtEl>
                                        <p:attrNameLst>
                                          <p:attrName>style.visibility</p:attrName>
                                        </p:attrNameLst>
                                      </p:cBhvr>
                                      <p:to>
                                        <p:strVal val="visible"/>
                                      </p:to>
                                    </p:set>
                                    <p:anim calcmode="lin" valueType="num">
                                      <p:cBhvr additive="base">
                                        <p:cTn id="315" dur="1000" fill="hold"/>
                                        <p:tgtEl>
                                          <p:spTgt spid="98"/>
                                        </p:tgtEl>
                                        <p:attrNameLst>
                                          <p:attrName>ppt_x</p:attrName>
                                        </p:attrNameLst>
                                      </p:cBhvr>
                                      <p:tavLst>
                                        <p:tav tm="0">
                                          <p:val>
                                            <p:strVal val="1+#ppt_w/2"/>
                                          </p:val>
                                        </p:tav>
                                        <p:tav tm="100000">
                                          <p:val>
                                            <p:strVal val="#ppt_x"/>
                                          </p:val>
                                        </p:tav>
                                      </p:tavLst>
                                    </p:anim>
                                    <p:anim calcmode="lin" valueType="num">
                                      <p:cBhvr additive="base">
                                        <p:cTn id="316" dur="1000" fill="hold"/>
                                        <p:tgtEl>
                                          <p:spTgt spid="98"/>
                                        </p:tgtEl>
                                        <p:attrNameLst>
                                          <p:attrName>ppt_y</p:attrName>
                                        </p:attrNameLst>
                                      </p:cBhvr>
                                      <p:tavLst>
                                        <p:tav tm="0">
                                          <p:val>
                                            <p:strVal val="#ppt_y"/>
                                          </p:val>
                                        </p:tav>
                                        <p:tav tm="100000">
                                          <p:val>
                                            <p:strVal val="#ppt_y"/>
                                          </p:val>
                                        </p:tav>
                                      </p:tavLst>
                                    </p:anim>
                                  </p:childTnLst>
                                </p:cTn>
                              </p:par>
                              <p:par>
                                <p:cTn id="317" presetID="2" presetClass="entr" presetSubtype="2" accel="50000" decel="50000" fill="hold" grpId="0" nodeType="withEffect">
                                  <p:stCondLst>
                                    <p:cond delay="0"/>
                                  </p:stCondLst>
                                  <p:childTnLst>
                                    <p:set>
                                      <p:cBhvr>
                                        <p:cTn id="318" dur="1" fill="hold">
                                          <p:stCondLst>
                                            <p:cond delay="0"/>
                                          </p:stCondLst>
                                        </p:cTn>
                                        <p:tgtEl>
                                          <p:spTgt spid="102"/>
                                        </p:tgtEl>
                                        <p:attrNameLst>
                                          <p:attrName>style.visibility</p:attrName>
                                        </p:attrNameLst>
                                      </p:cBhvr>
                                      <p:to>
                                        <p:strVal val="visible"/>
                                      </p:to>
                                    </p:set>
                                    <p:anim calcmode="lin" valueType="num">
                                      <p:cBhvr additive="base">
                                        <p:cTn id="319" dur="1000" fill="hold"/>
                                        <p:tgtEl>
                                          <p:spTgt spid="102"/>
                                        </p:tgtEl>
                                        <p:attrNameLst>
                                          <p:attrName>ppt_x</p:attrName>
                                        </p:attrNameLst>
                                      </p:cBhvr>
                                      <p:tavLst>
                                        <p:tav tm="0">
                                          <p:val>
                                            <p:strVal val="1+#ppt_w/2"/>
                                          </p:val>
                                        </p:tav>
                                        <p:tav tm="100000">
                                          <p:val>
                                            <p:strVal val="#ppt_x"/>
                                          </p:val>
                                        </p:tav>
                                      </p:tavLst>
                                    </p:anim>
                                    <p:anim calcmode="lin" valueType="num">
                                      <p:cBhvr additive="base">
                                        <p:cTn id="320" dur="1000" fill="hold"/>
                                        <p:tgtEl>
                                          <p:spTgt spid="102"/>
                                        </p:tgtEl>
                                        <p:attrNameLst>
                                          <p:attrName>ppt_y</p:attrName>
                                        </p:attrNameLst>
                                      </p:cBhvr>
                                      <p:tavLst>
                                        <p:tav tm="0">
                                          <p:val>
                                            <p:strVal val="#ppt_y"/>
                                          </p:val>
                                        </p:tav>
                                        <p:tav tm="100000">
                                          <p:val>
                                            <p:strVal val="#ppt_y"/>
                                          </p:val>
                                        </p:tav>
                                      </p:tavLst>
                                    </p:anim>
                                  </p:childTnLst>
                                </p:cTn>
                              </p:par>
                              <p:par>
                                <p:cTn id="321" presetID="2" presetClass="entr" presetSubtype="2" accel="50000" decel="50000" fill="hold" grpId="0" nodeType="withEffect">
                                  <p:stCondLst>
                                    <p:cond delay="0"/>
                                  </p:stCondLst>
                                  <p:childTnLst>
                                    <p:set>
                                      <p:cBhvr>
                                        <p:cTn id="322" dur="1" fill="hold">
                                          <p:stCondLst>
                                            <p:cond delay="0"/>
                                          </p:stCondLst>
                                        </p:cTn>
                                        <p:tgtEl>
                                          <p:spTgt spid="104"/>
                                        </p:tgtEl>
                                        <p:attrNameLst>
                                          <p:attrName>style.visibility</p:attrName>
                                        </p:attrNameLst>
                                      </p:cBhvr>
                                      <p:to>
                                        <p:strVal val="visible"/>
                                      </p:to>
                                    </p:set>
                                    <p:anim calcmode="lin" valueType="num">
                                      <p:cBhvr additive="base">
                                        <p:cTn id="323" dur="1000" fill="hold"/>
                                        <p:tgtEl>
                                          <p:spTgt spid="104"/>
                                        </p:tgtEl>
                                        <p:attrNameLst>
                                          <p:attrName>ppt_x</p:attrName>
                                        </p:attrNameLst>
                                      </p:cBhvr>
                                      <p:tavLst>
                                        <p:tav tm="0">
                                          <p:val>
                                            <p:strVal val="1+#ppt_w/2"/>
                                          </p:val>
                                        </p:tav>
                                        <p:tav tm="100000">
                                          <p:val>
                                            <p:strVal val="#ppt_x"/>
                                          </p:val>
                                        </p:tav>
                                      </p:tavLst>
                                    </p:anim>
                                    <p:anim calcmode="lin" valueType="num">
                                      <p:cBhvr additive="base">
                                        <p:cTn id="324" dur="1000" fill="hold"/>
                                        <p:tgtEl>
                                          <p:spTgt spid="104"/>
                                        </p:tgtEl>
                                        <p:attrNameLst>
                                          <p:attrName>ppt_y</p:attrName>
                                        </p:attrNameLst>
                                      </p:cBhvr>
                                      <p:tavLst>
                                        <p:tav tm="0">
                                          <p:val>
                                            <p:strVal val="#ppt_y"/>
                                          </p:val>
                                        </p:tav>
                                        <p:tav tm="100000">
                                          <p:val>
                                            <p:strVal val="#ppt_y"/>
                                          </p:val>
                                        </p:tav>
                                      </p:tavLst>
                                    </p:anim>
                                  </p:childTnLst>
                                </p:cTn>
                              </p:par>
                              <p:par>
                                <p:cTn id="325" presetID="2" presetClass="entr" presetSubtype="2" accel="50000" decel="50000" fill="hold" grpId="0" nodeType="withEffect">
                                  <p:stCondLst>
                                    <p:cond delay="0"/>
                                  </p:stCondLst>
                                  <p:childTnLst>
                                    <p:set>
                                      <p:cBhvr>
                                        <p:cTn id="326" dur="1" fill="hold">
                                          <p:stCondLst>
                                            <p:cond delay="0"/>
                                          </p:stCondLst>
                                        </p:cTn>
                                        <p:tgtEl>
                                          <p:spTgt spid="106"/>
                                        </p:tgtEl>
                                        <p:attrNameLst>
                                          <p:attrName>style.visibility</p:attrName>
                                        </p:attrNameLst>
                                      </p:cBhvr>
                                      <p:to>
                                        <p:strVal val="visible"/>
                                      </p:to>
                                    </p:set>
                                    <p:anim calcmode="lin" valueType="num">
                                      <p:cBhvr additive="base">
                                        <p:cTn id="327" dur="1000" fill="hold"/>
                                        <p:tgtEl>
                                          <p:spTgt spid="106"/>
                                        </p:tgtEl>
                                        <p:attrNameLst>
                                          <p:attrName>ppt_x</p:attrName>
                                        </p:attrNameLst>
                                      </p:cBhvr>
                                      <p:tavLst>
                                        <p:tav tm="0">
                                          <p:val>
                                            <p:strVal val="1+#ppt_w/2"/>
                                          </p:val>
                                        </p:tav>
                                        <p:tav tm="100000">
                                          <p:val>
                                            <p:strVal val="#ppt_x"/>
                                          </p:val>
                                        </p:tav>
                                      </p:tavLst>
                                    </p:anim>
                                    <p:anim calcmode="lin" valueType="num">
                                      <p:cBhvr additive="base">
                                        <p:cTn id="328" dur="1000" fill="hold"/>
                                        <p:tgtEl>
                                          <p:spTgt spid="106"/>
                                        </p:tgtEl>
                                        <p:attrNameLst>
                                          <p:attrName>ppt_y</p:attrName>
                                        </p:attrNameLst>
                                      </p:cBhvr>
                                      <p:tavLst>
                                        <p:tav tm="0">
                                          <p:val>
                                            <p:strVal val="#ppt_y"/>
                                          </p:val>
                                        </p:tav>
                                        <p:tav tm="100000">
                                          <p:val>
                                            <p:strVal val="#ppt_y"/>
                                          </p:val>
                                        </p:tav>
                                      </p:tavLst>
                                    </p:anim>
                                  </p:childTnLst>
                                </p:cTn>
                              </p:par>
                              <p:par>
                                <p:cTn id="329" presetID="2" presetClass="entr" presetSubtype="2" accel="50000" decel="50000" fill="hold" grpId="0" nodeType="withEffect">
                                  <p:stCondLst>
                                    <p:cond delay="0"/>
                                  </p:stCondLst>
                                  <p:childTnLst>
                                    <p:set>
                                      <p:cBhvr>
                                        <p:cTn id="330" dur="1" fill="hold">
                                          <p:stCondLst>
                                            <p:cond delay="0"/>
                                          </p:stCondLst>
                                        </p:cTn>
                                        <p:tgtEl>
                                          <p:spTgt spid="107"/>
                                        </p:tgtEl>
                                        <p:attrNameLst>
                                          <p:attrName>style.visibility</p:attrName>
                                        </p:attrNameLst>
                                      </p:cBhvr>
                                      <p:to>
                                        <p:strVal val="visible"/>
                                      </p:to>
                                    </p:set>
                                    <p:anim calcmode="lin" valueType="num">
                                      <p:cBhvr additive="base">
                                        <p:cTn id="331" dur="1000" fill="hold"/>
                                        <p:tgtEl>
                                          <p:spTgt spid="107"/>
                                        </p:tgtEl>
                                        <p:attrNameLst>
                                          <p:attrName>ppt_x</p:attrName>
                                        </p:attrNameLst>
                                      </p:cBhvr>
                                      <p:tavLst>
                                        <p:tav tm="0">
                                          <p:val>
                                            <p:strVal val="1+#ppt_w/2"/>
                                          </p:val>
                                        </p:tav>
                                        <p:tav tm="100000">
                                          <p:val>
                                            <p:strVal val="#ppt_x"/>
                                          </p:val>
                                        </p:tav>
                                      </p:tavLst>
                                    </p:anim>
                                    <p:anim calcmode="lin" valueType="num">
                                      <p:cBhvr additive="base">
                                        <p:cTn id="332" dur="1000" fill="hold"/>
                                        <p:tgtEl>
                                          <p:spTgt spid="107"/>
                                        </p:tgtEl>
                                        <p:attrNameLst>
                                          <p:attrName>ppt_y</p:attrName>
                                        </p:attrNameLst>
                                      </p:cBhvr>
                                      <p:tavLst>
                                        <p:tav tm="0">
                                          <p:val>
                                            <p:strVal val="#ppt_y"/>
                                          </p:val>
                                        </p:tav>
                                        <p:tav tm="100000">
                                          <p:val>
                                            <p:strVal val="#ppt_y"/>
                                          </p:val>
                                        </p:tav>
                                      </p:tavLst>
                                    </p:anim>
                                  </p:childTnLst>
                                </p:cTn>
                              </p:par>
                              <p:par>
                                <p:cTn id="333" presetID="2" presetClass="entr" presetSubtype="2" accel="50000" decel="50000" fill="hold" grpId="0" nodeType="withEffect">
                                  <p:stCondLst>
                                    <p:cond delay="0"/>
                                  </p:stCondLst>
                                  <p:childTnLst>
                                    <p:set>
                                      <p:cBhvr>
                                        <p:cTn id="334" dur="1" fill="hold">
                                          <p:stCondLst>
                                            <p:cond delay="0"/>
                                          </p:stCondLst>
                                        </p:cTn>
                                        <p:tgtEl>
                                          <p:spTgt spid="108"/>
                                        </p:tgtEl>
                                        <p:attrNameLst>
                                          <p:attrName>style.visibility</p:attrName>
                                        </p:attrNameLst>
                                      </p:cBhvr>
                                      <p:to>
                                        <p:strVal val="visible"/>
                                      </p:to>
                                    </p:set>
                                    <p:anim calcmode="lin" valueType="num">
                                      <p:cBhvr additive="base">
                                        <p:cTn id="335" dur="1000" fill="hold"/>
                                        <p:tgtEl>
                                          <p:spTgt spid="108"/>
                                        </p:tgtEl>
                                        <p:attrNameLst>
                                          <p:attrName>ppt_x</p:attrName>
                                        </p:attrNameLst>
                                      </p:cBhvr>
                                      <p:tavLst>
                                        <p:tav tm="0">
                                          <p:val>
                                            <p:strVal val="1+#ppt_w/2"/>
                                          </p:val>
                                        </p:tav>
                                        <p:tav tm="100000">
                                          <p:val>
                                            <p:strVal val="#ppt_x"/>
                                          </p:val>
                                        </p:tav>
                                      </p:tavLst>
                                    </p:anim>
                                    <p:anim calcmode="lin" valueType="num">
                                      <p:cBhvr additive="base">
                                        <p:cTn id="336" dur="1000" fill="hold"/>
                                        <p:tgtEl>
                                          <p:spTgt spid="108"/>
                                        </p:tgtEl>
                                        <p:attrNameLst>
                                          <p:attrName>ppt_y</p:attrName>
                                        </p:attrNameLst>
                                      </p:cBhvr>
                                      <p:tavLst>
                                        <p:tav tm="0">
                                          <p:val>
                                            <p:strVal val="#ppt_y"/>
                                          </p:val>
                                        </p:tav>
                                        <p:tav tm="100000">
                                          <p:val>
                                            <p:strVal val="#ppt_y"/>
                                          </p:val>
                                        </p:tav>
                                      </p:tavLst>
                                    </p:anim>
                                  </p:childTnLst>
                                </p:cTn>
                              </p:par>
                              <p:par>
                                <p:cTn id="337" presetID="2" presetClass="entr" presetSubtype="2" accel="50000" decel="50000" fill="hold" grpId="0" nodeType="withEffect">
                                  <p:stCondLst>
                                    <p:cond delay="0"/>
                                  </p:stCondLst>
                                  <p:childTnLst>
                                    <p:set>
                                      <p:cBhvr>
                                        <p:cTn id="338" dur="1" fill="hold">
                                          <p:stCondLst>
                                            <p:cond delay="0"/>
                                          </p:stCondLst>
                                        </p:cTn>
                                        <p:tgtEl>
                                          <p:spTgt spid="109"/>
                                        </p:tgtEl>
                                        <p:attrNameLst>
                                          <p:attrName>style.visibility</p:attrName>
                                        </p:attrNameLst>
                                      </p:cBhvr>
                                      <p:to>
                                        <p:strVal val="visible"/>
                                      </p:to>
                                    </p:set>
                                    <p:anim calcmode="lin" valueType="num">
                                      <p:cBhvr additive="base">
                                        <p:cTn id="339" dur="1000" fill="hold"/>
                                        <p:tgtEl>
                                          <p:spTgt spid="109"/>
                                        </p:tgtEl>
                                        <p:attrNameLst>
                                          <p:attrName>ppt_x</p:attrName>
                                        </p:attrNameLst>
                                      </p:cBhvr>
                                      <p:tavLst>
                                        <p:tav tm="0">
                                          <p:val>
                                            <p:strVal val="1+#ppt_w/2"/>
                                          </p:val>
                                        </p:tav>
                                        <p:tav tm="100000">
                                          <p:val>
                                            <p:strVal val="#ppt_x"/>
                                          </p:val>
                                        </p:tav>
                                      </p:tavLst>
                                    </p:anim>
                                    <p:anim calcmode="lin" valueType="num">
                                      <p:cBhvr additive="base">
                                        <p:cTn id="340" dur="1000" fill="hold"/>
                                        <p:tgtEl>
                                          <p:spTgt spid="109"/>
                                        </p:tgtEl>
                                        <p:attrNameLst>
                                          <p:attrName>ppt_y</p:attrName>
                                        </p:attrNameLst>
                                      </p:cBhvr>
                                      <p:tavLst>
                                        <p:tav tm="0">
                                          <p:val>
                                            <p:strVal val="#ppt_y"/>
                                          </p:val>
                                        </p:tav>
                                        <p:tav tm="100000">
                                          <p:val>
                                            <p:strVal val="#ppt_y"/>
                                          </p:val>
                                        </p:tav>
                                      </p:tavLst>
                                    </p:anim>
                                  </p:childTnLst>
                                </p:cTn>
                              </p:par>
                              <p:par>
                                <p:cTn id="341" presetID="2" presetClass="entr" presetSubtype="2" accel="50000" decel="50000" fill="hold" grpId="0" nodeType="withEffect">
                                  <p:stCondLst>
                                    <p:cond delay="0"/>
                                  </p:stCondLst>
                                  <p:childTnLst>
                                    <p:set>
                                      <p:cBhvr>
                                        <p:cTn id="342" dur="1" fill="hold">
                                          <p:stCondLst>
                                            <p:cond delay="0"/>
                                          </p:stCondLst>
                                        </p:cTn>
                                        <p:tgtEl>
                                          <p:spTgt spid="99"/>
                                        </p:tgtEl>
                                        <p:attrNameLst>
                                          <p:attrName>style.visibility</p:attrName>
                                        </p:attrNameLst>
                                      </p:cBhvr>
                                      <p:to>
                                        <p:strVal val="visible"/>
                                      </p:to>
                                    </p:set>
                                    <p:anim calcmode="lin" valueType="num">
                                      <p:cBhvr additive="base">
                                        <p:cTn id="343" dur="1000" fill="hold"/>
                                        <p:tgtEl>
                                          <p:spTgt spid="99"/>
                                        </p:tgtEl>
                                        <p:attrNameLst>
                                          <p:attrName>ppt_x</p:attrName>
                                        </p:attrNameLst>
                                      </p:cBhvr>
                                      <p:tavLst>
                                        <p:tav tm="0">
                                          <p:val>
                                            <p:strVal val="1+#ppt_w/2"/>
                                          </p:val>
                                        </p:tav>
                                        <p:tav tm="100000">
                                          <p:val>
                                            <p:strVal val="#ppt_x"/>
                                          </p:val>
                                        </p:tav>
                                      </p:tavLst>
                                    </p:anim>
                                    <p:anim calcmode="lin" valueType="num">
                                      <p:cBhvr additive="base">
                                        <p:cTn id="344" dur="1000" fill="hold"/>
                                        <p:tgtEl>
                                          <p:spTgt spid="99"/>
                                        </p:tgtEl>
                                        <p:attrNameLst>
                                          <p:attrName>ppt_y</p:attrName>
                                        </p:attrNameLst>
                                      </p:cBhvr>
                                      <p:tavLst>
                                        <p:tav tm="0">
                                          <p:val>
                                            <p:strVal val="#ppt_y"/>
                                          </p:val>
                                        </p:tav>
                                        <p:tav tm="100000">
                                          <p:val>
                                            <p:strVal val="#ppt_y"/>
                                          </p:val>
                                        </p:tav>
                                      </p:tavLst>
                                    </p:anim>
                                  </p:childTnLst>
                                </p:cTn>
                              </p:par>
                            </p:childTnLst>
                          </p:cTn>
                        </p:par>
                        <p:par>
                          <p:cTn id="345" fill="hold">
                            <p:stCondLst>
                              <p:cond delay="2500"/>
                            </p:stCondLst>
                            <p:childTnLst>
                              <p:par>
                                <p:cTn id="346" presetID="42" presetClass="path" presetSubtype="0" accel="50000" decel="50000" fill="hold" grpId="1" nodeType="afterEffect">
                                  <p:stCondLst>
                                    <p:cond delay="2000"/>
                                  </p:stCondLst>
                                  <p:childTnLst>
                                    <p:animMotion origin="layout" path="M 2.5E-6 3.7037E-7 L 0.23659 0.2162 " pathEditMode="relative" rAng="0" ptsTypes="AA">
                                      <p:cBhvr>
                                        <p:cTn id="347" dur="2000" fill="hold"/>
                                        <p:tgtEl>
                                          <p:spTgt spid="87"/>
                                        </p:tgtEl>
                                        <p:attrNameLst>
                                          <p:attrName>ppt_x</p:attrName>
                                          <p:attrName>ppt_y</p:attrName>
                                        </p:attrNameLst>
                                      </p:cBhvr>
                                      <p:rCtr x="11823" y="10810"/>
                                    </p:animMotion>
                                  </p:childTnLst>
                                </p:cTn>
                              </p:par>
                              <p:par>
                                <p:cTn id="348" presetID="42" presetClass="path" presetSubtype="0" accel="50000" decel="50000" fill="hold" grpId="1" nodeType="withEffect">
                                  <p:stCondLst>
                                    <p:cond delay="2000"/>
                                  </p:stCondLst>
                                  <p:childTnLst>
                                    <p:animMotion origin="layout" path="M 4.79167E-6 3.7037E-7 L 0.16549 0.09005 " pathEditMode="relative" rAng="0" ptsTypes="AA">
                                      <p:cBhvr>
                                        <p:cTn id="349" dur="2000" fill="hold"/>
                                        <p:tgtEl>
                                          <p:spTgt spid="89"/>
                                        </p:tgtEl>
                                        <p:attrNameLst>
                                          <p:attrName>ppt_x</p:attrName>
                                          <p:attrName>ppt_y</p:attrName>
                                        </p:attrNameLst>
                                      </p:cBhvr>
                                      <p:rCtr x="8268" y="4491"/>
                                    </p:animMotion>
                                  </p:childTnLst>
                                </p:cTn>
                              </p:par>
                              <p:par>
                                <p:cTn id="350" presetID="42" presetClass="path" presetSubtype="0" accel="50000" decel="50000" fill="hold" grpId="1" nodeType="withEffect">
                                  <p:stCondLst>
                                    <p:cond delay="2000"/>
                                  </p:stCondLst>
                                  <p:childTnLst>
                                    <p:animMotion origin="layout" path="M -3.125E-6 3.7037E-7 L 0.21211 0.13171 " pathEditMode="relative" rAng="0" ptsTypes="AA">
                                      <p:cBhvr>
                                        <p:cTn id="351" dur="2000" fill="hold"/>
                                        <p:tgtEl>
                                          <p:spTgt spid="90"/>
                                        </p:tgtEl>
                                        <p:attrNameLst>
                                          <p:attrName>ppt_x</p:attrName>
                                          <p:attrName>ppt_y</p:attrName>
                                        </p:attrNameLst>
                                      </p:cBhvr>
                                      <p:rCtr x="10599" y="6574"/>
                                    </p:animMotion>
                                  </p:childTnLst>
                                </p:cTn>
                              </p:par>
                              <p:par>
                                <p:cTn id="352" presetID="42" presetClass="path" presetSubtype="0" accel="50000" decel="50000" fill="hold" grpId="1" nodeType="withEffect">
                                  <p:stCondLst>
                                    <p:cond delay="2000"/>
                                  </p:stCondLst>
                                  <p:childTnLst>
                                    <p:animMotion origin="layout" path="M -8.33333E-7 3.7037E-7 L 0.21263 0.38588 " pathEditMode="relative" rAng="0" ptsTypes="AA">
                                      <p:cBhvr>
                                        <p:cTn id="353" dur="2000" fill="hold"/>
                                        <p:tgtEl>
                                          <p:spTgt spid="91"/>
                                        </p:tgtEl>
                                        <p:attrNameLst>
                                          <p:attrName>ppt_x</p:attrName>
                                          <p:attrName>ppt_y</p:attrName>
                                        </p:attrNameLst>
                                      </p:cBhvr>
                                      <p:rCtr x="10625" y="19282"/>
                                    </p:animMotion>
                                  </p:childTnLst>
                                </p:cTn>
                              </p:par>
                              <p:par>
                                <p:cTn id="354" presetID="42" presetClass="path" presetSubtype="0" accel="50000" decel="50000" fill="hold" grpId="1" nodeType="withEffect">
                                  <p:stCondLst>
                                    <p:cond delay="2000"/>
                                  </p:stCondLst>
                                  <p:childTnLst>
                                    <p:animMotion origin="layout" path="M 1.25E-6 3.7037E-7 L 0.00013 0.34329 " pathEditMode="relative" rAng="0" ptsTypes="AA">
                                      <p:cBhvr>
                                        <p:cTn id="355" dur="2000" fill="hold"/>
                                        <p:tgtEl>
                                          <p:spTgt spid="92"/>
                                        </p:tgtEl>
                                        <p:attrNameLst>
                                          <p:attrName>ppt_x</p:attrName>
                                          <p:attrName>ppt_y</p:attrName>
                                        </p:attrNameLst>
                                      </p:cBhvr>
                                      <p:rCtr x="0" y="17153"/>
                                    </p:animMotion>
                                  </p:childTnLst>
                                </p:cTn>
                              </p:par>
                              <p:par>
                                <p:cTn id="356" presetID="42" presetClass="path" presetSubtype="0" accel="50000" decel="50000" fill="hold" grpId="1" nodeType="withEffect">
                                  <p:stCondLst>
                                    <p:cond delay="2000"/>
                                  </p:stCondLst>
                                  <p:childTnLst>
                                    <p:animMotion origin="layout" path="M 3.54167E-6 3.7037E-7 L 0.02343 0.13171 " pathEditMode="relative" rAng="0" ptsTypes="AA">
                                      <p:cBhvr>
                                        <p:cTn id="357" dur="2000" fill="hold"/>
                                        <p:tgtEl>
                                          <p:spTgt spid="93"/>
                                        </p:tgtEl>
                                        <p:attrNameLst>
                                          <p:attrName>ppt_x</p:attrName>
                                          <p:attrName>ppt_y</p:attrName>
                                        </p:attrNameLst>
                                      </p:cBhvr>
                                      <p:rCtr x="1172" y="6574"/>
                                    </p:animMotion>
                                  </p:childTnLst>
                                </p:cTn>
                              </p:par>
                              <p:par>
                                <p:cTn id="358" presetID="42" presetClass="path" presetSubtype="0" accel="50000" decel="50000" fill="hold" grpId="1" nodeType="withEffect">
                                  <p:stCondLst>
                                    <p:cond delay="2000"/>
                                  </p:stCondLst>
                                  <p:childTnLst>
                                    <p:animMotion origin="layout" path="M -4.375E-6 3.7037E-7 L 0.04727 0.2588 " pathEditMode="relative" rAng="0" ptsTypes="AA">
                                      <p:cBhvr>
                                        <p:cTn id="359" dur="2000" fill="hold"/>
                                        <p:tgtEl>
                                          <p:spTgt spid="95"/>
                                        </p:tgtEl>
                                        <p:attrNameLst>
                                          <p:attrName>ppt_x</p:attrName>
                                          <p:attrName>ppt_y</p:attrName>
                                        </p:attrNameLst>
                                      </p:cBhvr>
                                      <p:rCtr x="2357" y="12940"/>
                                    </p:animMotion>
                                  </p:childTnLst>
                                </p:cTn>
                              </p:par>
                              <p:par>
                                <p:cTn id="360" presetID="42" presetClass="path" presetSubtype="0" accel="50000" decel="50000" fill="hold" grpId="1" nodeType="withEffect">
                                  <p:stCondLst>
                                    <p:cond delay="2000"/>
                                  </p:stCondLst>
                                  <p:childTnLst>
                                    <p:animMotion origin="layout" path="M -1.875E-6 3.7037E-7 L 0.04727 0.42662 " pathEditMode="relative" rAng="0" ptsTypes="AA">
                                      <p:cBhvr>
                                        <p:cTn id="361" dur="2000" fill="hold"/>
                                        <p:tgtEl>
                                          <p:spTgt spid="96"/>
                                        </p:tgtEl>
                                        <p:attrNameLst>
                                          <p:attrName>ppt_x</p:attrName>
                                          <p:attrName>ppt_y</p:attrName>
                                        </p:attrNameLst>
                                      </p:cBhvr>
                                      <p:rCtr x="2357" y="21319"/>
                                    </p:animMotion>
                                  </p:childTnLst>
                                </p:cTn>
                              </p:par>
                              <p:par>
                                <p:cTn id="362" presetID="42" presetClass="path" presetSubtype="0" accel="50000" decel="50000" fill="hold" grpId="1" nodeType="withEffect">
                                  <p:stCondLst>
                                    <p:cond delay="2000"/>
                                  </p:stCondLst>
                                  <p:childTnLst>
                                    <p:animMotion origin="layout" path="M 2.29167E-6 3.7037E-7 L -0.11797 0.13171 " pathEditMode="relative" rAng="0" ptsTypes="AA">
                                      <p:cBhvr>
                                        <p:cTn id="363" dur="2000" fill="hold"/>
                                        <p:tgtEl>
                                          <p:spTgt spid="99"/>
                                        </p:tgtEl>
                                        <p:attrNameLst>
                                          <p:attrName>ppt_x</p:attrName>
                                          <p:attrName>ppt_y</p:attrName>
                                        </p:attrNameLst>
                                      </p:cBhvr>
                                      <p:rCtr x="-5898" y="6574"/>
                                    </p:animMotion>
                                  </p:childTnLst>
                                </p:cTn>
                              </p:par>
                              <p:par>
                                <p:cTn id="364" presetID="42" presetClass="path" presetSubtype="0" accel="50000" decel="50000" fill="hold" grpId="1" nodeType="withEffect">
                                  <p:stCondLst>
                                    <p:cond delay="2000"/>
                                  </p:stCondLst>
                                  <p:childTnLst>
                                    <p:animMotion origin="layout" path="M 4.58333E-6 3.7037E-7 L -0.1181 0.0912 " pathEditMode="relative" rAng="0" ptsTypes="AA">
                                      <p:cBhvr>
                                        <p:cTn id="365" dur="2000" fill="hold"/>
                                        <p:tgtEl>
                                          <p:spTgt spid="98"/>
                                        </p:tgtEl>
                                        <p:attrNameLst>
                                          <p:attrName>ppt_x</p:attrName>
                                          <p:attrName>ppt_y</p:attrName>
                                        </p:attrNameLst>
                                      </p:cBhvr>
                                      <p:rCtr x="-5911" y="4560"/>
                                    </p:animMotion>
                                  </p:childTnLst>
                                </p:cTn>
                              </p:par>
                              <p:par>
                                <p:cTn id="366" presetID="42" presetClass="path" presetSubtype="0" accel="50000" decel="50000" fill="hold" grpId="1" nodeType="withEffect">
                                  <p:stCondLst>
                                    <p:cond delay="2000"/>
                                  </p:stCondLst>
                                  <p:childTnLst>
                                    <p:animMotion origin="layout" path="M -3.33333E-6 3.7037E-7 L -0.14179 0.2588 " pathEditMode="relative" rAng="0" ptsTypes="AA">
                                      <p:cBhvr>
                                        <p:cTn id="367" dur="2000" fill="hold"/>
                                        <p:tgtEl>
                                          <p:spTgt spid="102"/>
                                        </p:tgtEl>
                                        <p:attrNameLst>
                                          <p:attrName>ppt_x</p:attrName>
                                          <p:attrName>ppt_y</p:attrName>
                                        </p:attrNameLst>
                                      </p:cBhvr>
                                      <p:rCtr x="-7096" y="12940"/>
                                    </p:animMotion>
                                  </p:childTnLst>
                                </p:cTn>
                              </p:par>
                              <p:par>
                                <p:cTn id="368" presetID="42" presetClass="path" presetSubtype="0" accel="50000" decel="50000" fill="hold" grpId="1" nodeType="withEffect">
                                  <p:stCondLst>
                                    <p:cond delay="2000"/>
                                  </p:stCondLst>
                                  <p:childTnLst>
                                    <p:animMotion origin="layout" path="M -1.04167E-6 3.7037E-7 L -1.04167E-6 0.17454 " pathEditMode="relative" rAng="0" ptsTypes="AA">
                                      <p:cBhvr>
                                        <p:cTn id="369" dur="2000" fill="hold"/>
                                        <p:tgtEl>
                                          <p:spTgt spid="104"/>
                                        </p:tgtEl>
                                        <p:attrNameLst>
                                          <p:attrName>ppt_x</p:attrName>
                                          <p:attrName>ppt_y</p:attrName>
                                        </p:attrNameLst>
                                      </p:cBhvr>
                                      <p:rCtr x="0" y="8727"/>
                                    </p:animMotion>
                                  </p:childTnLst>
                                </p:cTn>
                              </p:par>
                              <p:par>
                                <p:cTn id="370" presetID="42" presetClass="path" presetSubtype="0" accel="50000" decel="50000" fill="hold" grpId="1" nodeType="withEffect">
                                  <p:stCondLst>
                                    <p:cond delay="2000"/>
                                  </p:stCondLst>
                                  <p:childTnLst>
                                    <p:animMotion origin="layout" path="M 1.04167E-6 3.7037E-7 L -0.07122 0.30046 " pathEditMode="relative" rAng="0" ptsTypes="AA">
                                      <p:cBhvr>
                                        <p:cTn id="371" dur="2000" fill="hold"/>
                                        <p:tgtEl>
                                          <p:spTgt spid="106"/>
                                        </p:tgtEl>
                                        <p:attrNameLst>
                                          <p:attrName>ppt_x</p:attrName>
                                          <p:attrName>ppt_y</p:attrName>
                                        </p:attrNameLst>
                                      </p:cBhvr>
                                      <p:rCtr x="-3568" y="15023"/>
                                    </p:animMotion>
                                  </p:childTnLst>
                                </p:cTn>
                              </p:par>
                              <p:par>
                                <p:cTn id="372" presetID="42" presetClass="path" presetSubtype="0" accel="50000" decel="50000" fill="hold" grpId="1" nodeType="withEffect">
                                  <p:stCondLst>
                                    <p:cond delay="2000"/>
                                  </p:stCondLst>
                                  <p:childTnLst>
                                    <p:animMotion origin="layout" path="M 3.33333E-6 3.7037E-7 L -0.14167 0.34329 " pathEditMode="relative" rAng="0" ptsTypes="AA">
                                      <p:cBhvr>
                                        <p:cTn id="373" dur="2000" fill="hold"/>
                                        <p:tgtEl>
                                          <p:spTgt spid="107"/>
                                        </p:tgtEl>
                                        <p:attrNameLst>
                                          <p:attrName>ppt_x</p:attrName>
                                          <p:attrName>ppt_y</p:attrName>
                                        </p:attrNameLst>
                                      </p:cBhvr>
                                      <p:rCtr x="-7083" y="17153"/>
                                    </p:animMotion>
                                  </p:childTnLst>
                                </p:cTn>
                              </p:par>
                              <p:par>
                                <p:cTn id="374" presetID="42" presetClass="path" presetSubtype="0" accel="50000" decel="50000" fill="hold" grpId="1" nodeType="withEffect">
                                  <p:stCondLst>
                                    <p:cond delay="2000"/>
                                  </p:stCondLst>
                                  <p:childTnLst>
                                    <p:animMotion origin="layout" path="M -4.375E-6 3.7037E-7 L -0.21224 0.21736 " pathEditMode="relative" rAng="0" ptsTypes="AA">
                                      <p:cBhvr>
                                        <p:cTn id="375" dur="2000" fill="hold"/>
                                        <p:tgtEl>
                                          <p:spTgt spid="108"/>
                                        </p:tgtEl>
                                        <p:attrNameLst>
                                          <p:attrName>ppt_x</p:attrName>
                                          <p:attrName>ppt_y</p:attrName>
                                        </p:attrNameLst>
                                      </p:cBhvr>
                                      <p:rCtr x="-10612" y="10856"/>
                                    </p:animMotion>
                                  </p:childTnLst>
                                </p:cTn>
                              </p:par>
                              <p:par>
                                <p:cTn id="376" presetID="42" presetClass="path" presetSubtype="0" accel="50000" decel="50000" fill="hold" grpId="1" nodeType="withEffect">
                                  <p:stCondLst>
                                    <p:cond delay="2000"/>
                                  </p:stCondLst>
                                  <p:childTnLst>
                                    <p:animMotion origin="layout" path="M -2.29167E-6 3.7037E-7 L -0.16562 0.2162 " pathEditMode="relative" rAng="0" ptsTypes="AA">
                                      <p:cBhvr>
                                        <p:cTn id="377" dur="2000" fill="hold"/>
                                        <p:tgtEl>
                                          <p:spTgt spid="109"/>
                                        </p:tgtEl>
                                        <p:attrNameLst>
                                          <p:attrName>ppt_x</p:attrName>
                                          <p:attrName>ppt_y</p:attrName>
                                        </p:attrNameLst>
                                      </p:cBhvr>
                                      <p:rCtr x="-8281" y="10810"/>
                                    </p:animMotion>
                                  </p:childTnLst>
                                </p:cTn>
                              </p:par>
                            </p:childTnLst>
                          </p:cTn>
                        </p:par>
                        <p:par>
                          <p:cTn id="378" fill="hold">
                            <p:stCondLst>
                              <p:cond delay="6500"/>
                            </p:stCondLst>
                            <p:childTnLst>
                              <p:par>
                                <p:cTn id="379" presetID="1" presetClass="exit" presetSubtype="0" fill="hold" nodeType="afterEffect">
                                  <p:stCondLst>
                                    <p:cond delay="0"/>
                                  </p:stCondLst>
                                  <p:childTnLst>
                                    <p:set>
                                      <p:cBhvr>
                                        <p:cTn id="380" dur="1" fill="hold">
                                          <p:stCondLst>
                                            <p:cond delay="0"/>
                                          </p:stCondLst>
                                        </p:cTn>
                                        <p:tgtEl>
                                          <p:spTgt spid="81"/>
                                        </p:tgtEl>
                                        <p:attrNameLst>
                                          <p:attrName>style.visibility</p:attrName>
                                        </p:attrNameLst>
                                      </p:cBhvr>
                                      <p:to>
                                        <p:strVal val="hidden"/>
                                      </p:to>
                                    </p:set>
                                  </p:childTnLst>
                                </p:cTn>
                              </p:par>
                              <p:par>
                                <p:cTn id="381" presetID="1" presetClass="exit" presetSubtype="0" fill="hold" nodeType="withEffect">
                                  <p:stCondLst>
                                    <p:cond delay="0"/>
                                  </p:stCondLst>
                                  <p:childTnLst>
                                    <p:set>
                                      <p:cBhvr>
                                        <p:cTn id="382" dur="1" fill="hold">
                                          <p:stCondLst>
                                            <p:cond delay="0"/>
                                          </p:stCondLst>
                                        </p:cTn>
                                        <p:tgtEl>
                                          <p:spTgt spid="23"/>
                                        </p:tgtEl>
                                        <p:attrNameLst>
                                          <p:attrName>style.visibility</p:attrName>
                                        </p:attrNameLst>
                                      </p:cBhvr>
                                      <p:to>
                                        <p:strVal val="hidden"/>
                                      </p:to>
                                    </p:set>
                                  </p:childTnLst>
                                </p:cTn>
                              </p:par>
                              <p:par>
                                <p:cTn id="383" presetID="1" presetClass="exit" presetSubtype="0" fill="hold" nodeType="withEffect">
                                  <p:stCondLst>
                                    <p:cond delay="0"/>
                                  </p:stCondLst>
                                  <p:childTnLst>
                                    <p:set>
                                      <p:cBhvr>
                                        <p:cTn id="384" dur="1" fill="hold">
                                          <p:stCondLst>
                                            <p:cond delay="0"/>
                                          </p:stCondLst>
                                        </p:cTn>
                                        <p:tgtEl>
                                          <p:spTgt spid="19"/>
                                        </p:tgtEl>
                                        <p:attrNameLst>
                                          <p:attrName>style.visibility</p:attrName>
                                        </p:attrNameLst>
                                      </p:cBhvr>
                                      <p:to>
                                        <p:strVal val="hidden"/>
                                      </p:to>
                                    </p:set>
                                  </p:childTnLst>
                                </p:cTn>
                              </p:par>
                            </p:childTnLst>
                          </p:cTn>
                        </p:par>
                        <p:par>
                          <p:cTn id="385" fill="hold">
                            <p:stCondLst>
                              <p:cond delay="6500"/>
                            </p:stCondLst>
                            <p:childTnLst>
                              <p:par>
                                <p:cTn id="386" presetID="1" presetClass="entr" presetSubtype="0" fill="hold" nodeType="afterEffect">
                                  <p:stCondLst>
                                    <p:cond delay="0"/>
                                  </p:stCondLst>
                                  <p:childTnLst>
                                    <p:set>
                                      <p:cBhvr>
                                        <p:cTn id="387" dur="1" fill="hold">
                                          <p:stCondLst>
                                            <p:cond delay="0"/>
                                          </p:stCondLst>
                                        </p:cTn>
                                        <p:tgtEl>
                                          <p:spTgt spid="110"/>
                                        </p:tgtEl>
                                        <p:attrNameLst>
                                          <p:attrName>style.visibility</p:attrName>
                                        </p:attrNameLst>
                                      </p:cBhvr>
                                      <p:to>
                                        <p:strVal val="visible"/>
                                      </p:to>
                                    </p:set>
                                  </p:childTnLst>
                                </p:cTn>
                              </p:par>
                              <p:par>
                                <p:cTn id="388" presetID="1" presetClass="entr" presetSubtype="0" fill="hold" nodeType="withEffect">
                                  <p:stCondLst>
                                    <p:cond delay="0"/>
                                  </p:stCondLst>
                                  <p:childTnLst>
                                    <p:set>
                                      <p:cBhvr>
                                        <p:cTn id="389" dur="1" fill="hold">
                                          <p:stCondLst>
                                            <p:cond delay="0"/>
                                          </p:stCondLst>
                                        </p:cTn>
                                        <p:tgtEl>
                                          <p:spTgt spid="111"/>
                                        </p:tgtEl>
                                        <p:attrNameLst>
                                          <p:attrName>style.visibility</p:attrName>
                                        </p:attrNameLst>
                                      </p:cBhvr>
                                      <p:to>
                                        <p:strVal val="visible"/>
                                      </p:to>
                                    </p:set>
                                  </p:childTnLst>
                                </p:cTn>
                              </p:par>
                            </p:childTnLst>
                          </p:cTn>
                        </p:par>
                        <p:par>
                          <p:cTn id="390" fill="hold">
                            <p:stCondLst>
                              <p:cond delay="6500"/>
                            </p:stCondLst>
                            <p:childTnLst>
                              <p:par>
                                <p:cTn id="391" presetID="2" presetClass="exit" presetSubtype="4" fill="hold" grpId="2" nodeType="afterEffect">
                                  <p:stCondLst>
                                    <p:cond delay="2000"/>
                                  </p:stCondLst>
                                  <p:childTnLst>
                                    <p:anim calcmode="lin" valueType="num">
                                      <p:cBhvr additive="base">
                                        <p:cTn id="392" dur="500"/>
                                        <p:tgtEl>
                                          <p:spTgt spid="87"/>
                                        </p:tgtEl>
                                        <p:attrNameLst>
                                          <p:attrName>ppt_x</p:attrName>
                                        </p:attrNameLst>
                                      </p:cBhvr>
                                      <p:tavLst>
                                        <p:tav tm="0">
                                          <p:val>
                                            <p:strVal val="ppt_x"/>
                                          </p:val>
                                        </p:tav>
                                        <p:tav tm="100000">
                                          <p:val>
                                            <p:strVal val="ppt_x"/>
                                          </p:val>
                                        </p:tav>
                                      </p:tavLst>
                                    </p:anim>
                                    <p:anim calcmode="lin" valueType="num">
                                      <p:cBhvr additive="base">
                                        <p:cTn id="393" dur="500"/>
                                        <p:tgtEl>
                                          <p:spTgt spid="87"/>
                                        </p:tgtEl>
                                        <p:attrNameLst>
                                          <p:attrName>ppt_y</p:attrName>
                                        </p:attrNameLst>
                                      </p:cBhvr>
                                      <p:tavLst>
                                        <p:tav tm="0">
                                          <p:val>
                                            <p:strVal val="ppt_y"/>
                                          </p:val>
                                        </p:tav>
                                        <p:tav tm="100000">
                                          <p:val>
                                            <p:strVal val="1+ppt_h/2"/>
                                          </p:val>
                                        </p:tav>
                                      </p:tavLst>
                                    </p:anim>
                                    <p:set>
                                      <p:cBhvr>
                                        <p:cTn id="394" dur="1" fill="hold">
                                          <p:stCondLst>
                                            <p:cond delay="499"/>
                                          </p:stCondLst>
                                        </p:cTn>
                                        <p:tgtEl>
                                          <p:spTgt spid="87"/>
                                        </p:tgtEl>
                                        <p:attrNameLst>
                                          <p:attrName>style.visibility</p:attrName>
                                        </p:attrNameLst>
                                      </p:cBhvr>
                                      <p:to>
                                        <p:strVal val="hidden"/>
                                      </p:to>
                                    </p:set>
                                  </p:childTnLst>
                                </p:cTn>
                              </p:par>
                              <p:par>
                                <p:cTn id="395" presetID="2" presetClass="exit" presetSubtype="4" fill="hold" grpId="2" nodeType="withEffect">
                                  <p:stCondLst>
                                    <p:cond delay="2000"/>
                                  </p:stCondLst>
                                  <p:childTnLst>
                                    <p:anim calcmode="lin" valueType="num">
                                      <p:cBhvr additive="base">
                                        <p:cTn id="396" dur="500"/>
                                        <p:tgtEl>
                                          <p:spTgt spid="89"/>
                                        </p:tgtEl>
                                        <p:attrNameLst>
                                          <p:attrName>ppt_x</p:attrName>
                                        </p:attrNameLst>
                                      </p:cBhvr>
                                      <p:tavLst>
                                        <p:tav tm="0">
                                          <p:val>
                                            <p:strVal val="ppt_x"/>
                                          </p:val>
                                        </p:tav>
                                        <p:tav tm="100000">
                                          <p:val>
                                            <p:strVal val="ppt_x"/>
                                          </p:val>
                                        </p:tav>
                                      </p:tavLst>
                                    </p:anim>
                                    <p:anim calcmode="lin" valueType="num">
                                      <p:cBhvr additive="base">
                                        <p:cTn id="397" dur="500"/>
                                        <p:tgtEl>
                                          <p:spTgt spid="89"/>
                                        </p:tgtEl>
                                        <p:attrNameLst>
                                          <p:attrName>ppt_y</p:attrName>
                                        </p:attrNameLst>
                                      </p:cBhvr>
                                      <p:tavLst>
                                        <p:tav tm="0">
                                          <p:val>
                                            <p:strVal val="ppt_y"/>
                                          </p:val>
                                        </p:tav>
                                        <p:tav tm="100000">
                                          <p:val>
                                            <p:strVal val="1+ppt_h/2"/>
                                          </p:val>
                                        </p:tav>
                                      </p:tavLst>
                                    </p:anim>
                                    <p:set>
                                      <p:cBhvr>
                                        <p:cTn id="398" dur="1" fill="hold">
                                          <p:stCondLst>
                                            <p:cond delay="499"/>
                                          </p:stCondLst>
                                        </p:cTn>
                                        <p:tgtEl>
                                          <p:spTgt spid="89"/>
                                        </p:tgtEl>
                                        <p:attrNameLst>
                                          <p:attrName>style.visibility</p:attrName>
                                        </p:attrNameLst>
                                      </p:cBhvr>
                                      <p:to>
                                        <p:strVal val="hidden"/>
                                      </p:to>
                                    </p:set>
                                  </p:childTnLst>
                                </p:cTn>
                              </p:par>
                              <p:par>
                                <p:cTn id="399" presetID="2" presetClass="exit" presetSubtype="4" fill="hold" grpId="2" nodeType="withEffect">
                                  <p:stCondLst>
                                    <p:cond delay="2000"/>
                                  </p:stCondLst>
                                  <p:childTnLst>
                                    <p:anim calcmode="lin" valueType="num">
                                      <p:cBhvr additive="base">
                                        <p:cTn id="400" dur="500"/>
                                        <p:tgtEl>
                                          <p:spTgt spid="90"/>
                                        </p:tgtEl>
                                        <p:attrNameLst>
                                          <p:attrName>ppt_x</p:attrName>
                                        </p:attrNameLst>
                                      </p:cBhvr>
                                      <p:tavLst>
                                        <p:tav tm="0">
                                          <p:val>
                                            <p:strVal val="ppt_x"/>
                                          </p:val>
                                        </p:tav>
                                        <p:tav tm="100000">
                                          <p:val>
                                            <p:strVal val="ppt_x"/>
                                          </p:val>
                                        </p:tav>
                                      </p:tavLst>
                                    </p:anim>
                                    <p:anim calcmode="lin" valueType="num">
                                      <p:cBhvr additive="base">
                                        <p:cTn id="401" dur="500"/>
                                        <p:tgtEl>
                                          <p:spTgt spid="90"/>
                                        </p:tgtEl>
                                        <p:attrNameLst>
                                          <p:attrName>ppt_y</p:attrName>
                                        </p:attrNameLst>
                                      </p:cBhvr>
                                      <p:tavLst>
                                        <p:tav tm="0">
                                          <p:val>
                                            <p:strVal val="ppt_y"/>
                                          </p:val>
                                        </p:tav>
                                        <p:tav tm="100000">
                                          <p:val>
                                            <p:strVal val="1+ppt_h/2"/>
                                          </p:val>
                                        </p:tav>
                                      </p:tavLst>
                                    </p:anim>
                                    <p:set>
                                      <p:cBhvr>
                                        <p:cTn id="402" dur="1" fill="hold">
                                          <p:stCondLst>
                                            <p:cond delay="499"/>
                                          </p:stCondLst>
                                        </p:cTn>
                                        <p:tgtEl>
                                          <p:spTgt spid="90"/>
                                        </p:tgtEl>
                                        <p:attrNameLst>
                                          <p:attrName>style.visibility</p:attrName>
                                        </p:attrNameLst>
                                      </p:cBhvr>
                                      <p:to>
                                        <p:strVal val="hidden"/>
                                      </p:to>
                                    </p:set>
                                  </p:childTnLst>
                                </p:cTn>
                              </p:par>
                              <p:par>
                                <p:cTn id="403" presetID="2" presetClass="exit" presetSubtype="4" fill="hold" grpId="2" nodeType="withEffect">
                                  <p:stCondLst>
                                    <p:cond delay="2000"/>
                                  </p:stCondLst>
                                  <p:childTnLst>
                                    <p:anim calcmode="lin" valueType="num">
                                      <p:cBhvr additive="base">
                                        <p:cTn id="404" dur="500"/>
                                        <p:tgtEl>
                                          <p:spTgt spid="91"/>
                                        </p:tgtEl>
                                        <p:attrNameLst>
                                          <p:attrName>ppt_x</p:attrName>
                                        </p:attrNameLst>
                                      </p:cBhvr>
                                      <p:tavLst>
                                        <p:tav tm="0">
                                          <p:val>
                                            <p:strVal val="ppt_x"/>
                                          </p:val>
                                        </p:tav>
                                        <p:tav tm="100000">
                                          <p:val>
                                            <p:strVal val="ppt_x"/>
                                          </p:val>
                                        </p:tav>
                                      </p:tavLst>
                                    </p:anim>
                                    <p:anim calcmode="lin" valueType="num">
                                      <p:cBhvr additive="base">
                                        <p:cTn id="405" dur="500"/>
                                        <p:tgtEl>
                                          <p:spTgt spid="91"/>
                                        </p:tgtEl>
                                        <p:attrNameLst>
                                          <p:attrName>ppt_y</p:attrName>
                                        </p:attrNameLst>
                                      </p:cBhvr>
                                      <p:tavLst>
                                        <p:tav tm="0">
                                          <p:val>
                                            <p:strVal val="ppt_y"/>
                                          </p:val>
                                        </p:tav>
                                        <p:tav tm="100000">
                                          <p:val>
                                            <p:strVal val="1+ppt_h/2"/>
                                          </p:val>
                                        </p:tav>
                                      </p:tavLst>
                                    </p:anim>
                                    <p:set>
                                      <p:cBhvr>
                                        <p:cTn id="406" dur="1" fill="hold">
                                          <p:stCondLst>
                                            <p:cond delay="499"/>
                                          </p:stCondLst>
                                        </p:cTn>
                                        <p:tgtEl>
                                          <p:spTgt spid="91"/>
                                        </p:tgtEl>
                                        <p:attrNameLst>
                                          <p:attrName>style.visibility</p:attrName>
                                        </p:attrNameLst>
                                      </p:cBhvr>
                                      <p:to>
                                        <p:strVal val="hidden"/>
                                      </p:to>
                                    </p:set>
                                  </p:childTnLst>
                                </p:cTn>
                              </p:par>
                              <p:par>
                                <p:cTn id="407" presetID="2" presetClass="exit" presetSubtype="4" fill="hold" grpId="2" nodeType="withEffect">
                                  <p:stCondLst>
                                    <p:cond delay="2000"/>
                                  </p:stCondLst>
                                  <p:childTnLst>
                                    <p:anim calcmode="lin" valueType="num">
                                      <p:cBhvr additive="base">
                                        <p:cTn id="408" dur="500"/>
                                        <p:tgtEl>
                                          <p:spTgt spid="92"/>
                                        </p:tgtEl>
                                        <p:attrNameLst>
                                          <p:attrName>ppt_x</p:attrName>
                                        </p:attrNameLst>
                                      </p:cBhvr>
                                      <p:tavLst>
                                        <p:tav tm="0">
                                          <p:val>
                                            <p:strVal val="ppt_x"/>
                                          </p:val>
                                        </p:tav>
                                        <p:tav tm="100000">
                                          <p:val>
                                            <p:strVal val="ppt_x"/>
                                          </p:val>
                                        </p:tav>
                                      </p:tavLst>
                                    </p:anim>
                                    <p:anim calcmode="lin" valueType="num">
                                      <p:cBhvr additive="base">
                                        <p:cTn id="409" dur="500"/>
                                        <p:tgtEl>
                                          <p:spTgt spid="92"/>
                                        </p:tgtEl>
                                        <p:attrNameLst>
                                          <p:attrName>ppt_y</p:attrName>
                                        </p:attrNameLst>
                                      </p:cBhvr>
                                      <p:tavLst>
                                        <p:tav tm="0">
                                          <p:val>
                                            <p:strVal val="ppt_y"/>
                                          </p:val>
                                        </p:tav>
                                        <p:tav tm="100000">
                                          <p:val>
                                            <p:strVal val="1+ppt_h/2"/>
                                          </p:val>
                                        </p:tav>
                                      </p:tavLst>
                                    </p:anim>
                                    <p:set>
                                      <p:cBhvr>
                                        <p:cTn id="410" dur="1" fill="hold">
                                          <p:stCondLst>
                                            <p:cond delay="499"/>
                                          </p:stCondLst>
                                        </p:cTn>
                                        <p:tgtEl>
                                          <p:spTgt spid="92"/>
                                        </p:tgtEl>
                                        <p:attrNameLst>
                                          <p:attrName>style.visibility</p:attrName>
                                        </p:attrNameLst>
                                      </p:cBhvr>
                                      <p:to>
                                        <p:strVal val="hidden"/>
                                      </p:to>
                                    </p:set>
                                  </p:childTnLst>
                                </p:cTn>
                              </p:par>
                              <p:par>
                                <p:cTn id="411" presetID="2" presetClass="exit" presetSubtype="4" fill="hold" grpId="2" nodeType="withEffect">
                                  <p:stCondLst>
                                    <p:cond delay="2000"/>
                                  </p:stCondLst>
                                  <p:childTnLst>
                                    <p:anim calcmode="lin" valueType="num">
                                      <p:cBhvr additive="base">
                                        <p:cTn id="412" dur="500"/>
                                        <p:tgtEl>
                                          <p:spTgt spid="93"/>
                                        </p:tgtEl>
                                        <p:attrNameLst>
                                          <p:attrName>ppt_x</p:attrName>
                                        </p:attrNameLst>
                                      </p:cBhvr>
                                      <p:tavLst>
                                        <p:tav tm="0">
                                          <p:val>
                                            <p:strVal val="ppt_x"/>
                                          </p:val>
                                        </p:tav>
                                        <p:tav tm="100000">
                                          <p:val>
                                            <p:strVal val="ppt_x"/>
                                          </p:val>
                                        </p:tav>
                                      </p:tavLst>
                                    </p:anim>
                                    <p:anim calcmode="lin" valueType="num">
                                      <p:cBhvr additive="base">
                                        <p:cTn id="413" dur="500"/>
                                        <p:tgtEl>
                                          <p:spTgt spid="93"/>
                                        </p:tgtEl>
                                        <p:attrNameLst>
                                          <p:attrName>ppt_y</p:attrName>
                                        </p:attrNameLst>
                                      </p:cBhvr>
                                      <p:tavLst>
                                        <p:tav tm="0">
                                          <p:val>
                                            <p:strVal val="ppt_y"/>
                                          </p:val>
                                        </p:tav>
                                        <p:tav tm="100000">
                                          <p:val>
                                            <p:strVal val="1+ppt_h/2"/>
                                          </p:val>
                                        </p:tav>
                                      </p:tavLst>
                                    </p:anim>
                                    <p:set>
                                      <p:cBhvr>
                                        <p:cTn id="414" dur="1" fill="hold">
                                          <p:stCondLst>
                                            <p:cond delay="499"/>
                                          </p:stCondLst>
                                        </p:cTn>
                                        <p:tgtEl>
                                          <p:spTgt spid="93"/>
                                        </p:tgtEl>
                                        <p:attrNameLst>
                                          <p:attrName>style.visibility</p:attrName>
                                        </p:attrNameLst>
                                      </p:cBhvr>
                                      <p:to>
                                        <p:strVal val="hidden"/>
                                      </p:to>
                                    </p:set>
                                  </p:childTnLst>
                                </p:cTn>
                              </p:par>
                              <p:par>
                                <p:cTn id="415" presetID="2" presetClass="exit" presetSubtype="4" fill="hold" grpId="2" nodeType="withEffect">
                                  <p:stCondLst>
                                    <p:cond delay="2000"/>
                                  </p:stCondLst>
                                  <p:childTnLst>
                                    <p:anim calcmode="lin" valueType="num">
                                      <p:cBhvr additive="base">
                                        <p:cTn id="416" dur="500"/>
                                        <p:tgtEl>
                                          <p:spTgt spid="95"/>
                                        </p:tgtEl>
                                        <p:attrNameLst>
                                          <p:attrName>ppt_x</p:attrName>
                                        </p:attrNameLst>
                                      </p:cBhvr>
                                      <p:tavLst>
                                        <p:tav tm="0">
                                          <p:val>
                                            <p:strVal val="ppt_x"/>
                                          </p:val>
                                        </p:tav>
                                        <p:tav tm="100000">
                                          <p:val>
                                            <p:strVal val="ppt_x"/>
                                          </p:val>
                                        </p:tav>
                                      </p:tavLst>
                                    </p:anim>
                                    <p:anim calcmode="lin" valueType="num">
                                      <p:cBhvr additive="base">
                                        <p:cTn id="417" dur="500"/>
                                        <p:tgtEl>
                                          <p:spTgt spid="95"/>
                                        </p:tgtEl>
                                        <p:attrNameLst>
                                          <p:attrName>ppt_y</p:attrName>
                                        </p:attrNameLst>
                                      </p:cBhvr>
                                      <p:tavLst>
                                        <p:tav tm="0">
                                          <p:val>
                                            <p:strVal val="ppt_y"/>
                                          </p:val>
                                        </p:tav>
                                        <p:tav tm="100000">
                                          <p:val>
                                            <p:strVal val="1+ppt_h/2"/>
                                          </p:val>
                                        </p:tav>
                                      </p:tavLst>
                                    </p:anim>
                                    <p:set>
                                      <p:cBhvr>
                                        <p:cTn id="418" dur="1" fill="hold">
                                          <p:stCondLst>
                                            <p:cond delay="499"/>
                                          </p:stCondLst>
                                        </p:cTn>
                                        <p:tgtEl>
                                          <p:spTgt spid="95"/>
                                        </p:tgtEl>
                                        <p:attrNameLst>
                                          <p:attrName>style.visibility</p:attrName>
                                        </p:attrNameLst>
                                      </p:cBhvr>
                                      <p:to>
                                        <p:strVal val="hidden"/>
                                      </p:to>
                                    </p:set>
                                  </p:childTnLst>
                                </p:cTn>
                              </p:par>
                              <p:par>
                                <p:cTn id="419" presetID="2" presetClass="exit" presetSubtype="4" fill="hold" grpId="2" nodeType="withEffect">
                                  <p:stCondLst>
                                    <p:cond delay="2000"/>
                                  </p:stCondLst>
                                  <p:childTnLst>
                                    <p:anim calcmode="lin" valueType="num">
                                      <p:cBhvr additive="base">
                                        <p:cTn id="420" dur="500"/>
                                        <p:tgtEl>
                                          <p:spTgt spid="96"/>
                                        </p:tgtEl>
                                        <p:attrNameLst>
                                          <p:attrName>ppt_x</p:attrName>
                                        </p:attrNameLst>
                                      </p:cBhvr>
                                      <p:tavLst>
                                        <p:tav tm="0">
                                          <p:val>
                                            <p:strVal val="ppt_x"/>
                                          </p:val>
                                        </p:tav>
                                        <p:tav tm="100000">
                                          <p:val>
                                            <p:strVal val="ppt_x"/>
                                          </p:val>
                                        </p:tav>
                                      </p:tavLst>
                                    </p:anim>
                                    <p:anim calcmode="lin" valueType="num">
                                      <p:cBhvr additive="base">
                                        <p:cTn id="421" dur="500"/>
                                        <p:tgtEl>
                                          <p:spTgt spid="96"/>
                                        </p:tgtEl>
                                        <p:attrNameLst>
                                          <p:attrName>ppt_y</p:attrName>
                                        </p:attrNameLst>
                                      </p:cBhvr>
                                      <p:tavLst>
                                        <p:tav tm="0">
                                          <p:val>
                                            <p:strVal val="ppt_y"/>
                                          </p:val>
                                        </p:tav>
                                        <p:tav tm="100000">
                                          <p:val>
                                            <p:strVal val="1+ppt_h/2"/>
                                          </p:val>
                                        </p:tav>
                                      </p:tavLst>
                                    </p:anim>
                                    <p:set>
                                      <p:cBhvr>
                                        <p:cTn id="422" dur="1" fill="hold">
                                          <p:stCondLst>
                                            <p:cond delay="499"/>
                                          </p:stCondLst>
                                        </p:cTn>
                                        <p:tgtEl>
                                          <p:spTgt spid="96"/>
                                        </p:tgtEl>
                                        <p:attrNameLst>
                                          <p:attrName>style.visibility</p:attrName>
                                        </p:attrNameLst>
                                      </p:cBhvr>
                                      <p:to>
                                        <p:strVal val="hidden"/>
                                      </p:to>
                                    </p:set>
                                  </p:childTnLst>
                                </p:cTn>
                              </p:par>
                              <p:par>
                                <p:cTn id="423" presetID="2" presetClass="exit" presetSubtype="4" fill="hold" grpId="2" nodeType="withEffect">
                                  <p:stCondLst>
                                    <p:cond delay="2000"/>
                                  </p:stCondLst>
                                  <p:childTnLst>
                                    <p:anim calcmode="lin" valueType="num">
                                      <p:cBhvr additive="base">
                                        <p:cTn id="424" dur="500"/>
                                        <p:tgtEl>
                                          <p:spTgt spid="99"/>
                                        </p:tgtEl>
                                        <p:attrNameLst>
                                          <p:attrName>ppt_x</p:attrName>
                                        </p:attrNameLst>
                                      </p:cBhvr>
                                      <p:tavLst>
                                        <p:tav tm="0">
                                          <p:val>
                                            <p:strVal val="ppt_x"/>
                                          </p:val>
                                        </p:tav>
                                        <p:tav tm="100000">
                                          <p:val>
                                            <p:strVal val="ppt_x"/>
                                          </p:val>
                                        </p:tav>
                                      </p:tavLst>
                                    </p:anim>
                                    <p:anim calcmode="lin" valueType="num">
                                      <p:cBhvr additive="base">
                                        <p:cTn id="425" dur="500"/>
                                        <p:tgtEl>
                                          <p:spTgt spid="99"/>
                                        </p:tgtEl>
                                        <p:attrNameLst>
                                          <p:attrName>ppt_y</p:attrName>
                                        </p:attrNameLst>
                                      </p:cBhvr>
                                      <p:tavLst>
                                        <p:tav tm="0">
                                          <p:val>
                                            <p:strVal val="ppt_y"/>
                                          </p:val>
                                        </p:tav>
                                        <p:tav tm="100000">
                                          <p:val>
                                            <p:strVal val="1+ppt_h/2"/>
                                          </p:val>
                                        </p:tav>
                                      </p:tavLst>
                                    </p:anim>
                                    <p:set>
                                      <p:cBhvr>
                                        <p:cTn id="426" dur="1" fill="hold">
                                          <p:stCondLst>
                                            <p:cond delay="499"/>
                                          </p:stCondLst>
                                        </p:cTn>
                                        <p:tgtEl>
                                          <p:spTgt spid="99"/>
                                        </p:tgtEl>
                                        <p:attrNameLst>
                                          <p:attrName>style.visibility</p:attrName>
                                        </p:attrNameLst>
                                      </p:cBhvr>
                                      <p:to>
                                        <p:strVal val="hidden"/>
                                      </p:to>
                                    </p:set>
                                  </p:childTnLst>
                                </p:cTn>
                              </p:par>
                              <p:par>
                                <p:cTn id="427" presetID="2" presetClass="exit" presetSubtype="4" fill="hold" grpId="2" nodeType="withEffect">
                                  <p:stCondLst>
                                    <p:cond delay="2000"/>
                                  </p:stCondLst>
                                  <p:childTnLst>
                                    <p:anim calcmode="lin" valueType="num">
                                      <p:cBhvr additive="base">
                                        <p:cTn id="428" dur="500"/>
                                        <p:tgtEl>
                                          <p:spTgt spid="98"/>
                                        </p:tgtEl>
                                        <p:attrNameLst>
                                          <p:attrName>ppt_x</p:attrName>
                                        </p:attrNameLst>
                                      </p:cBhvr>
                                      <p:tavLst>
                                        <p:tav tm="0">
                                          <p:val>
                                            <p:strVal val="ppt_x"/>
                                          </p:val>
                                        </p:tav>
                                        <p:tav tm="100000">
                                          <p:val>
                                            <p:strVal val="ppt_x"/>
                                          </p:val>
                                        </p:tav>
                                      </p:tavLst>
                                    </p:anim>
                                    <p:anim calcmode="lin" valueType="num">
                                      <p:cBhvr additive="base">
                                        <p:cTn id="429" dur="500"/>
                                        <p:tgtEl>
                                          <p:spTgt spid="98"/>
                                        </p:tgtEl>
                                        <p:attrNameLst>
                                          <p:attrName>ppt_y</p:attrName>
                                        </p:attrNameLst>
                                      </p:cBhvr>
                                      <p:tavLst>
                                        <p:tav tm="0">
                                          <p:val>
                                            <p:strVal val="ppt_y"/>
                                          </p:val>
                                        </p:tav>
                                        <p:tav tm="100000">
                                          <p:val>
                                            <p:strVal val="1+ppt_h/2"/>
                                          </p:val>
                                        </p:tav>
                                      </p:tavLst>
                                    </p:anim>
                                    <p:set>
                                      <p:cBhvr>
                                        <p:cTn id="430" dur="1" fill="hold">
                                          <p:stCondLst>
                                            <p:cond delay="499"/>
                                          </p:stCondLst>
                                        </p:cTn>
                                        <p:tgtEl>
                                          <p:spTgt spid="98"/>
                                        </p:tgtEl>
                                        <p:attrNameLst>
                                          <p:attrName>style.visibility</p:attrName>
                                        </p:attrNameLst>
                                      </p:cBhvr>
                                      <p:to>
                                        <p:strVal val="hidden"/>
                                      </p:to>
                                    </p:set>
                                  </p:childTnLst>
                                </p:cTn>
                              </p:par>
                              <p:par>
                                <p:cTn id="431" presetID="2" presetClass="exit" presetSubtype="4" fill="hold" grpId="2" nodeType="withEffect">
                                  <p:stCondLst>
                                    <p:cond delay="2000"/>
                                  </p:stCondLst>
                                  <p:childTnLst>
                                    <p:anim calcmode="lin" valueType="num">
                                      <p:cBhvr additive="base">
                                        <p:cTn id="432" dur="500"/>
                                        <p:tgtEl>
                                          <p:spTgt spid="102"/>
                                        </p:tgtEl>
                                        <p:attrNameLst>
                                          <p:attrName>ppt_x</p:attrName>
                                        </p:attrNameLst>
                                      </p:cBhvr>
                                      <p:tavLst>
                                        <p:tav tm="0">
                                          <p:val>
                                            <p:strVal val="ppt_x"/>
                                          </p:val>
                                        </p:tav>
                                        <p:tav tm="100000">
                                          <p:val>
                                            <p:strVal val="ppt_x"/>
                                          </p:val>
                                        </p:tav>
                                      </p:tavLst>
                                    </p:anim>
                                    <p:anim calcmode="lin" valueType="num">
                                      <p:cBhvr additive="base">
                                        <p:cTn id="433" dur="500"/>
                                        <p:tgtEl>
                                          <p:spTgt spid="102"/>
                                        </p:tgtEl>
                                        <p:attrNameLst>
                                          <p:attrName>ppt_y</p:attrName>
                                        </p:attrNameLst>
                                      </p:cBhvr>
                                      <p:tavLst>
                                        <p:tav tm="0">
                                          <p:val>
                                            <p:strVal val="ppt_y"/>
                                          </p:val>
                                        </p:tav>
                                        <p:tav tm="100000">
                                          <p:val>
                                            <p:strVal val="1+ppt_h/2"/>
                                          </p:val>
                                        </p:tav>
                                      </p:tavLst>
                                    </p:anim>
                                    <p:set>
                                      <p:cBhvr>
                                        <p:cTn id="434" dur="1" fill="hold">
                                          <p:stCondLst>
                                            <p:cond delay="499"/>
                                          </p:stCondLst>
                                        </p:cTn>
                                        <p:tgtEl>
                                          <p:spTgt spid="102"/>
                                        </p:tgtEl>
                                        <p:attrNameLst>
                                          <p:attrName>style.visibility</p:attrName>
                                        </p:attrNameLst>
                                      </p:cBhvr>
                                      <p:to>
                                        <p:strVal val="hidden"/>
                                      </p:to>
                                    </p:set>
                                  </p:childTnLst>
                                </p:cTn>
                              </p:par>
                              <p:par>
                                <p:cTn id="435" presetID="2" presetClass="exit" presetSubtype="4" fill="hold" grpId="2" nodeType="withEffect">
                                  <p:stCondLst>
                                    <p:cond delay="2000"/>
                                  </p:stCondLst>
                                  <p:childTnLst>
                                    <p:anim calcmode="lin" valueType="num">
                                      <p:cBhvr additive="base">
                                        <p:cTn id="436" dur="500"/>
                                        <p:tgtEl>
                                          <p:spTgt spid="104"/>
                                        </p:tgtEl>
                                        <p:attrNameLst>
                                          <p:attrName>ppt_x</p:attrName>
                                        </p:attrNameLst>
                                      </p:cBhvr>
                                      <p:tavLst>
                                        <p:tav tm="0">
                                          <p:val>
                                            <p:strVal val="ppt_x"/>
                                          </p:val>
                                        </p:tav>
                                        <p:tav tm="100000">
                                          <p:val>
                                            <p:strVal val="ppt_x"/>
                                          </p:val>
                                        </p:tav>
                                      </p:tavLst>
                                    </p:anim>
                                    <p:anim calcmode="lin" valueType="num">
                                      <p:cBhvr additive="base">
                                        <p:cTn id="437" dur="500"/>
                                        <p:tgtEl>
                                          <p:spTgt spid="104"/>
                                        </p:tgtEl>
                                        <p:attrNameLst>
                                          <p:attrName>ppt_y</p:attrName>
                                        </p:attrNameLst>
                                      </p:cBhvr>
                                      <p:tavLst>
                                        <p:tav tm="0">
                                          <p:val>
                                            <p:strVal val="ppt_y"/>
                                          </p:val>
                                        </p:tav>
                                        <p:tav tm="100000">
                                          <p:val>
                                            <p:strVal val="1+ppt_h/2"/>
                                          </p:val>
                                        </p:tav>
                                      </p:tavLst>
                                    </p:anim>
                                    <p:set>
                                      <p:cBhvr>
                                        <p:cTn id="438" dur="1" fill="hold">
                                          <p:stCondLst>
                                            <p:cond delay="499"/>
                                          </p:stCondLst>
                                        </p:cTn>
                                        <p:tgtEl>
                                          <p:spTgt spid="104"/>
                                        </p:tgtEl>
                                        <p:attrNameLst>
                                          <p:attrName>style.visibility</p:attrName>
                                        </p:attrNameLst>
                                      </p:cBhvr>
                                      <p:to>
                                        <p:strVal val="hidden"/>
                                      </p:to>
                                    </p:set>
                                  </p:childTnLst>
                                </p:cTn>
                              </p:par>
                              <p:par>
                                <p:cTn id="439" presetID="2" presetClass="exit" presetSubtype="4" fill="hold" grpId="2" nodeType="withEffect">
                                  <p:stCondLst>
                                    <p:cond delay="2000"/>
                                  </p:stCondLst>
                                  <p:childTnLst>
                                    <p:anim calcmode="lin" valueType="num">
                                      <p:cBhvr additive="base">
                                        <p:cTn id="440" dur="500"/>
                                        <p:tgtEl>
                                          <p:spTgt spid="106"/>
                                        </p:tgtEl>
                                        <p:attrNameLst>
                                          <p:attrName>ppt_x</p:attrName>
                                        </p:attrNameLst>
                                      </p:cBhvr>
                                      <p:tavLst>
                                        <p:tav tm="0">
                                          <p:val>
                                            <p:strVal val="ppt_x"/>
                                          </p:val>
                                        </p:tav>
                                        <p:tav tm="100000">
                                          <p:val>
                                            <p:strVal val="ppt_x"/>
                                          </p:val>
                                        </p:tav>
                                      </p:tavLst>
                                    </p:anim>
                                    <p:anim calcmode="lin" valueType="num">
                                      <p:cBhvr additive="base">
                                        <p:cTn id="441" dur="500"/>
                                        <p:tgtEl>
                                          <p:spTgt spid="106"/>
                                        </p:tgtEl>
                                        <p:attrNameLst>
                                          <p:attrName>ppt_y</p:attrName>
                                        </p:attrNameLst>
                                      </p:cBhvr>
                                      <p:tavLst>
                                        <p:tav tm="0">
                                          <p:val>
                                            <p:strVal val="ppt_y"/>
                                          </p:val>
                                        </p:tav>
                                        <p:tav tm="100000">
                                          <p:val>
                                            <p:strVal val="1+ppt_h/2"/>
                                          </p:val>
                                        </p:tav>
                                      </p:tavLst>
                                    </p:anim>
                                    <p:set>
                                      <p:cBhvr>
                                        <p:cTn id="442" dur="1" fill="hold">
                                          <p:stCondLst>
                                            <p:cond delay="499"/>
                                          </p:stCondLst>
                                        </p:cTn>
                                        <p:tgtEl>
                                          <p:spTgt spid="106"/>
                                        </p:tgtEl>
                                        <p:attrNameLst>
                                          <p:attrName>style.visibility</p:attrName>
                                        </p:attrNameLst>
                                      </p:cBhvr>
                                      <p:to>
                                        <p:strVal val="hidden"/>
                                      </p:to>
                                    </p:set>
                                  </p:childTnLst>
                                </p:cTn>
                              </p:par>
                              <p:par>
                                <p:cTn id="443" presetID="2" presetClass="exit" presetSubtype="4" fill="hold" grpId="2" nodeType="withEffect">
                                  <p:stCondLst>
                                    <p:cond delay="2000"/>
                                  </p:stCondLst>
                                  <p:childTnLst>
                                    <p:anim calcmode="lin" valueType="num">
                                      <p:cBhvr additive="base">
                                        <p:cTn id="444" dur="500"/>
                                        <p:tgtEl>
                                          <p:spTgt spid="107"/>
                                        </p:tgtEl>
                                        <p:attrNameLst>
                                          <p:attrName>ppt_x</p:attrName>
                                        </p:attrNameLst>
                                      </p:cBhvr>
                                      <p:tavLst>
                                        <p:tav tm="0">
                                          <p:val>
                                            <p:strVal val="ppt_x"/>
                                          </p:val>
                                        </p:tav>
                                        <p:tav tm="100000">
                                          <p:val>
                                            <p:strVal val="ppt_x"/>
                                          </p:val>
                                        </p:tav>
                                      </p:tavLst>
                                    </p:anim>
                                    <p:anim calcmode="lin" valueType="num">
                                      <p:cBhvr additive="base">
                                        <p:cTn id="445" dur="500"/>
                                        <p:tgtEl>
                                          <p:spTgt spid="107"/>
                                        </p:tgtEl>
                                        <p:attrNameLst>
                                          <p:attrName>ppt_y</p:attrName>
                                        </p:attrNameLst>
                                      </p:cBhvr>
                                      <p:tavLst>
                                        <p:tav tm="0">
                                          <p:val>
                                            <p:strVal val="ppt_y"/>
                                          </p:val>
                                        </p:tav>
                                        <p:tav tm="100000">
                                          <p:val>
                                            <p:strVal val="1+ppt_h/2"/>
                                          </p:val>
                                        </p:tav>
                                      </p:tavLst>
                                    </p:anim>
                                    <p:set>
                                      <p:cBhvr>
                                        <p:cTn id="446" dur="1" fill="hold">
                                          <p:stCondLst>
                                            <p:cond delay="499"/>
                                          </p:stCondLst>
                                        </p:cTn>
                                        <p:tgtEl>
                                          <p:spTgt spid="107"/>
                                        </p:tgtEl>
                                        <p:attrNameLst>
                                          <p:attrName>style.visibility</p:attrName>
                                        </p:attrNameLst>
                                      </p:cBhvr>
                                      <p:to>
                                        <p:strVal val="hidden"/>
                                      </p:to>
                                    </p:set>
                                  </p:childTnLst>
                                </p:cTn>
                              </p:par>
                              <p:par>
                                <p:cTn id="447" presetID="2" presetClass="exit" presetSubtype="4" fill="hold" grpId="2" nodeType="withEffect">
                                  <p:stCondLst>
                                    <p:cond delay="2000"/>
                                  </p:stCondLst>
                                  <p:childTnLst>
                                    <p:anim calcmode="lin" valueType="num">
                                      <p:cBhvr additive="base">
                                        <p:cTn id="448" dur="500"/>
                                        <p:tgtEl>
                                          <p:spTgt spid="108"/>
                                        </p:tgtEl>
                                        <p:attrNameLst>
                                          <p:attrName>ppt_x</p:attrName>
                                        </p:attrNameLst>
                                      </p:cBhvr>
                                      <p:tavLst>
                                        <p:tav tm="0">
                                          <p:val>
                                            <p:strVal val="ppt_x"/>
                                          </p:val>
                                        </p:tav>
                                        <p:tav tm="100000">
                                          <p:val>
                                            <p:strVal val="ppt_x"/>
                                          </p:val>
                                        </p:tav>
                                      </p:tavLst>
                                    </p:anim>
                                    <p:anim calcmode="lin" valueType="num">
                                      <p:cBhvr additive="base">
                                        <p:cTn id="449" dur="500"/>
                                        <p:tgtEl>
                                          <p:spTgt spid="108"/>
                                        </p:tgtEl>
                                        <p:attrNameLst>
                                          <p:attrName>ppt_y</p:attrName>
                                        </p:attrNameLst>
                                      </p:cBhvr>
                                      <p:tavLst>
                                        <p:tav tm="0">
                                          <p:val>
                                            <p:strVal val="ppt_y"/>
                                          </p:val>
                                        </p:tav>
                                        <p:tav tm="100000">
                                          <p:val>
                                            <p:strVal val="1+ppt_h/2"/>
                                          </p:val>
                                        </p:tav>
                                      </p:tavLst>
                                    </p:anim>
                                    <p:set>
                                      <p:cBhvr>
                                        <p:cTn id="450" dur="1" fill="hold">
                                          <p:stCondLst>
                                            <p:cond delay="499"/>
                                          </p:stCondLst>
                                        </p:cTn>
                                        <p:tgtEl>
                                          <p:spTgt spid="108"/>
                                        </p:tgtEl>
                                        <p:attrNameLst>
                                          <p:attrName>style.visibility</p:attrName>
                                        </p:attrNameLst>
                                      </p:cBhvr>
                                      <p:to>
                                        <p:strVal val="hidden"/>
                                      </p:to>
                                    </p:set>
                                  </p:childTnLst>
                                </p:cTn>
                              </p:par>
                              <p:par>
                                <p:cTn id="451" presetID="2" presetClass="exit" presetSubtype="4" fill="hold" grpId="2" nodeType="withEffect">
                                  <p:stCondLst>
                                    <p:cond delay="2000"/>
                                  </p:stCondLst>
                                  <p:childTnLst>
                                    <p:anim calcmode="lin" valueType="num">
                                      <p:cBhvr additive="base">
                                        <p:cTn id="452" dur="500"/>
                                        <p:tgtEl>
                                          <p:spTgt spid="109"/>
                                        </p:tgtEl>
                                        <p:attrNameLst>
                                          <p:attrName>ppt_x</p:attrName>
                                        </p:attrNameLst>
                                      </p:cBhvr>
                                      <p:tavLst>
                                        <p:tav tm="0">
                                          <p:val>
                                            <p:strVal val="ppt_x"/>
                                          </p:val>
                                        </p:tav>
                                        <p:tav tm="100000">
                                          <p:val>
                                            <p:strVal val="ppt_x"/>
                                          </p:val>
                                        </p:tav>
                                      </p:tavLst>
                                    </p:anim>
                                    <p:anim calcmode="lin" valueType="num">
                                      <p:cBhvr additive="base">
                                        <p:cTn id="453" dur="500"/>
                                        <p:tgtEl>
                                          <p:spTgt spid="109"/>
                                        </p:tgtEl>
                                        <p:attrNameLst>
                                          <p:attrName>ppt_y</p:attrName>
                                        </p:attrNameLst>
                                      </p:cBhvr>
                                      <p:tavLst>
                                        <p:tav tm="0">
                                          <p:val>
                                            <p:strVal val="ppt_y"/>
                                          </p:val>
                                        </p:tav>
                                        <p:tav tm="100000">
                                          <p:val>
                                            <p:strVal val="1+ppt_h/2"/>
                                          </p:val>
                                        </p:tav>
                                      </p:tavLst>
                                    </p:anim>
                                    <p:set>
                                      <p:cBhvr>
                                        <p:cTn id="454" dur="1" fill="hold">
                                          <p:stCondLst>
                                            <p:cond delay="499"/>
                                          </p:stCondLst>
                                        </p:cTn>
                                        <p:tgtEl>
                                          <p:spTgt spid="109"/>
                                        </p:tgtEl>
                                        <p:attrNameLst>
                                          <p:attrName>style.visibility</p:attrName>
                                        </p:attrNameLst>
                                      </p:cBhvr>
                                      <p:to>
                                        <p:strVal val="hidden"/>
                                      </p:to>
                                    </p:set>
                                  </p:childTnLst>
                                </p:cTn>
                              </p:par>
                              <p:par>
                                <p:cTn id="455" presetID="1" presetClass="entr" presetSubtype="0" fill="hold" nodeType="withEffect">
                                  <p:stCondLst>
                                    <p:cond delay="0"/>
                                  </p:stCondLst>
                                  <p:childTnLst>
                                    <p:set>
                                      <p:cBhvr>
                                        <p:cTn id="456"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8" grpId="2"/>
      <p:bldP spid="56" grpId="0"/>
      <p:bldP spid="56" grpId="1"/>
      <p:bldP spid="56" grpId="2"/>
      <p:bldP spid="57" grpId="0"/>
      <p:bldP spid="57" grpId="1"/>
      <p:bldP spid="57" grpId="2"/>
      <p:bldP spid="58" grpId="0"/>
      <p:bldP spid="58" grpId="1"/>
      <p:bldP spid="58" grpId="2"/>
      <p:bldP spid="59" grpId="0"/>
      <p:bldP spid="59" grpId="1"/>
      <p:bldP spid="59" grpId="2"/>
      <p:bldP spid="60" grpId="0"/>
      <p:bldP spid="60" grpId="1"/>
      <p:bldP spid="60" grpId="2"/>
      <p:bldP spid="61" grpId="0"/>
      <p:bldP spid="61" grpId="1"/>
      <p:bldP spid="61" grpId="2"/>
      <p:bldP spid="62" grpId="0"/>
      <p:bldP spid="62" grpId="1"/>
      <p:bldP spid="62" grpId="2"/>
      <p:bldP spid="63" grpId="0"/>
      <p:bldP spid="63" grpId="1"/>
      <p:bldP spid="63" grpId="2"/>
      <p:bldP spid="64" grpId="0"/>
      <p:bldP spid="64" grpId="1"/>
      <p:bldP spid="64" grpId="2"/>
      <p:bldP spid="65" grpId="0"/>
      <p:bldP spid="65" grpId="1"/>
      <p:bldP spid="65" grpId="2"/>
      <p:bldP spid="66" grpId="0"/>
      <p:bldP spid="66" grpId="1"/>
      <p:bldP spid="66" grpId="2"/>
      <p:bldP spid="67" grpId="0"/>
      <p:bldP spid="67" grpId="1"/>
      <p:bldP spid="67" grpId="2"/>
      <p:bldP spid="68" grpId="0"/>
      <p:bldP spid="68" grpId="1"/>
      <p:bldP spid="68" grpId="2"/>
      <p:bldP spid="69" grpId="0"/>
      <p:bldP spid="69" grpId="1"/>
      <p:bldP spid="69" grpId="2"/>
      <p:bldP spid="70" grpId="0"/>
      <p:bldP spid="70" grpId="1"/>
      <p:bldP spid="70" grpId="2"/>
      <p:bldP spid="103" grpId="0" animBg="1"/>
      <p:bldP spid="103" grpId="1" animBg="1"/>
      <p:bldP spid="101" grpId="0"/>
      <p:bldP spid="101" grpId="1"/>
      <p:bldP spid="3" grpId="0" animBg="1"/>
      <p:bldP spid="3" grpId="1" animBg="1"/>
      <p:bldP spid="105" grpId="0"/>
      <p:bldP spid="105" grpId="1"/>
      <p:bldP spid="87" grpId="0"/>
      <p:bldP spid="87" grpId="1"/>
      <p:bldP spid="87" grpId="2"/>
      <p:bldP spid="89" grpId="0"/>
      <p:bldP spid="89" grpId="1"/>
      <p:bldP spid="89" grpId="2"/>
      <p:bldP spid="90" grpId="0"/>
      <p:bldP spid="90" grpId="1"/>
      <p:bldP spid="90" grpId="2"/>
      <p:bldP spid="91" grpId="0"/>
      <p:bldP spid="91" grpId="1"/>
      <p:bldP spid="91" grpId="2"/>
      <p:bldP spid="92" grpId="0"/>
      <p:bldP spid="92" grpId="1"/>
      <p:bldP spid="92" grpId="2"/>
      <p:bldP spid="93" grpId="0"/>
      <p:bldP spid="93" grpId="1"/>
      <p:bldP spid="93" grpId="2"/>
      <p:bldP spid="95" grpId="0"/>
      <p:bldP spid="95" grpId="1"/>
      <p:bldP spid="95" grpId="2"/>
      <p:bldP spid="96" grpId="0"/>
      <p:bldP spid="96" grpId="1"/>
      <p:bldP spid="96" grpId="2"/>
      <p:bldP spid="98" grpId="0"/>
      <p:bldP spid="98" grpId="1"/>
      <p:bldP spid="98" grpId="2"/>
      <p:bldP spid="99" grpId="0"/>
      <p:bldP spid="99" grpId="1"/>
      <p:bldP spid="99" grpId="2"/>
      <p:bldP spid="102" grpId="0"/>
      <p:bldP spid="102" grpId="1"/>
      <p:bldP spid="102" grpId="2"/>
      <p:bldP spid="104" grpId="0"/>
      <p:bldP spid="104" grpId="1"/>
      <p:bldP spid="104" grpId="2"/>
      <p:bldP spid="106" grpId="0"/>
      <p:bldP spid="106" grpId="1"/>
      <p:bldP spid="106" grpId="2"/>
      <p:bldP spid="107" grpId="0"/>
      <p:bldP spid="107" grpId="1"/>
      <p:bldP spid="107" grpId="2"/>
      <p:bldP spid="108" grpId="0"/>
      <p:bldP spid="108" grpId="1"/>
      <p:bldP spid="108" grpId="2"/>
      <p:bldP spid="109" grpId="0"/>
      <p:bldP spid="109" grpId="1"/>
      <p:bldP spid="109" grpId="2"/>
      <p:bldP spid="14" grpId="0" animBg="1"/>
      <p:bldP spid="16" grpId="0"/>
      <p:bldP spid="17" grpId="0" animBg="1"/>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a:extLst>
            <a:ext uri="{FF2B5EF4-FFF2-40B4-BE49-F238E27FC236}">
              <a16:creationId xmlns:a16="http://schemas.microsoft.com/office/drawing/2014/main" id="{E65FB026-1354-5AA7-75C3-4C9254440207}"/>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3A2EBC67-72A9-5E20-6EB4-1AB4B9B97FCE}"/>
              </a:ext>
            </a:extLst>
          </p:cNvPr>
          <p:cNvSpPr/>
          <p:nvPr/>
        </p:nvSpPr>
        <p:spPr>
          <a:xfrm>
            <a:off x="7888022" y="3299802"/>
            <a:ext cx="1583367" cy="65789"/>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7" name="Straight Connector 96">
            <a:extLst>
              <a:ext uri="{FF2B5EF4-FFF2-40B4-BE49-F238E27FC236}">
                <a16:creationId xmlns:a16="http://schemas.microsoft.com/office/drawing/2014/main" id="{F93E0744-B4D8-2427-0D3C-42601E1BBDBE}"/>
              </a:ext>
            </a:extLst>
          </p:cNvPr>
          <p:cNvCxnSpPr>
            <a:cxnSpLocks/>
          </p:cNvCxnSpPr>
          <p:nvPr/>
        </p:nvCxnSpPr>
        <p:spPr>
          <a:xfrm>
            <a:off x="7910610" y="3354338"/>
            <a:ext cx="1538193" cy="0"/>
          </a:xfrm>
          <a:prstGeom prst="line">
            <a:avLst/>
          </a:prstGeom>
          <a:ln>
            <a:solidFill>
              <a:srgbClr val="A8D5BA"/>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A986AE50-9938-9378-4AB1-61FAE93E4B75}"/>
              </a:ext>
            </a:extLst>
          </p:cNvPr>
          <p:cNvCxnSpPr>
            <a:cxnSpLocks/>
          </p:cNvCxnSpPr>
          <p:nvPr/>
        </p:nvCxnSpPr>
        <p:spPr>
          <a:xfrm>
            <a:off x="7910610" y="3318338"/>
            <a:ext cx="1538193" cy="0"/>
          </a:xfrm>
          <a:prstGeom prst="line">
            <a:avLst/>
          </a:prstGeom>
          <a:ln>
            <a:solidFill>
              <a:srgbClr val="A8D5BA"/>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E131F01-6F2C-71DF-9A7A-50C8D5CE14D9}"/>
              </a:ext>
            </a:extLst>
          </p:cNvPr>
          <p:cNvSpPr>
            <a:spLocks noGrp="1"/>
          </p:cNvSpPr>
          <p:nvPr>
            <p:ph type="title"/>
          </p:nvPr>
        </p:nvSpPr>
        <p:spPr>
          <a:ln w="28575">
            <a:noFill/>
          </a:ln>
        </p:spPr>
        <p:txBody>
          <a:bodyPr>
            <a:normAutofit/>
          </a:bodyPr>
          <a:lstStyle/>
          <a:p>
            <a:r>
              <a:rPr lang="ja-JP" altLang="en-US" b="1">
                <a:solidFill>
                  <a:srgbClr val="FF55C8"/>
                </a:solidFill>
                <a:effectLst>
                  <a:glow rad="63500">
                    <a:srgbClr val="00FFD5">
                      <a:alpha val="40000"/>
                    </a:srgbClr>
                  </a:glow>
                </a:effectLst>
              </a:rPr>
              <a:t>量子</a:t>
            </a:r>
            <a:r>
              <a:rPr lang="ja-JP" altLang="en-US" b="1">
                <a:solidFill>
                  <a:schemeClr val="bg1"/>
                </a:solidFill>
              </a:rPr>
              <a:t>分散検証</a:t>
            </a:r>
            <a:endParaRPr lang="en-JP">
              <a:solidFill>
                <a:schemeClr val="bg1">
                  <a:alpha val="25000"/>
                </a:schemeClr>
              </a:solidFill>
            </a:endParaRPr>
          </a:p>
        </p:txBody>
      </p:sp>
      <p:sp>
        <p:nvSpPr>
          <p:cNvPr id="15" name="Subtitle 2">
            <a:extLst>
              <a:ext uri="{FF2B5EF4-FFF2-40B4-BE49-F238E27FC236}">
                <a16:creationId xmlns:a16="http://schemas.microsoft.com/office/drawing/2014/main" id="{D040DEA6-138C-7DCE-CD65-D56D29CD65B1}"/>
              </a:ext>
            </a:extLst>
          </p:cNvPr>
          <p:cNvSpPr txBox="1">
            <a:spLocks/>
          </p:cNvSpPr>
          <p:nvPr/>
        </p:nvSpPr>
        <p:spPr>
          <a:xfrm>
            <a:off x="838200" y="1302638"/>
            <a:ext cx="9144000" cy="3958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sz="2000">
                <a:solidFill>
                  <a:srgbClr val="A8D5BA"/>
                </a:solidFill>
              </a:rPr>
              <a:t>Distributed quantum verification</a:t>
            </a:r>
          </a:p>
        </p:txBody>
      </p:sp>
      <p:pic>
        <p:nvPicPr>
          <p:cNvPr id="29" name="Graphic 28" descr="Programmer male outline">
            <a:extLst>
              <a:ext uri="{FF2B5EF4-FFF2-40B4-BE49-F238E27FC236}">
                <a16:creationId xmlns:a16="http://schemas.microsoft.com/office/drawing/2014/main" id="{19045E27-A481-2817-022A-575200AB6E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7909" y="1899488"/>
            <a:ext cx="1548581" cy="1548581"/>
          </a:xfrm>
          <a:prstGeom prst="rect">
            <a:avLst/>
          </a:prstGeom>
        </p:spPr>
      </p:pic>
      <p:graphicFrame>
        <p:nvGraphicFramePr>
          <p:cNvPr id="35" name="Table 34">
            <a:extLst>
              <a:ext uri="{FF2B5EF4-FFF2-40B4-BE49-F238E27FC236}">
                <a16:creationId xmlns:a16="http://schemas.microsoft.com/office/drawing/2014/main" id="{216186C1-D26E-E6B2-41B9-0DF8CA71B71C}"/>
              </a:ext>
            </a:extLst>
          </p:cNvPr>
          <p:cNvGraphicFramePr>
            <a:graphicFrameLocks noGrp="1"/>
          </p:cNvGraphicFramePr>
          <p:nvPr>
            <p:extLst>
              <p:ext uri="{D42A27DB-BD31-4B8C-83A1-F6EECF244321}">
                <p14:modId xmlns:p14="http://schemas.microsoft.com/office/powerpoint/2010/main" val="3259341132"/>
              </p:ext>
            </p:extLst>
          </p:nvPr>
        </p:nvGraphicFramePr>
        <p:xfrm>
          <a:off x="8830200" y="4369283"/>
          <a:ext cx="2304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3652211415"/>
                    </a:ext>
                  </a:extLst>
                </a:gridCol>
                <a:gridCol w="288000">
                  <a:extLst>
                    <a:ext uri="{9D8B030D-6E8A-4147-A177-3AD203B41FA5}">
                      <a16:colId xmlns:a16="http://schemas.microsoft.com/office/drawing/2014/main" val="4233583676"/>
                    </a:ext>
                  </a:extLst>
                </a:gridCol>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gridCol w="288000">
                  <a:extLst>
                    <a:ext uri="{9D8B030D-6E8A-4147-A177-3AD203B41FA5}">
                      <a16:colId xmlns:a16="http://schemas.microsoft.com/office/drawing/2014/main" val="4050348675"/>
                    </a:ext>
                  </a:extLst>
                </a:gridCol>
                <a:gridCol w="288000">
                  <a:extLst>
                    <a:ext uri="{9D8B030D-6E8A-4147-A177-3AD203B41FA5}">
                      <a16:colId xmlns:a16="http://schemas.microsoft.com/office/drawing/2014/main" val="3815471025"/>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graphicFrame>
        <p:nvGraphicFramePr>
          <p:cNvPr id="37" name="Table 36">
            <a:extLst>
              <a:ext uri="{FF2B5EF4-FFF2-40B4-BE49-F238E27FC236}">
                <a16:creationId xmlns:a16="http://schemas.microsoft.com/office/drawing/2014/main" id="{27CCA7FF-0D4B-92D3-064B-0BE81798E884}"/>
              </a:ext>
            </a:extLst>
          </p:cNvPr>
          <p:cNvGraphicFramePr>
            <a:graphicFrameLocks noGrp="1"/>
          </p:cNvGraphicFramePr>
          <p:nvPr>
            <p:extLst>
              <p:ext uri="{D42A27DB-BD31-4B8C-83A1-F6EECF244321}">
                <p14:modId xmlns:p14="http://schemas.microsoft.com/office/powerpoint/2010/main" val="1352473993"/>
              </p:ext>
            </p:extLst>
          </p:nvPr>
        </p:nvGraphicFramePr>
        <p:xfrm>
          <a:off x="6238200" y="4369283"/>
          <a:ext cx="2304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gridCol w="288000">
                  <a:extLst>
                    <a:ext uri="{9D8B030D-6E8A-4147-A177-3AD203B41FA5}">
                      <a16:colId xmlns:a16="http://schemas.microsoft.com/office/drawing/2014/main" val="4050348675"/>
                    </a:ext>
                  </a:extLst>
                </a:gridCol>
                <a:gridCol w="288000">
                  <a:extLst>
                    <a:ext uri="{9D8B030D-6E8A-4147-A177-3AD203B41FA5}">
                      <a16:colId xmlns:a16="http://schemas.microsoft.com/office/drawing/2014/main" val="2511810932"/>
                    </a:ext>
                  </a:extLst>
                </a:gridCol>
                <a:gridCol w="288000">
                  <a:extLst>
                    <a:ext uri="{9D8B030D-6E8A-4147-A177-3AD203B41FA5}">
                      <a16:colId xmlns:a16="http://schemas.microsoft.com/office/drawing/2014/main" val="3845293520"/>
                    </a:ext>
                  </a:extLst>
                </a:gridCol>
                <a:gridCol w="288000">
                  <a:extLst>
                    <a:ext uri="{9D8B030D-6E8A-4147-A177-3AD203B41FA5}">
                      <a16:colId xmlns:a16="http://schemas.microsoft.com/office/drawing/2014/main" val="3815471025"/>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sp>
        <p:nvSpPr>
          <p:cNvPr id="38" name="TextBox 37">
            <a:extLst>
              <a:ext uri="{FF2B5EF4-FFF2-40B4-BE49-F238E27FC236}">
                <a16:creationId xmlns:a16="http://schemas.microsoft.com/office/drawing/2014/main" id="{D1C4868D-7102-D795-8F08-AF26EA02C179}"/>
              </a:ext>
            </a:extLst>
          </p:cNvPr>
          <p:cNvSpPr txBox="1"/>
          <p:nvPr/>
        </p:nvSpPr>
        <p:spPr>
          <a:xfrm>
            <a:off x="6238200" y="4348806"/>
            <a:ext cx="288000" cy="338554"/>
          </a:xfrm>
          <a:prstGeom prst="rect">
            <a:avLst/>
          </a:prstGeom>
          <a:noFill/>
        </p:spPr>
        <p:txBody>
          <a:bodyPr wrap="square" rtlCol="0" anchor="ctr">
            <a:spAutoFit/>
          </a:bodyPr>
          <a:lstStyle/>
          <a:p>
            <a:pPr algn="ctr"/>
            <a:r>
              <a:rPr lang="en-JP" sz="1600" b="1">
                <a:solidFill>
                  <a:srgbClr val="A8D5BA"/>
                </a:solidFill>
              </a:rPr>
              <a:t>1</a:t>
            </a:r>
          </a:p>
        </p:txBody>
      </p:sp>
      <p:pic>
        <p:nvPicPr>
          <p:cNvPr id="40" name="Graphic 39" descr="Programmer female outline">
            <a:extLst>
              <a:ext uri="{FF2B5EF4-FFF2-40B4-BE49-F238E27FC236}">
                <a16:creationId xmlns:a16="http://schemas.microsoft.com/office/drawing/2014/main" id="{4F555CB8-3435-B571-5E39-A156E85539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6199" y="1899488"/>
            <a:ext cx="1548000" cy="1548000"/>
          </a:xfrm>
          <a:prstGeom prst="rect">
            <a:avLst/>
          </a:prstGeom>
        </p:spPr>
      </p:pic>
      <p:sp>
        <p:nvSpPr>
          <p:cNvPr id="56" name="TextBox 55">
            <a:extLst>
              <a:ext uri="{FF2B5EF4-FFF2-40B4-BE49-F238E27FC236}">
                <a16:creationId xmlns:a16="http://schemas.microsoft.com/office/drawing/2014/main" id="{DF096AF5-43B2-94EA-080A-8CFF00CB1F1F}"/>
              </a:ext>
            </a:extLst>
          </p:cNvPr>
          <p:cNvSpPr txBox="1"/>
          <p:nvPr/>
        </p:nvSpPr>
        <p:spPr>
          <a:xfrm>
            <a:off x="6526200" y="4348806"/>
            <a:ext cx="288000" cy="338554"/>
          </a:xfrm>
          <a:prstGeom prst="rect">
            <a:avLst/>
          </a:prstGeom>
          <a:noFill/>
        </p:spPr>
        <p:txBody>
          <a:bodyPr wrap="square" rtlCol="0" anchor="ctr">
            <a:spAutoFit/>
          </a:bodyPr>
          <a:lstStyle/>
          <a:p>
            <a:pPr algn="ctr"/>
            <a:r>
              <a:rPr lang="en-JP" sz="1600" b="1">
                <a:solidFill>
                  <a:srgbClr val="A8D5BA"/>
                </a:solidFill>
              </a:rPr>
              <a:t>2</a:t>
            </a:r>
          </a:p>
        </p:txBody>
      </p:sp>
      <p:sp>
        <p:nvSpPr>
          <p:cNvPr id="57" name="TextBox 56">
            <a:extLst>
              <a:ext uri="{FF2B5EF4-FFF2-40B4-BE49-F238E27FC236}">
                <a16:creationId xmlns:a16="http://schemas.microsoft.com/office/drawing/2014/main" id="{09E1EDF2-A754-CB26-4570-9DA442507C4D}"/>
              </a:ext>
            </a:extLst>
          </p:cNvPr>
          <p:cNvSpPr txBox="1"/>
          <p:nvPr/>
        </p:nvSpPr>
        <p:spPr>
          <a:xfrm>
            <a:off x="6814801" y="4348806"/>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58" name="TextBox 57">
            <a:extLst>
              <a:ext uri="{FF2B5EF4-FFF2-40B4-BE49-F238E27FC236}">
                <a16:creationId xmlns:a16="http://schemas.microsoft.com/office/drawing/2014/main" id="{719B957C-D5FF-F570-6A20-1C99B260EF35}"/>
              </a:ext>
            </a:extLst>
          </p:cNvPr>
          <p:cNvSpPr txBox="1"/>
          <p:nvPr/>
        </p:nvSpPr>
        <p:spPr>
          <a:xfrm>
            <a:off x="7102200" y="4348806"/>
            <a:ext cx="288000" cy="338554"/>
          </a:xfrm>
          <a:prstGeom prst="rect">
            <a:avLst/>
          </a:prstGeom>
          <a:noFill/>
        </p:spPr>
        <p:txBody>
          <a:bodyPr wrap="square" rtlCol="0" anchor="ctr">
            <a:spAutoFit/>
          </a:bodyPr>
          <a:lstStyle/>
          <a:p>
            <a:pPr algn="ctr"/>
            <a:r>
              <a:rPr lang="en-JP" sz="1600" b="1">
                <a:solidFill>
                  <a:srgbClr val="A8D5BA"/>
                </a:solidFill>
              </a:rPr>
              <a:t>9</a:t>
            </a:r>
          </a:p>
        </p:txBody>
      </p:sp>
      <p:sp>
        <p:nvSpPr>
          <p:cNvPr id="59" name="TextBox 58">
            <a:extLst>
              <a:ext uri="{FF2B5EF4-FFF2-40B4-BE49-F238E27FC236}">
                <a16:creationId xmlns:a16="http://schemas.microsoft.com/office/drawing/2014/main" id="{7030A5C6-61BA-6CB3-AF67-A9086870B06A}"/>
              </a:ext>
            </a:extLst>
          </p:cNvPr>
          <p:cNvSpPr txBox="1"/>
          <p:nvPr/>
        </p:nvSpPr>
        <p:spPr>
          <a:xfrm>
            <a:off x="7390801"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0" name="TextBox 59">
            <a:extLst>
              <a:ext uri="{FF2B5EF4-FFF2-40B4-BE49-F238E27FC236}">
                <a16:creationId xmlns:a16="http://schemas.microsoft.com/office/drawing/2014/main" id="{52EF2DFF-B329-8A4D-56FE-BB45039A23E9}"/>
              </a:ext>
            </a:extLst>
          </p:cNvPr>
          <p:cNvSpPr txBox="1"/>
          <p:nvPr/>
        </p:nvSpPr>
        <p:spPr>
          <a:xfrm>
            <a:off x="7677599" y="4348806"/>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61" name="TextBox 60">
            <a:extLst>
              <a:ext uri="{FF2B5EF4-FFF2-40B4-BE49-F238E27FC236}">
                <a16:creationId xmlns:a16="http://schemas.microsoft.com/office/drawing/2014/main" id="{1313365A-A12A-F9F6-69E1-1B8240061365}"/>
              </a:ext>
            </a:extLst>
          </p:cNvPr>
          <p:cNvSpPr txBox="1"/>
          <p:nvPr/>
        </p:nvSpPr>
        <p:spPr>
          <a:xfrm>
            <a:off x="7966801"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2" name="TextBox 61">
            <a:extLst>
              <a:ext uri="{FF2B5EF4-FFF2-40B4-BE49-F238E27FC236}">
                <a16:creationId xmlns:a16="http://schemas.microsoft.com/office/drawing/2014/main" id="{E92F55D5-1E9F-9DD3-4C86-A7BD6F20A598}"/>
              </a:ext>
            </a:extLst>
          </p:cNvPr>
          <p:cNvSpPr txBox="1"/>
          <p:nvPr/>
        </p:nvSpPr>
        <p:spPr>
          <a:xfrm>
            <a:off x="8253298"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3" name="TextBox 62">
            <a:extLst>
              <a:ext uri="{FF2B5EF4-FFF2-40B4-BE49-F238E27FC236}">
                <a16:creationId xmlns:a16="http://schemas.microsoft.com/office/drawing/2014/main" id="{B684AFB4-68BA-046D-3150-0DF630195115}"/>
              </a:ext>
            </a:extLst>
          </p:cNvPr>
          <p:cNvSpPr txBox="1"/>
          <p:nvPr/>
        </p:nvSpPr>
        <p:spPr>
          <a:xfrm>
            <a:off x="9117599" y="4348806"/>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64" name="TextBox 63">
            <a:extLst>
              <a:ext uri="{FF2B5EF4-FFF2-40B4-BE49-F238E27FC236}">
                <a16:creationId xmlns:a16="http://schemas.microsoft.com/office/drawing/2014/main" id="{26BDF960-8803-FFC1-A47C-DA09EA58B939}"/>
              </a:ext>
            </a:extLst>
          </p:cNvPr>
          <p:cNvSpPr txBox="1"/>
          <p:nvPr/>
        </p:nvSpPr>
        <p:spPr>
          <a:xfrm>
            <a:off x="8830801" y="4348806"/>
            <a:ext cx="288000" cy="338554"/>
          </a:xfrm>
          <a:prstGeom prst="rect">
            <a:avLst/>
          </a:prstGeom>
          <a:noFill/>
        </p:spPr>
        <p:txBody>
          <a:bodyPr wrap="square" rtlCol="0" anchor="ctr">
            <a:spAutoFit/>
          </a:bodyPr>
          <a:lstStyle/>
          <a:p>
            <a:pPr algn="ctr"/>
            <a:r>
              <a:rPr lang="en-JP" sz="1600" b="1">
                <a:solidFill>
                  <a:srgbClr val="A8D5BA"/>
                </a:solidFill>
              </a:rPr>
              <a:t>5</a:t>
            </a:r>
          </a:p>
        </p:txBody>
      </p:sp>
      <p:sp>
        <p:nvSpPr>
          <p:cNvPr id="65" name="TextBox 64">
            <a:extLst>
              <a:ext uri="{FF2B5EF4-FFF2-40B4-BE49-F238E27FC236}">
                <a16:creationId xmlns:a16="http://schemas.microsoft.com/office/drawing/2014/main" id="{375130BF-AA93-88BB-F053-8EBB4D8676A1}"/>
              </a:ext>
            </a:extLst>
          </p:cNvPr>
          <p:cNvSpPr txBox="1"/>
          <p:nvPr/>
        </p:nvSpPr>
        <p:spPr>
          <a:xfrm>
            <a:off x="9406801" y="4348806"/>
            <a:ext cx="288000" cy="338554"/>
          </a:xfrm>
          <a:prstGeom prst="rect">
            <a:avLst/>
          </a:prstGeom>
          <a:noFill/>
        </p:spPr>
        <p:txBody>
          <a:bodyPr wrap="square" rtlCol="0" anchor="ctr">
            <a:spAutoFit/>
          </a:bodyPr>
          <a:lstStyle/>
          <a:p>
            <a:pPr algn="ctr"/>
            <a:r>
              <a:rPr lang="en-JP" sz="1600" b="1">
                <a:solidFill>
                  <a:srgbClr val="A8D5BA"/>
                </a:solidFill>
              </a:rPr>
              <a:t>4</a:t>
            </a:r>
          </a:p>
        </p:txBody>
      </p:sp>
      <p:sp>
        <p:nvSpPr>
          <p:cNvPr id="66" name="TextBox 65">
            <a:extLst>
              <a:ext uri="{FF2B5EF4-FFF2-40B4-BE49-F238E27FC236}">
                <a16:creationId xmlns:a16="http://schemas.microsoft.com/office/drawing/2014/main" id="{FA334417-9289-1727-E818-072D55A7736A}"/>
              </a:ext>
            </a:extLst>
          </p:cNvPr>
          <p:cNvSpPr txBox="1"/>
          <p:nvPr/>
        </p:nvSpPr>
        <p:spPr>
          <a:xfrm>
            <a:off x="9694801"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7" name="TextBox 66">
            <a:extLst>
              <a:ext uri="{FF2B5EF4-FFF2-40B4-BE49-F238E27FC236}">
                <a16:creationId xmlns:a16="http://schemas.microsoft.com/office/drawing/2014/main" id="{4F7EDB6A-D9BA-08DA-9ACC-1CBE142D53BA}"/>
              </a:ext>
            </a:extLst>
          </p:cNvPr>
          <p:cNvSpPr txBox="1"/>
          <p:nvPr/>
        </p:nvSpPr>
        <p:spPr>
          <a:xfrm>
            <a:off x="9982801" y="4348806"/>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68" name="TextBox 67">
            <a:extLst>
              <a:ext uri="{FF2B5EF4-FFF2-40B4-BE49-F238E27FC236}">
                <a16:creationId xmlns:a16="http://schemas.microsoft.com/office/drawing/2014/main" id="{09761534-6424-6B30-8DCC-B507AEC0A226}"/>
              </a:ext>
            </a:extLst>
          </p:cNvPr>
          <p:cNvSpPr txBox="1"/>
          <p:nvPr/>
        </p:nvSpPr>
        <p:spPr>
          <a:xfrm>
            <a:off x="10270801" y="4348806"/>
            <a:ext cx="288000" cy="338554"/>
          </a:xfrm>
          <a:prstGeom prst="rect">
            <a:avLst/>
          </a:prstGeom>
          <a:noFill/>
        </p:spPr>
        <p:txBody>
          <a:bodyPr wrap="square" rtlCol="0" anchor="ctr">
            <a:spAutoFit/>
          </a:bodyPr>
          <a:lstStyle/>
          <a:p>
            <a:pPr algn="ctr"/>
            <a:r>
              <a:rPr lang="en-JP" sz="1600" b="1">
                <a:solidFill>
                  <a:srgbClr val="A8D5BA"/>
                </a:solidFill>
              </a:rPr>
              <a:t>2</a:t>
            </a:r>
          </a:p>
        </p:txBody>
      </p:sp>
      <p:sp>
        <p:nvSpPr>
          <p:cNvPr id="69" name="TextBox 68">
            <a:extLst>
              <a:ext uri="{FF2B5EF4-FFF2-40B4-BE49-F238E27FC236}">
                <a16:creationId xmlns:a16="http://schemas.microsoft.com/office/drawing/2014/main" id="{FCA8D217-DAF6-0FC3-ACB5-2D023220DB05}"/>
              </a:ext>
            </a:extLst>
          </p:cNvPr>
          <p:cNvSpPr txBox="1"/>
          <p:nvPr/>
        </p:nvSpPr>
        <p:spPr>
          <a:xfrm>
            <a:off x="10558801" y="4348806"/>
            <a:ext cx="288000" cy="338554"/>
          </a:xfrm>
          <a:prstGeom prst="rect">
            <a:avLst/>
          </a:prstGeom>
          <a:noFill/>
        </p:spPr>
        <p:txBody>
          <a:bodyPr wrap="square" rtlCol="0" anchor="ctr">
            <a:spAutoFit/>
          </a:bodyPr>
          <a:lstStyle/>
          <a:p>
            <a:pPr algn="ctr"/>
            <a:r>
              <a:rPr lang="en-JP" sz="1600" b="1">
                <a:solidFill>
                  <a:srgbClr val="A8D5BA"/>
                </a:solidFill>
              </a:rPr>
              <a:t>9</a:t>
            </a:r>
          </a:p>
        </p:txBody>
      </p:sp>
      <p:sp>
        <p:nvSpPr>
          <p:cNvPr id="70" name="TextBox 69">
            <a:extLst>
              <a:ext uri="{FF2B5EF4-FFF2-40B4-BE49-F238E27FC236}">
                <a16:creationId xmlns:a16="http://schemas.microsoft.com/office/drawing/2014/main" id="{FCE1EA96-6FB7-9AA7-1436-06B18A6CD87A}"/>
              </a:ext>
            </a:extLst>
          </p:cNvPr>
          <p:cNvSpPr txBox="1"/>
          <p:nvPr/>
        </p:nvSpPr>
        <p:spPr>
          <a:xfrm>
            <a:off x="10847669" y="4348806"/>
            <a:ext cx="288000" cy="338554"/>
          </a:xfrm>
          <a:prstGeom prst="rect">
            <a:avLst/>
          </a:prstGeom>
          <a:noFill/>
        </p:spPr>
        <p:txBody>
          <a:bodyPr wrap="square" rtlCol="0" anchor="ctr">
            <a:spAutoFit/>
          </a:bodyPr>
          <a:lstStyle/>
          <a:p>
            <a:pPr algn="ctr"/>
            <a:r>
              <a:rPr lang="en-JP" sz="1600" b="1">
                <a:solidFill>
                  <a:srgbClr val="A8D5BA"/>
                </a:solidFill>
              </a:rPr>
              <a:t>5</a:t>
            </a:r>
          </a:p>
        </p:txBody>
      </p:sp>
      <p:grpSp>
        <p:nvGrpSpPr>
          <p:cNvPr id="17" name="Group 16">
            <a:extLst>
              <a:ext uri="{FF2B5EF4-FFF2-40B4-BE49-F238E27FC236}">
                <a16:creationId xmlns:a16="http://schemas.microsoft.com/office/drawing/2014/main" id="{2F5F1DF7-2FB8-D745-F269-36DA2EA57796}"/>
              </a:ext>
            </a:extLst>
          </p:cNvPr>
          <p:cNvGrpSpPr/>
          <p:nvPr/>
        </p:nvGrpSpPr>
        <p:grpSpPr>
          <a:xfrm>
            <a:off x="7101056" y="2980172"/>
            <a:ext cx="575399" cy="374166"/>
            <a:chOff x="5283935" y="357371"/>
            <a:chExt cx="575399" cy="374166"/>
          </a:xfrm>
        </p:grpSpPr>
        <p:sp>
          <p:nvSpPr>
            <p:cNvPr id="18" name="Rectangle 17">
              <a:extLst>
                <a:ext uri="{FF2B5EF4-FFF2-40B4-BE49-F238E27FC236}">
                  <a16:creationId xmlns:a16="http://schemas.microsoft.com/office/drawing/2014/main" id="{9807C46C-0A48-077F-B87F-4A9321EAAAE4}"/>
                </a:ext>
              </a:extLst>
            </p:cNvPr>
            <p:cNvSpPr/>
            <p:nvPr/>
          </p:nvSpPr>
          <p:spPr>
            <a:xfrm>
              <a:off x="5283935" y="386788"/>
              <a:ext cx="575399" cy="322468"/>
            </a:xfrm>
            <a:prstGeom prst="rect">
              <a:avLst/>
            </a:prstGeom>
            <a:solidFill>
              <a:srgbClr val="001F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20" name="Graphic 19" descr="Atom with solid fill">
              <a:extLst>
                <a:ext uri="{FF2B5EF4-FFF2-40B4-BE49-F238E27FC236}">
                  <a16:creationId xmlns:a16="http://schemas.microsoft.com/office/drawing/2014/main" id="{A11D12BC-E4E5-F4AE-8488-0E7B91EC3D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4551" y="357371"/>
              <a:ext cx="374166" cy="374166"/>
            </a:xfrm>
            <a:prstGeom prst="rect">
              <a:avLst/>
            </a:prstGeom>
            <a:effectLst>
              <a:glow rad="436823">
                <a:srgbClr val="00FFD5">
                  <a:alpha val="44000"/>
                </a:srgbClr>
              </a:glow>
            </a:effectLst>
          </p:spPr>
        </p:pic>
      </p:grpSp>
      <p:grpSp>
        <p:nvGrpSpPr>
          <p:cNvPr id="21" name="Group 20">
            <a:extLst>
              <a:ext uri="{FF2B5EF4-FFF2-40B4-BE49-F238E27FC236}">
                <a16:creationId xmlns:a16="http://schemas.microsoft.com/office/drawing/2014/main" id="{3FD41AA8-1903-BB27-F44D-7A79802A7D89}"/>
              </a:ext>
            </a:extLst>
          </p:cNvPr>
          <p:cNvGrpSpPr/>
          <p:nvPr/>
        </p:nvGrpSpPr>
        <p:grpSpPr>
          <a:xfrm>
            <a:off x="9695402" y="2978153"/>
            <a:ext cx="575399" cy="374166"/>
            <a:chOff x="5283935" y="357371"/>
            <a:chExt cx="575399" cy="374166"/>
          </a:xfrm>
        </p:grpSpPr>
        <p:sp>
          <p:nvSpPr>
            <p:cNvPr id="22" name="Rectangle 21">
              <a:extLst>
                <a:ext uri="{FF2B5EF4-FFF2-40B4-BE49-F238E27FC236}">
                  <a16:creationId xmlns:a16="http://schemas.microsoft.com/office/drawing/2014/main" id="{79942A49-AA1C-EA6E-572A-AF128B1A810F}"/>
                </a:ext>
              </a:extLst>
            </p:cNvPr>
            <p:cNvSpPr/>
            <p:nvPr/>
          </p:nvSpPr>
          <p:spPr>
            <a:xfrm>
              <a:off x="5283935" y="386788"/>
              <a:ext cx="575399" cy="322468"/>
            </a:xfrm>
            <a:prstGeom prst="rect">
              <a:avLst/>
            </a:prstGeom>
            <a:solidFill>
              <a:srgbClr val="001F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24" name="Graphic 23" descr="Atom with solid fill">
              <a:extLst>
                <a:ext uri="{FF2B5EF4-FFF2-40B4-BE49-F238E27FC236}">
                  <a16:creationId xmlns:a16="http://schemas.microsoft.com/office/drawing/2014/main" id="{AFF15646-9EA1-CA84-2B54-B8C051B17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4551" y="357371"/>
              <a:ext cx="374166" cy="374166"/>
            </a:xfrm>
            <a:prstGeom prst="rect">
              <a:avLst/>
            </a:prstGeom>
            <a:effectLst>
              <a:glow rad="436823">
                <a:srgbClr val="00FFD5">
                  <a:alpha val="44000"/>
                </a:srgbClr>
              </a:glow>
            </a:effectLst>
          </p:spPr>
        </p:pic>
      </p:grpSp>
      <p:sp>
        <p:nvSpPr>
          <p:cNvPr id="7" name="Content Placeholder 2">
            <a:extLst>
              <a:ext uri="{FF2B5EF4-FFF2-40B4-BE49-F238E27FC236}">
                <a16:creationId xmlns:a16="http://schemas.microsoft.com/office/drawing/2014/main" id="{CAEDAB00-5757-E105-7F2B-0E980F81071F}"/>
              </a:ext>
            </a:extLst>
          </p:cNvPr>
          <p:cNvSpPr txBox="1">
            <a:spLocks/>
          </p:cNvSpPr>
          <p:nvPr/>
        </p:nvSpPr>
        <p:spPr>
          <a:xfrm>
            <a:off x="838200" y="1825625"/>
            <a:ext cx="511049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JP" b="1">
                <a:solidFill>
                  <a:srgbClr val="E0E0E0"/>
                </a:solidFill>
              </a:rPr>
              <a:t>検証者</a:t>
            </a:r>
          </a:p>
          <a:p>
            <a:pPr>
              <a:lnSpc>
                <a:spcPct val="100000"/>
              </a:lnSpc>
              <a:buClr>
                <a:schemeClr val="bg1"/>
              </a:buClr>
            </a:pPr>
            <a:r>
              <a:rPr lang="en-JP" sz="2400">
                <a:solidFill>
                  <a:srgbClr val="FF55C8"/>
                </a:solidFill>
                <a:effectLst>
                  <a:glow rad="63500">
                    <a:srgbClr val="00FFD5">
                      <a:alpha val="40000"/>
                    </a:srgbClr>
                  </a:glow>
                </a:effectLst>
              </a:rPr>
              <a:t>量子</a:t>
            </a:r>
            <a:r>
              <a:rPr lang="en-JP" sz="2400">
                <a:solidFill>
                  <a:srgbClr val="E0E0E0"/>
                </a:solidFill>
              </a:rPr>
              <a:t>コンピューター</a:t>
            </a:r>
            <a:r>
              <a:rPr lang="ja-JP" altLang="en-US" sz="2400">
                <a:solidFill>
                  <a:srgbClr val="E0E0E0"/>
                </a:solidFill>
              </a:rPr>
              <a:t>・</a:t>
            </a:r>
            <a:r>
              <a:rPr lang="en-JP" sz="2400">
                <a:solidFill>
                  <a:srgbClr val="FF55C8"/>
                </a:solidFill>
                <a:effectLst>
                  <a:glow rad="63500">
                    <a:srgbClr val="00FFD5">
                      <a:alpha val="40000"/>
                    </a:srgbClr>
                  </a:glow>
                </a:effectLst>
              </a:rPr>
              <a:t>量子</a:t>
            </a:r>
            <a:r>
              <a:rPr lang="en-JP" sz="2400">
                <a:solidFill>
                  <a:srgbClr val="E0E0E0"/>
                </a:solidFill>
              </a:rPr>
              <a:t>通信 </a:t>
            </a:r>
            <a:r>
              <a:rPr lang="en-JP" sz="2400">
                <a:solidFill>
                  <a:srgbClr val="E0E0E0"/>
                </a:solidFill>
                <a:effectLst>
                  <a:glow rad="63500">
                    <a:schemeClr val="accent4">
                      <a:satMod val="175000"/>
                      <a:alpha val="40000"/>
                    </a:schemeClr>
                  </a:glow>
                </a:effectLst>
              </a:rPr>
              <a:t>[1]</a:t>
            </a:r>
          </a:p>
        </p:txBody>
      </p:sp>
      <p:cxnSp>
        <p:nvCxnSpPr>
          <p:cNvPr id="8" name="Straight Connector 7">
            <a:extLst>
              <a:ext uri="{FF2B5EF4-FFF2-40B4-BE49-F238E27FC236}">
                <a16:creationId xmlns:a16="http://schemas.microsoft.com/office/drawing/2014/main" id="{D8B19AD6-6252-1C25-B83D-114F1C54AABA}"/>
              </a:ext>
            </a:extLst>
          </p:cNvPr>
          <p:cNvCxnSpPr>
            <a:cxnSpLocks/>
          </p:cNvCxnSpPr>
          <p:nvPr/>
        </p:nvCxnSpPr>
        <p:spPr>
          <a:xfrm>
            <a:off x="8638140" y="6048079"/>
            <a:ext cx="3250404"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pic>
        <p:nvPicPr>
          <p:cNvPr id="9" name="Graphic 8" descr="Document with solid fill">
            <a:extLst>
              <a:ext uri="{FF2B5EF4-FFF2-40B4-BE49-F238E27FC236}">
                <a16:creationId xmlns:a16="http://schemas.microsoft.com/office/drawing/2014/main" id="{D59A6493-601E-CDC8-B49D-15B3E632359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46330" y="5893819"/>
            <a:ext cx="288001" cy="288001"/>
          </a:xfrm>
          <a:prstGeom prst="rect">
            <a:avLst/>
          </a:prstGeom>
        </p:spPr>
      </p:pic>
      <p:sp>
        <p:nvSpPr>
          <p:cNvPr id="10" name="TextBox 9">
            <a:extLst>
              <a:ext uri="{FF2B5EF4-FFF2-40B4-BE49-F238E27FC236}">
                <a16:creationId xmlns:a16="http://schemas.microsoft.com/office/drawing/2014/main" id="{B5D3A253-7035-BE94-5F7C-D98D22895F87}"/>
              </a:ext>
            </a:extLst>
          </p:cNvPr>
          <p:cNvSpPr txBox="1">
            <a:spLocks/>
          </p:cNvSpPr>
          <p:nvPr/>
        </p:nvSpPr>
        <p:spPr>
          <a:xfrm>
            <a:off x="8092269" y="6185098"/>
            <a:ext cx="3902403" cy="307777"/>
          </a:xfrm>
          <a:prstGeom prst="rect">
            <a:avLst/>
          </a:prstGeom>
          <a:noFill/>
        </p:spPr>
        <p:txBody>
          <a:bodyPr wrap="square" rtlCol="0" anchor="ctr">
            <a:spAutoFit/>
          </a:bodyPr>
          <a:lstStyle/>
          <a:p>
            <a:r>
              <a:rPr lang="en-JP" sz="1400">
                <a:solidFill>
                  <a:schemeClr val="bg1"/>
                </a:solidFill>
                <a:effectLst>
                  <a:glow rad="63500">
                    <a:schemeClr val="accent4">
                      <a:satMod val="175000"/>
                      <a:alpha val="40000"/>
                    </a:schemeClr>
                  </a:glow>
                </a:effectLst>
              </a:rPr>
              <a:t>[1] </a:t>
            </a:r>
            <a:r>
              <a:rPr lang="en-JP" sz="1400">
                <a:solidFill>
                  <a:schemeClr val="bg1"/>
                </a:solidFill>
              </a:rPr>
              <a:t>Fraignaud, Le Gall, Nishimura, and Paz (2021)</a:t>
            </a:r>
          </a:p>
        </p:txBody>
      </p:sp>
      <p:cxnSp>
        <p:nvCxnSpPr>
          <p:cNvPr id="11" name="Straight Connector 10">
            <a:extLst>
              <a:ext uri="{FF2B5EF4-FFF2-40B4-BE49-F238E27FC236}">
                <a16:creationId xmlns:a16="http://schemas.microsoft.com/office/drawing/2014/main" id="{E9503777-5933-9A6E-49D6-67147642550F}"/>
              </a:ext>
            </a:extLst>
          </p:cNvPr>
          <p:cNvCxnSpPr>
            <a:cxnSpLocks/>
          </p:cNvCxnSpPr>
          <p:nvPr/>
        </p:nvCxnSpPr>
        <p:spPr>
          <a:xfrm>
            <a:off x="8092269" y="6049210"/>
            <a:ext cx="254061"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318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dissolve">
                                      <p:cBhvr>
                                        <p:cTn id="10" dur="500"/>
                                        <p:tgtEl>
                                          <p:spTgt spid="25"/>
                                        </p:tgtEl>
                                      </p:cBhvr>
                                    </p:animEffect>
                                  </p:childTnLst>
                                </p:cTn>
                              </p:par>
                              <p:par>
                                <p:cTn id="11" presetID="9"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dissolve">
                                      <p:cBhvr>
                                        <p:cTn id="13" dur="500"/>
                                        <p:tgtEl>
                                          <p:spTgt spid="21"/>
                                        </p:tgtEl>
                                      </p:cBhvr>
                                    </p:animEffect>
                                  </p:childTnLst>
                                </p:cTn>
                              </p:par>
                              <p:par>
                                <p:cTn id="14" presetID="7" presetClass="emph" presetSubtype="2" fill="hold" nodeType="withEffect">
                                  <p:stCondLst>
                                    <p:cond delay="0"/>
                                  </p:stCondLst>
                                  <p:childTnLst>
                                    <p:animClr clrSpc="rgb" dir="cw">
                                      <p:cBhvr>
                                        <p:cTn id="15" dur="2000" fill="hold"/>
                                        <p:tgtEl>
                                          <p:spTgt spid="97"/>
                                        </p:tgtEl>
                                        <p:attrNameLst>
                                          <p:attrName>stroke.color</p:attrName>
                                        </p:attrNameLst>
                                      </p:cBhvr>
                                      <p:to>
                                        <a:srgbClr val="FF55C8"/>
                                      </p:to>
                                    </p:animClr>
                                    <p:set>
                                      <p:cBhvr>
                                        <p:cTn id="16" dur="2000" fill="hold"/>
                                        <p:tgtEl>
                                          <p:spTgt spid="97"/>
                                        </p:tgtEl>
                                        <p:attrNameLst>
                                          <p:attrName>stroke.on</p:attrName>
                                        </p:attrNameLst>
                                      </p:cBhvr>
                                      <p:to>
                                        <p:strVal val="true"/>
                                      </p:to>
                                    </p:set>
                                  </p:childTnLst>
                                </p:cTn>
                              </p:par>
                              <p:par>
                                <p:cTn id="17" presetID="7" presetClass="emph" presetSubtype="2" fill="hold" nodeType="withEffect">
                                  <p:stCondLst>
                                    <p:cond delay="0"/>
                                  </p:stCondLst>
                                  <p:childTnLst>
                                    <p:animClr clrSpc="rgb" dir="cw">
                                      <p:cBhvr>
                                        <p:cTn id="18" dur="2000" fill="hold"/>
                                        <p:tgtEl>
                                          <p:spTgt spid="94"/>
                                        </p:tgtEl>
                                        <p:attrNameLst>
                                          <p:attrName>stroke.color</p:attrName>
                                        </p:attrNameLst>
                                      </p:cBhvr>
                                      <p:to>
                                        <a:srgbClr val="FF55C8"/>
                                      </p:to>
                                    </p:animClr>
                                    <p:set>
                                      <p:cBhvr>
                                        <p:cTn id="19" dur="2000" fill="hold"/>
                                        <p:tgtEl>
                                          <p:spTgt spid="9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a:extLst>
            <a:ext uri="{FF2B5EF4-FFF2-40B4-BE49-F238E27FC236}">
              <a16:creationId xmlns:a16="http://schemas.microsoft.com/office/drawing/2014/main" id="{D8280449-EDCC-73AA-23B3-6DC98CF343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36706B8-5D9F-DF9A-F267-96360756C83B}"/>
              </a:ext>
            </a:extLst>
          </p:cNvPr>
          <p:cNvSpPr/>
          <p:nvPr/>
        </p:nvSpPr>
        <p:spPr>
          <a:xfrm>
            <a:off x="8826894" y="4371732"/>
            <a:ext cx="2306404" cy="277391"/>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Rectangle 4">
            <a:extLst>
              <a:ext uri="{FF2B5EF4-FFF2-40B4-BE49-F238E27FC236}">
                <a16:creationId xmlns:a16="http://schemas.microsoft.com/office/drawing/2014/main" id="{2AE0F49A-8AEB-D091-327F-C5A559D61B00}"/>
              </a:ext>
            </a:extLst>
          </p:cNvPr>
          <p:cNvSpPr/>
          <p:nvPr/>
        </p:nvSpPr>
        <p:spPr>
          <a:xfrm>
            <a:off x="6238200" y="4366428"/>
            <a:ext cx="2306404" cy="288000"/>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5" name="Rectangle 24">
            <a:extLst>
              <a:ext uri="{FF2B5EF4-FFF2-40B4-BE49-F238E27FC236}">
                <a16:creationId xmlns:a16="http://schemas.microsoft.com/office/drawing/2014/main" id="{6E050139-DC0C-93B2-7D59-76EB58523017}"/>
              </a:ext>
            </a:extLst>
          </p:cNvPr>
          <p:cNvSpPr/>
          <p:nvPr/>
        </p:nvSpPr>
        <p:spPr>
          <a:xfrm>
            <a:off x="7888022" y="3299802"/>
            <a:ext cx="1583367" cy="65789"/>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94" name="Straight Connector 93">
            <a:extLst>
              <a:ext uri="{FF2B5EF4-FFF2-40B4-BE49-F238E27FC236}">
                <a16:creationId xmlns:a16="http://schemas.microsoft.com/office/drawing/2014/main" id="{67E4B065-1F7D-9B12-86B7-EB435E07AA9E}"/>
              </a:ext>
            </a:extLst>
          </p:cNvPr>
          <p:cNvCxnSpPr>
            <a:cxnSpLocks/>
          </p:cNvCxnSpPr>
          <p:nvPr/>
        </p:nvCxnSpPr>
        <p:spPr>
          <a:xfrm>
            <a:off x="7910610" y="3318338"/>
            <a:ext cx="1538193" cy="0"/>
          </a:xfrm>
          <a:prstGeom prst="line">
            <a:avLst/>
          </a:prstGeom>
          <a:ln>
            <a:solidFill>
              <a:srgbClr val="FF55C8"/>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EBE51BC5-0D62-AE80-0355-6F498357368B}"/>
              </a:ext>
            </a:extLst>
          </p:cNvPr>
          <p:cNvCxnSpPr>
            <a:cxnSpLocks/>
          </p:cNvCxnSpPr>
          <p:nvPr/>
        </p:nvCxnSpPr>
        <p:spPr>
          <a:xfrm>
            <a:off x="7910610" y="3354338"/>
            <a:ext cx="1538193" cy="0"/>
          </a:xfrm>
          <a:prstGeom prst="line">
            <a:avLst/>
          </a:prstGeom>
          <a:ln>
            <a:solidFill>
              <a:srgbClr val="FF55C8"/>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4E97B95-A160-7796-4FD1-26E12B85E20E}"/>
              </a:ext>
            </a:extLst>
          </p:cNvPr>
          <p:cNvSpPr>
            <a:spLocks noGrp="1"/>
          </p:cNvSpPr>
          <p:nvPr>
            <p:ph type="title"/>
          </p:nvPr>
        </p:nvSpPr>
        <p:spPr>
          <a:ln w="28575">
            <a:noFill/>
          </a:ln>
        </p:spPr>
        <p:txBody>
          <a:bodyPr>
            <a:normAutofit/>
          </a:bodyPr>
          <a:lstStyle/>
          <a:p>
            <a:r>
              <a:rPr lang="ja-JP" altLang="en-US" b="1">
                <a:solidFill>
                  <a:srgbClr val="FF55C8"/>
                </a:solidFill>
                <a:effectLst>
                  <a:glow rad="63500">
                    <a:srgbClr val="00FFD5">
                      <a:alpha val="40000"/>
                    </a:srgbClr>
                  </a:glow>
                </a:effectLst>
              </a:rPr>
              <a:t>量子</a:t>
            </a:r>
            <a:r>
              <a:rPr lang="ja-JP" altLang="en-US" b="1">
                <a:solidFill>
                  <a:schemeClr val="bg1"/>
                </a:solidFill>
                <a:effectLst/>
              </a:rPr>
              <a:t>分散</a:t>
            </a:r>
            <a:r>
              <a:rPr lang="ja-JP" altLang="en-US" b="1">
                <a:solidFill>
                  <a:schemeClr val="bg1"/>
                </a:solidFill>
              </a:rPr>
              <a:t>検証</a:t>
            </a:r>
            <a:endParaRPr lang="en-JP">
              <a:solidFill>
                <a:schemeClr val="bg1">
                  <a:alpha val="25000"/>
                </a:schemeClr>
              </a:solidFill>
            </a:endParaRPr>
          </a:p>
        </p:txBody>
      </p:sp>
      <p:sp>
        <p:nvSpPr>
          <p:cNvPr id="15" name="Subtitle 2">
            <a:extLst>
              <a:ext uri="{FF2B5EF4-FFF2-40B4-BE49-F238E27FC236}">
                <a16:creationId xmlns:a16="http://schemas.microsoft.com/office/drawing/2014/main" id="{8CDB7175-C181-AA24-5565-B088365E2DEE}"/>
              </a:ext>
            </a:extLst>
          </p:cNvPr>
          <p:cNvSpPr txBox="1">
            <a:spLocks/>
          </p:cNvSpPr>
          <p:nvPr/>
        </p:nvSpPr>
        <p:spPr>
          <a:xfrm>
            <a:off x="838200" y="1302638"/>
            <a:ext cx="9144000" cy="3958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sz="2000">
                <a:solidFill>
                  <a:srgbClr val="A8D5BA"/>
                </a:solidFill>
              </a:rPr>
              <a:t>Distributed quantum verification</a:t>
            </a:r>
          </a:p>
        </p:txBody>
      </p:sp>
      <p:pic>
        <p:nvPicPr>
          <p:cNvPr id="29" name="Graphic 28" descr="Programmer male outline">
            <a:extLst>
              <a:ext uri="{FF2B5EF4-FFF2-40B4-BE49-F238E27FC236}">
                <a16:creationId xmlns:a16="http://schemas.microsoft.com/office/drawing/2014/main" id="{7974D8B1-E654-3C65-A177-F356F33F23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7909" y="1899488"/>
            <a:ext cx="1548581" cy="1548581"/>
          </a:xfrm>
          <a:prstGeom prst="rect">
            <a:avLst/>
          </a:prstGeom>
        </p:spPr>
      </p:pic>
      <p:graphicFrame>
        <p:nvGraphicFramePr>
          <p:cNvPr id="35" name="Table 34">
            <a:extLst>
              <a:ext uri="{FF2B5EF4-FFF2-40B4-BE49-F238E27FC236}">
                <a16:creationId xmlns:a16="http://schemas.microsoft.com/office/drawing/2014/main" id="{9C591009-254A-3AD4-88FD-FF757428F06E}"/>
              </a:ext>
            </a:extLst>
          </p:cNvPr>
          <p:cNvGraphicFramePr>
            <a:graphicFrameLocks noGrp="1"/>
          </p:cNvGraphicFramePr>
          <p:nvPr>
            <p:extLst>
              <p:ext uri="{D42A27DB-BD31-4B8C-83A1-F6EECF244321}">
                <p14:modId xmlns:p14="http://schemas.microsoft.com/office/powerpoint/2010/main" val="2605960860"/>
              </p:ext>
            </p:extLst>
          </p:nvPr>
        </p:nvGraphicFramePr>
        <p:xfrm>
          <a:off x="8830200" y="4369283"/>
          <a:ext cx="2304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3652211415"/>
                    </a:ext>
                  </a:extLst>
                </a:gridCol>
                <a:gridCol w="288000">
                  <a:extLst>
                    <a:ext uri="{9D8B030D-6E8A-4147-A177-3AD203B41FA5}">
                      <a16:colId xmlns:a16="http://schemas.microsoft.com/office/drawing/2014/main" val="4233583676"/>
                    </a:ext>
                  </a:extLst>
                </a:gridCol>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gridCol w="288000">
                  <a:extLst>
                    <a:ext uri="{9D8B030D-6E8A-4147-A177-3AD203B41FA5}">
                      <a16:colId xmlns:a16="http://schemas.microsoft.com/office/drawing/2014/main" val="4050348675"/>
                    </a:ext>
                  </a:extLst>
                </a:gridCol>
                <a:gridCol w="288000">
                  <a:extLst>
                    <a:ext uri="{9D8B030D-6E8A-4147-A177-3AD203B41FA5}">
                      <a16:colId xmlns:a16="http://schemas.microsoft.com/office/drawing/2014/main" val="3815471025"/>
                    </a:ext>
                  </a:extLst>
                </a:gridCol>
              </a:tblGrid>
              <a:tr h="288000">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extLst>
                  <a:ext uri="{0D108BD9-81ED-4DB2-BD59-A6C34878D82A}">
                    <a16:rowId xmlns:a16="http://schemas.microsoft.com/office/drawing/2014/main" val="1264921292"/>
                  </a:ext>
                </a:extLst>
              </a:tr>
            </a:tbl>
          </a:graphicData>
        </a:graphic>
      </p:graphicFrame>
      <p:graphicFrame>
        <p:nvGraphicFramePr>
          <p:cNvPr id="37" name="Table 36">
            <a:extLst>
              <a:ext uri="{FF2B5EF4-FFF2-40B4-BE49-F238E27FC236}">
                <a16:creationId xmlns:a16="http://schemas.microsoft.com/office/drawing/2014/main" id="{2ED99939-0D23-76C0-8ECF-28363568EE19}"/>
              </a:ext>
            </a:extLst>
          </p:cNvPr>
          <p:cNvGraphicFramePr>
            <a:graphicFrameLocks noGrp="1"/>
          </p:cNvGraphicFramePr>
          <p:nvPr>
            <p:extLst>
              <p:ext uri="{D42A27DB-BD31-4B8C-83A1-F6EECF244321}">
                <p14:modId xmlns:p14="http://schemas.microsoft.com/office/powerpoint/2010/main" val="691197627"/>
              </p:ext>
            </p:extLst>
          </p:nvPr>
        </p:nvGraphicFramePr>
        <p:xfrm>
          <a:off x="6238200" y="4369283"/>
          <a:ext cx="2304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gridCol w="288000">
                  <a:extLst>
                    <a:ext uri="{9D8B030D-6E8A-4147-A177-3AD203B41FA5}">
                      <a16:colId xmlns:a16="http://schemas.microsoft.com/office/drawing/2014/main" val="4050348675"/>
                    </a:ext>
                  </a:extLst>
                </a:gridCol>
                <a:gridCol w="288000">
                  <a:extLst>
                    <a:ext uri="{9D8B030D-6E8A-4147-A177-3AD203B41FA5}">
                      <a16:colId xmlns:a16="http://schemas.microsoft.com/office/drawing/2014/main" val="2511810932"/>
                    </a:ext>
                  </a:extLst>
                </a:gridCol>
                <a:gridCol w="288000">
                  <a:extLst>
                    <a:ext uri="{9D8B030D-6E8A-4147-A177-3AD203B41FA5}">
                      <a16:colId xmlns:a16="http://schemas.microsoft.com/office/drawing/2014/main" val="3845293520"/>
                    </a:ext>
                  </a:extLst>
                </a:gridCol>
                <a:gridCol w="288000">
                  <a:extLst>
                    <a:ext uri="{9D8B030D-6E8A-4147-A177-3AD203B41FA5}">
                      <a16:colId xmlns:a16="http://schemas.microsoft.com/office/drawing/2014/main" val="3815471025"/>
                    </a:ext>
                  </a:extLst>
                </a:gridCol>
              </a:tblGrid>
              <a:tr h="288000">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ln>
                          <a:solidFill>
                            <a:sysClr val="windowText" lastClr="000000"/>
                          </a:solidFill>
                        </a:ln>
                        <a:solidFill>
                          <a:srgbClr val="FF55C8"/>
                        </a:solidFill>
                        <a:effectLst>
                          <a:glow rad="228600">
                            <a:schemeClr val="accent5">
                              <a:satMod val="175000"/>
                              <a:alpha val="40000"/>
                            </a:schemeClr>
                          </a:glow>
                        </a:effectLst>
                      </a:endParaRPr>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extLst>
                  <a:ext uri="{0D108BD9-81ED-4DB2-BD59-A6C34878D82A}">
                    <a16:rowId xmlns:a16="http://schemas.microsoft.com/office/drawing/2014/main" val="1264921292"/>
                  </a:ext>
                </a:extLst>
              </a:tr>
            </a:tbl>
          </a:graphicData>
        </a:graphic>
      </p:graphicFrame>
      <p:sp>
        <p:nvSpPr>
          <p:cNvPr id="38" name="TextBox 37">
            <a:extLst>
              <a:ext uri="{FF2B5EF4-FFF2-40B4-BE49-F238E27FC236}">
                <a16:creationId xmlns:a16="http://schemas.microsoft.com/office/drawing/2014/main" id="{645B1DB8-4773-CD6D-DDB1-C0CE8BDE13AC}"/>
              </a:ext>
            </a:extLst>
          </p:cNvPr>
          <p:cNvSpPr txBox="1"/>
          <p:nvPr/>
        </p:nvSpPr>
        <p:spPr>
          <a:xfrm>
            <a:off x="6238200" y="4348806"/>
            <a:ext cx="288000" cy="338554"/>
          </a:xfrm>
          <a:prstGeom prst="rect">
            <a:avLst/>
          </a:prstGeom>
          <a:noFill/>
        </p:spPr>
        <p:txBody>
          <a:bodyPr wrap="square" rtlCol="0" anchor="ctr">
            <a:spAutoFit/>
          </a:bodyPr>
          <a:lstStyle/>
          <a:p>
            <a:pPr algn="ctr"/>
            <a:r>
              <a:rPr lang="en-JP" sz="1600" b="1">
                <a:solidFill>
                  <a:srgbClr val="A8D5BA"/>
                </a:solidFill>
              </a:rPr>
              <a:t>1</a:t>
            </a:r>
          </a:p>
        </p:txBody>
      </p:sp>
      <p:pic>
        <p:nvPicPr>
          <p:cNvPr id="40" name="Graphic 39" descr="Programmer female outline">
            <a:extLst>
              <a:ext uri="{FF2B5EF4-FFF2-40B4-BE49-F238E27FC236}">
                <a16:creationId xmlns:a16="http://schemas.microsoft.com/office/drawing/2014/main" id="{D958578D-38E9-2F94-F4AD-3942AC5690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6199" y="1899488"/>
            <a:ext cx="1548000" cy="1548000"/>
          </a:xfrm>
          <a:prstGeom prst="rect">
            <a:avLst/>
          </a:prstGeom>
        </p:spPr>
      </p:pic>
      <p:sp>
        <p:nvSpPr>
          <p:cNvPr id="56" name="TextBox 55">
            <a:extLst>
              <a:ext uri="{FF2B5EF4-FFF2-40B4-BE49-F238E27FC236}">
                <a16:creationId xmlns:a16="http://schemas.microsoft.com/office/drawing/2014/main" id="{C542D391-8B4A-7371-A431-CDC340383B5E}"/>
              </a:ext>
            </a:extLst>
          </p:cNvPr>
          <p:cNvSpPr txBox="1"/>
          <p:nvPr/>
        </p:nvSpPr>
        <p:spPr>
          <a:xfrm>
            <a:off x="6526200" y="4348806"/>
            <a:ext cx="288000" cy="338554"/>
          </a:xfrm>
          <a:prstGeom prst="rect">
            <a:avLst/>
          </a:prstGeom>
          <a:noFill/>
        </p:spPr>
        <p:txBody>
          <a:bodyPr wrap="square" rtlCol="0" anchor="ctr">
            <a:spAutoFit/>
          </a:bodyPr>
          <a:lstStyle/>
          <a:p>
            <a:pPr algn="ctr"/>
            <a:r>
              <a:rPr lang="en-JP" sz="1600" b="1">
                <a:solidFill>
                  <a:srgbClr val="A8D5BA"/>
                </a:solidFill>
              </a:rPr>
              <a:t>2</a:t>
            </a:r>
          </a:p>
        </p:txBody>
      </p:sp>
      <p:sp>
        <p:nvSpPr>
          <p:cNvPr id="57" name="TextBox 56">
            <a:extLst>
              <a:ext uri="{FF2B5EF4-FFF2-40B4-BE49-F238E27FC236}">
                <a16:creationId xmlns:a16="http://schemas.microsoft.com/office/drawing/2014/main" id="{8011B494-1EFF-D697-20EE-BCC13212D245}"/>
              </a:ext>
            </a:extLst>
          </p:cNvPr>
          <p:cNvSpPr txBox="1"/>
          <p:nvPr/>
        </p:nvSpPr>
        <p:spPr>
          <a:xfrm>
            <a:off x="6814801" y="4348806"/>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58" name="TextBox 57">
            <a:extLst>
              <a:ext uri="{FF2B5EF4-FFF2-40B4-BE49-F238E27FC236}">
                <a16:creationId xmlns:a16="http://schemas.microsoft.com/office/drawing/2014/main" id="{FCD4608C-A57A-50D3-0815-A464000D3439}"/>
              </a:ext>
            </a:extLst>
          </p:cNvPr>
          <p:cNvSpPr txBox="1"/>
          <p:nvPr/>
        </p:nvSpPr>
        <p:spPr>
          <a:xfrm>
            <a:off x="7102200" y="4348806"/>
            <a:ext cx="288000" cy="338554"/>
          </a:xfrm>
          <a:prstGeom prst="rect">
            <a:avLst/>
          </a:prstGeom>
          <a:noFill/>
        </p:spPr>
        <p:txBody>
          <a:bodyPr wrap="square" rtlCol="0" anchor="ctr">
            <a:spAutoFit/>
          </a:bodyPr>
          <a:lstStyle/>
          <a:p>
            <a:pPr algn="ctr"/>
            <a:r>
              <a:rPr lang="en-JP" sz="1600" b="1">
                <a:solidFill>
                  <a:srgbClr val="A8D5BA"/>
                </a:solidFill>
              </a:rPr>
              <a:t>9</a:t>
            </a:r>
          </a:p>
        </p:txBody>
      </p:sp>
      <p:sp>
        <p:nvSpPr>
          <p:cNvPr id="59" name="TextBox 58">
            <a:extLst>
              <a:ext uri="{FF2B5EF4-FFF2-40B4-BE49-F238E27FC236}">
                <a16:creationId xmlns:a16="http://schemas.microsoft.com/office/drawing/2014/main" id="{0B65C25A-35BA-69A6-A8E5-262409C85DF4}"/>
              </a:ext>
            </a:extLst>
          </p:cNvPr>
          <p:cNvSpPr txBox="1"/>
          <p:nvPr/>
        </p:nvSpPr>
        <p:spPr>
          <a:xfrm>
            <a:off x="7390801"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0" name="TextBox 59">
            <a:extLst>
              <a:ext uri="{FF2B5EF4-FFF2-40B4-BE49-F238E27FC236}">
                <a16:creationId xmlns:a16="http://schemas.microsoft.com/office/drawing/2014/main" id="{47DA6873-08F7-06C7-0431-A322D1E5BB32}"/>
              </a:ext>
            </a:extLst>
          </p:cNvPr>
          <p:cNvSpPr txBox="1"/>
          <p:nvPr/>
        </p:nvSpPr>
        <p:spPr>
          <a:xfrm>
            <a:off x="7677599" y="4348806"/>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61" name="TextBox 60">
            <a:extLst>
              <a:ext uri="{FF2B5EF4-FFF2-40B4-BE49-F238E27FC236}">
                <a16:creationId xmlns:a16="http://schemas.microsoft.com/office/drawing/2014/main" id="{9CAC488C-4D8B-289C-DB6B-24220F997A3A}"/>
              </a:ext>
            </a:extLst>
          </p:cNvPr>
          <p:cNvSpPr txBox="1"/>
          <p:nvPr/>
        </p:nvSpPr>
        <p:spPr>
          <a:xfrm>
            <a:off x="7966801"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2" name="TextBox 61">
            <a:extLst>
              <a:ext uri="{FF2B5EF4-FFF2-40B4-BE49-F238E27FC236}">
                <a16:creationId xmlns:a16="http://schemas.microsoft.com/office/drawing/2014/main" id="{AB136153-B795-005B-DCC9-7BB7215C066A}"/>
              </a:ext>
            </a:extLst>
          </p:cNvPr>
          <p:cNvSpPr txBox="1"/>
          <p:nvPr/>
        </p:nvSpPr>
        <p:spPr>
          <a:xfrm>
            <a:off x="8253298"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3" name="TextBox 62">
            <a:extLst>
              <a:ext uri="{FF2B5EF4-FFF2-40B4-BE49-F238E27FC236}">
                <a16:creationId xmlns:a16="http://schemas.microsoft.com/office/drawing/2014/main" id="{4347ACE5-4B35-DAE3-C2E6-A9DE93FEA811}"/>
              </a:ext>
            </a:extLst>
          </p:cNvPr>
          <p:cNvSpPr txBox="1"/>
          <p:nvPr/>
        </p:nvSpPr>
        <p:spPr>
          <a:xfrm>
            <a:off x="9117599" y="4348806"/>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64" name="TextBox 63">
            <a:extLst>
              <a:ext uri="{FF2B5EF4-FFF2-40B4-BE49-F238E27FC236}">
                <a16:creationId xmlns:a16="http://schemas.microsoft.com/office/drawing/2014/main" id="{89CA8939-5926-933D-2D4F-A27DA4B16450}"/>
              </a:ext>
            </a:extLst>
          </p:cNvPr>
          <p:cNvSpPr txBox="1"/>
          <p:nvPr/>
        </p:nvSpPr>
        <p:spPr>
          <a:xfrm>
            <a:off x="8830801" y="4348806"/>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65" name="TextBox 64">
            <a:extLst>
              <a:ext uri="{FF2B5EF4-FFF2-40B4-BE49-F238E27FC236}">
                <a16:creationId xmlns:a16="http://schemas.microsoft.com/office/drawing/2014/main" id="{262D01EE-3C6A-E30D-FC5A-35981E7D5708}"/>
              </a:ext>
            </a:extLst>
          </p:cNvPr>
          <p:cNvSpPr txBox="1"/>
          <p:nvPr/>
        </p:nvSpPr>
        <p:spPr>
          <a:xfrm>
            <a:off x="9406801" y="4348806"/>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66" name="TextBox 65">
            <a:extLst>
              <a:ext uri="{FF2B5EF4-FFF2-40B4-BE49-F238E27FC236}">
                <a16:creationId xmlns:a16="http://schemas.microsoft.com/office/drawing/2014/main" id="{D12582B1-B95F-D7A4-C7E5-14662FFE0E82}"/>
              </a:ext>
            </a:extLst>
          </p:cNvPr>
          <p:cNvSpPr txBox="1"/>
          <p:nvPr/>
        </p:nvSpPr>
        <p:spPr>
          <a:xfrm>
            <a:off x="9694801" y="4348806"/>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67" name="TextBox 66">
            <a:extLst>
              <a:ext uri="{FF2B5EF4-FFF2-40B4-BE49-F238E27FC236}">
                <a16:creationId xmlns:a16="http://schemas.microsoft.com/office/drawing/2014/main" id="{4702B71F-85F0-5FDF-5D8C-F924E3E1F3D6}"/>
              </a:ext>
            </a:extLst>
          </p:cNvPr>
          <p:cNvSpPr txBox="1"/>
          <p:nvPr/>
        </p:nvSpPr>
        <p:spPr>
          <a:xfrm>
            <a:off x="9982801" y="4348806"/>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68" name="TextBox 67">
            <a:extLst>
              <a:ext uri="{FF2B5EF4-FFF2-40B4-BE49-F238E27FC236}">
                <a16:creationId xmlns:a16="http://schemas.microsoft.com/office/drawing/2014/main" id="{8BF00055-41F9-C395-61C7-81677D3B7E54}"/>
              </a:ext>
            </a:extLst>
          </p:cNvPr>
          <p:cNvSpPr txBox="1"/>
          <p:nvPr/>
        </p:nvSpPr>
        <p:spPr>
          <a:xfrm>
            <a:off x="10270801" y="4348806"/>
            <a:ext cx="288000" cy="338554"/>
          </a:xfrm>
          <a:prstGeom prst="rect">
            <a:avLst/>
          </a:prstGeom>
          <a:noFill/>
        </p:spPr>
        <p:txBody>
          <a:bodyPr wrap="square" rtlCol="0" anchor="ctr">
            <a:spAutoFit/>
          </a:bodyPr>
          <a:lstStyle/>
          <a:p>
            <a:pPr algn="ctr"/>
            <a:r>
              <a:rPr lang="en-JP" sz="1600" b="1">
                <a:solidFill>
                  <a:srgbClr val="A8D5BA"/>
                </a:solidFill>
              </a:rPr>
              <a:t>2</a:t>
            </a:r>
          </a:p>
        </p:txBody>
      </p:sp>
      <p:sp>
        <p:nvSpPr>
          <p:cNvPr id="69" name="TextBox 68">
            <a:extLst>
              <a:ext uri="{FF2B5EF4-FFF2-40B4-BE49-F238E27FC236}">
                <a16:creationId xmlns:a16="http://schemas.microsoft.com/office/drawing/2014/main" id="{ED1FF35D-A2B6-CBC7-35FC-75DD14EB81CF}"/>
              </a:ext>
            </a:extLst>
          </p:cNvPr>
          <p:cNvSpPr txBox="1"/>
          <p:nvPr/>
        </p:nvSpPr>
        <p:spPr>
          <a:xfrm>
            <a:off x="10558801" y="4348806"/>
            <a:ext cx="288000" cy="338554"/>
          </a:xfrm>
          <a:prstGeom prst="rect">
            <a:avLst/>
          </a:prstGeom>
          <a:noFill/>
        </p:spPr>
        <p:txBody>
          <a:bodyPr wrap="square" rtlCol="0" anchor="ctr">
            <a:spAutoFit/>
          </a:bodyPr>
          <a:lstStyle/>
          <a:p>
            <a:pPr algn="ctr"/>
            <a:r>
              <a:rPr lang="en-JP" sz="1600" b="1">
                <a:solidFill>
                  <a:srgbClr val="A8D5BA"/>
                </a:solidFill>
              </a:rPr>
              <a:t>9</a:t>
            </a:r>
          </a:p>
        </p:txBody>
      </p:sp>
      <p:sp>
        <p:nvSpPr>
          <p:cNvPr id="70" name="TextBox 69">
            <a:extLst>
              <a:ext uri="{FF2B5EF4-FFF2-40B4-BE49-F238E27FC236}">
                <a16:creationId xmlns:a16="http://schemas.microsoft.com/office/drawing/2014/main" id="{EFC08785-CCDD-3DB5-55FA-F97749B41D18}"/>
              </a:ext>
            </a:extLst>
          </p:cNvPr>
          <p:cNvSpPr txBox="1"/>
          <p:nvPr/>
        </p:nvSpPr>
        <p:spPr>
          <a:xfrm>
            <a:off x="10847669" y="4348806"/>
            <a:ext cx="288000" cy="338554"/>
          </a:xfrm>
          <a:prstGeom prst="rect">
            <a:avLst/>
          </a:prstGeom>
          <a:noFill/>
        </p:spPr>
        <p:txBody>
          <a:bodyPr wrap="square" rtlCol="0" anchor="ctr">
            <a:spAutoFit/>
          </a:bodyPr>
          <a:lstStyle/>
          <a:p>
            <a:pPr algn="ctr"/>
            <a:r>
              <a:rPr lang="en-JP" sz="1600" b="1">
                <a:solidFill>
                  <a:srgbClr val="A8D5BA"/>
                </a:solidFill>
              </a:rPr>
              <a:t>5</a:t>
            </a:r>
          </a:p>
        </p:txBody>
      </p:sp>
      <p:grpSp>
        <p:nvGrpSpPr>
          <p:cNvPr id="17" name="Group 16">
            <a:extLst>
              <a:ext uri="{FF2B5EF4-FFF2-40B4-BE49-F238E27FC236}">
                <a16:creationId xmlns:a16="http://schemas.microsoft.com/office/drawing/2014/main" id="{A9480EFB-BA0C-A91A-B482-F2D496CB4152}"/>
              </a:ext>
            </a:extLst>
          </p:cNvPr>
          <p:cNvGrpSpPr/>
          <p:nvPr/>
        </p:nvGrpSpPr>
        <p:grpSpPr>
          <a:xfrm>
            <a:off x="7101056" y="2980172"/>
            <a:ext cx="575399" cy="374166"/>
            <a:chOff x="5283935" y="357371"/>
            <a:chExt cx="575399" cy="374166"/>
          </a:xfrm>
        </p:grpSpPr>
        <p:sp>
          <p:nvSpPr>
            <p:cNvPr id="18" name="Rectangle 17">
              <a:extLst>
                <a:ext uri="{FF2B5EF4-FFF2-40B4-BE49-F238E27FC236}">
                  <a16:creationId xmlns:a16="http://schemas.microsoft.com/office/drawing/2014/main" id="{6442EBAE-91E0-BDB6-E681-117FEFF0BA5E}"/>
                </a:ext>
              </a:extLst>
            </p:cNvPr>
            <p:cNvSpPr/>
            <p:nvPr/>
          </p:nvSpPr>
          <p:spPr>
            <a:xfrm>
              <a:off x="5283935" y="386788"/>
              <a:ext cx="575399" cy="322468"/>
            </a:xfrm>
            <a:prstGeom prst="rect">
              <a:avLst/>
            </a:prstGeom>
            <a:solidFill>
              <a:srgbClr val="001F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20" name="Graphic 19" descr="Atom with solid fill">
              <a:extLst>
                <a:ext uri="{FF2B5EF4-FFF2-40B4-BE49-F238E27FC236}">
                  <a16:creationId xmlns:a16="http://schemas.microsoft.com/office/drawing/2014/main" id="{08D53C1F-F919-8C00-95A4-8305F69923F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4551" y="357371"/>
              <a:ext cx="374166" cy="374166"/>
            </a:xfrm>
            <a:prstGeom prst="rect">
              <a:avLst/>
            </a:prstGeom>
            <a:effectLst>
              <a:glow rad="436823">
                <a:srgbClr val="00FFD5">
                  <a:alpha val="44000"/>
                </a:srgbClr>
              </a:glow>
            </a:effectLst>
          </p:spPr>
        </p:pic>
      </p:grpSp>
      <p:grpSp>
        <p:nvGrpSpPr>
          <p:cNvPr id="21" name="Group 20">
            <a:extLst>
              <a:ext uri="{FF2B5EF4-FFF2-40B4-BE49-F238E27FC236}">
                <a16:creationId xmlns:a16="http://schemas.microsoft.com/office/drawing/2014/main" id="{99A2C2D0-3D1A-800A-1506-FF4DAE72B7F6}"/>
              </a:ext>
            </a:extLst>
          </p:cNvPr>
          <p:cNvGrpSpPr/>
          <p:nvPr/>
        </p:nvGrpSpPr>
        <p:grpSpPr>
          <a:xfrm>
            <a:off x="9695402" y="2978153"/>
            <a:ext cx="575399" cy="374166"/>
            <a:chOff x="5283935" y="357371"/>
            <a:chExt cx="575399" cy="374166"/>
          </a:xfrm>
        </p:grpSpPr>
        <p:sp>
          <p:nvSpPr>
            <p:cNvPr id="22" name="Rectangle 21">
              <a:extLst>
                <a:ext uri="{FF2B5EF4-FFF2-40B4-BE49-F238E27FC236}">
                  <a16:creationId xmlns:a16="http://schemas.microsoft.com/office/drawing/2014/main" id="{8C2A215E-C5C5-E763-B80E-AC5A23FA4421}"/>
                </a:ext>
              </a:extLst>
            </p:cNvPr>
            <p:cNvSpPr/>
            <p:nvPr/>
          </p:nvSpPr>
          <p:spPr>
            <a:xfrm>
              <a:off x="5283935" y="386788"/>
              <a:ext cx="575399" cy="322468"/>
            </a:xfrm>
            <a:prstGeom prst="rect">
              <a:avLst/>
            </a:prstGeom>
            <a:solidFill>
              <a:srgbClr val="001F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24" name="Graphic 23" descr="Atom with solid fill">
              <a:extLst>
                <a:ext uri="{FF2B5EF4-FFF2-40B4-BE49-F238E27FC236}">
                  <a16:creationId xmlns:a16="http://schemas.microsoft.com/office/drawing/2014/main" id="{EF8224A9-199B-5F48-3DBE-D8218D366F9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4551" y="357371"/>
              <a:ext cx="374166" cy="374166"/>
            </a:xfrm>
            <a:prstGeom prst="rect">
              <a:avLst/>
            </a:prstGeom>
            <a:effectLst>
              <a:glow rad="436823">
                <a:srgbClr val="00FFD5">
                  <a:alpha val="44000"/>
                </a:srgbClr>
              </a:glow>
            </a:effectLst>
          </p:spPr>
        </p:pic>
      </p:grpSp>
      <p:sp>
        <p:nvSpPr>
          <p:cNvPr id="3" name="Content Placeholder 2">
            <a:extLst>
              <a:ext uri="{FF2B5EF4-FFF2-40B4-BE49-F238E27FC236}">
                <a16:creationId xmlns:a16="http://schemas.microsoft.com/office/drawing/2014/main" id="{56902038-FCFC-1546-39AD-0F7C4DE9088B}"/>
              </a:ext>
            </a:extLst>
          </p:cNvPr>
          <p:cNvSpPr txBox="1">
            <a:spLocks/>
          </p:cNvSpPr>
          <p:nvPr/>
        </p:nvSpPr>
        <p:spPr>
          <a:xfrm>
            <a:off x="838200" y="1825625"/>
            <a:ext cx="52002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JP" b="1" dirty="0">
                <a:solidFill>
                  <a:srgbClr val="E0E0E0"/>
                </a:solidFill>
              </a:rPr>
              <a:t>検証者</a:t>
            </a:r>
          </a:p>
          <a:p>
            <a:pPr>
              <a:lnSpc>
                <a:spcPct val="100000"/>
              </a:lnSpc>
              <a:buClr>
                <a:schemeClr val="bg1"/>
              </a:buClr>
            </a:pPr>
            <a:r>
              <a:rPr lang="en-JP" sz="2400" dirty="0">
                <a:solidFill>
                  <a:srgbClr val="FF55C8"/>
                </a:solidFill>
                <a:effectLst>
                  <a:glow rad="63500">
                    <a:srgbClr val="00FFD5">
                      <a:alpha val="40000"/>
                    </a:srgbClr>
                  </a:glow>
                </a:effectLst>
              </a:rPr>
              <a:t>量子</a:t>
            </a:r>
            <a:r>
              <a:rPr lang="en-JP" sz="2400" dirty="0">
                <a:solidFill>
                  <a:srgbClr val="E0E0E0"/>
                </a:solidFill>
              </a:rPr>
              <a:t>コンピューター</a:t>
            </a:r>
            <a:r>
              <a:rPr lang="ja-JP" altLang="en-US" sz="2400">
                <a:solidFill>
                  <a:srgbClr val="E0E0E0"/>
                </a:solidFill>
              </a:rPr>
              <a:t>・</a:t>
            </a:r>
            <a:r>
              <a:rPr lang="en-JP" sz="2400" dirty="0">
                <a:solidFill>
                  <a:srgbClr val="FF55C8"/>
                </a:solidFill>
                <a:effectLst>
                  <a:glow rad="63500">
                    <a:srgbClr val="00FFD5">
                      <a:alpha val="40000"/>
                    </a:srgbClr>
                  </a:glow>
                </a:effectLst>
              </a:rPr>
              <a:t>量子</a:t>
            </a:r>
            <a:r>
              <a:rPr lang="en-JP" sz="2400" dirty="0">
                <a:solidFill>
                  <a:srgbClr val="E0E0E0"/>
                </a:solidFill>
              </a:rPr>
              <a:t>通信 </a:t>
            </a:r>
            <a:r>
              <a:rPr lang="en-JP" sz="2400" dirty="0">
                <a:solidFill>
                  <a:srgbClr val="E0E0E0"/>
                </a:solidFill>
                <a:effectLst>
                  <a:glow rad="63500">
                    <a:schemeClr val="accent4">
                      <a:satMod val="175000"/>
                      <a:alpha val="40000"/>
                    </a:schemeClr>
                  </a:glow>
                </a:effectLst>
              </a:rPr>
              <a:t>[1]</a:t>
            </a:r>
            <a:endParaRPr lang="en-JP" sz="2400" dirty="0">
              <a:solidFill>
                <a:srgbClr val="E0E0E0"/>
              </a:solidFill>
            </a:endParaRPr>
          </a:p>
          <a:p>
            <a:pPr marL="0" indent="0" algn="ctr">
              <a:lnSpc>
                <a:spcPct val="200000"/>
              </a:lnSpc>
              <a:buNone/>
            </a:pPr>
            <a:r>
              <a:rPr lang="en-JP" b="1" dirty="0">
                <a:solidFill>
                  <a:srgbClr val="E0E0E0"/>
                </a:solidFill>
              </a:rPr>
              <a:t>証明</a:t>
            </a:r>
            <a:r>
              <a:rPr lang="en-JP" dirty="0">
                <a:solidFill>
                  <a:srgbClr val="E0E0E0"/>
                </a:solidFill>
              </a:rPr>
              <a:t>：</a:t>
            </a:r>
            <a:r>
              <a:rPr lang="en-JP" dirty="0">
                <a:solidFill>
                  <a:srgbClr val="FF55C8"/>
                </a:solidFill>
                <a:effectLst>
                  <a:glow rad="63500">
                    <a:srgbClr val="00FFD5">
                      <a:alpha val="40000"/>
                    </a:srgbClr>
                  </a:glow>
                </a:effectLst>
              </a:rPr>
              <a:t>量子</a:t>
            </a:r>
            <a:r>
              <a:rPr lang="en-JP" dirty="0">
                <a:solidFill>
                  <a:srgbClr val="E0E0E0"/>
                </a:solidFill>
              </a:rPr>
              <a:t>状態</a:t>
            </a:r>
          </a:p>
          <a:p>
            <a:pPr>
              <a:lnSpc>
                <a:spcPct val="100000"/>
              </a:lnSpc>
              <a:buClr>
                <a:schemeClr val="bg1"/>
              </a:buClr>
            </a:pPr>
            <a:r>
              <a:rPr lang="en-JP" sz="2400" dirty="0">
                <a:solidFill>
                  <a:srgbClr val="FF55C8"/>
                </a:solidFill>
                <a:effectLst>
                  <a:glow rad="63500">
                    <a:srgbClr val="00FFD5">
                      <a:alpha val="40000"/>
                    </a:srgbClr>
                  </a:glow>
                </a:effectLst>
              </a:rPr>
              <a:t>量子もつれ</a:t>
            </a:r>
            <a:r>
              <a:rPr lang="en-JP" sz="2600" dirty="0">
                <a:solidFill>
                  <a:srgbClr val="E0E0E0"/>
                </a:solidFill>
              </a:rPr>
              <a:t>を共有している。</a:t>
            </a:r>
          </a:p>
          <a:p>
            <a:pPr>
              <a:lnSpc>
                <a:spcPct val="100000"/>
              </a:lnSpc>
              <a:buClr>
                <a:schemeClr val="bg1"/>
              </a:buClr>
            </a:pPr>
            <a:endParaRPr lang="en-JP" sz="2600" dirty="0">
              <a:solidFill>
                <a:srgbClr val="E0E0E0"/>
              </a:solidFill>
            </a:endParaRPr>
          </a:p>
          <a:p>
            <a:pPr marL="0" indent="0">
              <a:lnSpc>
                <a:spcPct val="100000"/>
              </a:lnSpc>
              <a:buClr>
                <a:schemeClr val="bg1"/>
              </a:buClr>
              <a:buNone/>
            </a:pPr>
            <a:r>
              <a:rPr lang="en-JP" sz="2600" b="1" dirty="0">
                <a:solidFill>
                  <a:srgbClr val="A8D5BA"/>
                </a:solidFill>
                <a:effectLst>
                  <a:glow rad="63500">
                    <a:schemeClr val="accent5">
                      <a:satMod val="175000"/>
                      <a:alpha val="40000"/>
                    </a:schemeClr>
                  </a:glow>
                </a:effectLst>
              </a:rPr>
              <a:t>可分証明</a:t>
            </a:r>
            <a:r>
              <a:rPr lang="en-JP" sz="2600" dirty="0">
                <a:solidFill>
                  <a:srgbClr val="E0E0E0"/>
                </a:solidFill>
              </a:rPr>
              <a:t>：もつれを</a:t>
            </a:r>
            <a:r>
              <a:rPr lang="en-JP" sz="2600" b="1" dirty="0">
                <a:solidFill>
                  <a:srgbClr val="A8D5BA"/>
                </a:solidFill>
                <a:effectLst>
                  <a:glow rad="63500">
                    <a:schemeClr val="accent5">
                      <a:satMod val="175000"/>
                      <a:alpha val="40000"/>
                    </a:schemeClr>
                  </a:glow>
                </a:effectLst>
              </a:rPr>
              <a:t>切る</a:t>
            </a:r>
            <a:r>
              <a:rPr lang="en-JP" sz="2600" dirty="0">
                <a:solidFill>
                  <a:srgbClr val="E0E0E0"/>
                </a:solidFill>
              </a:rPr>
              <a:t>証明 </a:t>
            </a:r>
            <a:r>
              <a:rPr lang="en-JP" sz="2600" dirty="0">
                <a:solidFill>
                  <a:srgbClr val="E0E0E0"/>
                </a:solidFill>
                <a:effectLst>
                  <a:glow rad="63500">
                    <a:schemeClr val="accent4">
                      <a:satMod val="175000"/>
                      <a:alpha val="40000"/>
                    </a:schemeClr>
                  </a:glow>
                </a:effectLst>
              </a:rPr>
              <a:t>[2]</a:t>
            </a:r>
          </a:p>
          <a:p>
            <a:pPr>
              <a:lnSpc>
                <a:spcPct val="100000"/>
              </a:lnSpc>
              <a:buClr>
                <a:schemeClr val="bg1"/>
              </a:buClr>
            </a:pPr>
            <a:endParaRPr lang="en-JP" sz="2600" dirty="0">
              <a:solidFill>
                <a:srgbClr val="E0E0E0"/>
              </a:solidFill>
            </a:endParaRPr>
          </a:p>
        </p:txBody>
      </p:sp>
      <p:sp>
        <p:nvSpPr>
          <p:cNvPr id="8" name="Freeform 7">
            <a:extLst>
              <a:ext uri="{FF2B5EF4-FFF2-40B4-BE49-F238E27FC236}">
                <a16:creationId xmlns:a16="http://schemas.microsoft.com/office/drawing/2014/main" id="{586759AD-B5F6-E5F7-68F8-B7A25F785BA1}"/>
              </a:ext>
            </a:extLst>
          </p:cNvPr>
          <p:cNvSpPr/>
          <p:nvPr/>
        </p:nvSpPr>
        <p:spPr>
          <a:xfrm>
            <a:off x="7999237" y="3863542"/>
            <a:ext cx="2091447" cy="505845"/>
          </a:xfrm>
          <a:custGeom>
            <a:avLst/>
            <a:gdLst>
              <a:gd name="csX0" fmla="*/ 0 w 2091447"/>
              <a:gd name="csY0" fmla="*/ 496117 h 505845"/>
              <a:gd name="csX1" fmla="*/ 544749 w 2091447"/>
              <a:gd name="csY1" fmla="*/ 7 h 505845"/>
              <a:gd name="csX2" fmla="*/ 2091447 w 2091447"/>
              <a:gd name="csY2" fmla="*/ 505845 h 505845"/>
            </a:gdLst>
            <a:ahLst/>
            <a:cxnLst>
              <a:cxn ang="0">
                <a:pos x="csX0" y="csY0"/>
              </a:cxn>
              <a:cxn ang="0">
                <a:pos x="csX1" y="csY1"/>
              </a:cxn>
              <a:cxn ang="0">
                <a:pos x="csX2" y="csY2"/>
              </a:cxn>
            </a:cxnLst>
            <a:rect l="l" t="t" r="r" b="b"/>
            <a:pathLst>
              <a:path w="2091447" h="505845">
                <a:moveTo>
                  <a:pt x="0" y="496117"/>
                </a:moveTo>
                <a:cubicBezTo>
                  <a:pt x="98087" y="247251"/>
                  <a:pt x="196175" y="-1614"/>
                  <a:pt x="544749" y="7"/>
                </a:cubicBezTo>
                <a:cubicBezTo>
                  <a:pt x="893323" y="1628"/>
                  <a:pt x="1835285" y="423160"/>
                  <a:pt x="2091447" y="505845"/>
                </a:cubicBezTo>
              </a:path>
            </a:pathLst>
          </a:custGeom>
          <a:noFill/>
          <a:ln>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63500">
                  <a:schemeClr val="accent3">
                    <a:satMod val="175000"/>
                    <a:alpha val="40000"/>
                  </a:schemeClr>
                </a:glow>
              </a:effectLst>
            </a:endParaRPr>
          </a:p>
        </p:txBody>
      </p:sp>
      <p:sp>
        <p:nvSpPr>
          <p:cNvPr id="11" name="Freeform 10">
            <a:extLst>
              <a:ext uri="{FF2B5EF4-FFF2-40B4-BE49-F238E27FC236}">
                <a16:creationId xmlns:a16="http://schemas.microsoft.com/office/drawing/2014/main" id="{39A99471-93BE-EBF4-8ECA-0E924702B404}"/>
              </a:ext>
            </a:extLst>
          </p:cNvPr>
          <p:cNvSpPr/>
          <p:nvPr/>
        </p:nvSpPr>
        <p:spPr>
          <a:xfrm>
            <a:off x="7772400" y="4649821"/>
            <a:ext cx="1780162" cy="552196"/>
          </a:xfrm>
          <a:custGeom>
            <a:avLst/>
            <a:gdLst>
              <a:gd name="csX0" fmla="*/ 1780162 w 1780162"/>
              <a:gd name="csY0" fmla="*/ 0 h 552196"/>
              <a:gd name="csX1" fmla="*/ 1070043 w 1780162"/>
              <a:gd name="csY1" fmla="*/ 486383 h 552196"/>
              <a:gd name="csX2" fmla="*/ 321013 w 1780162"/>
              <a:gd name="csY2" fmla="*/ 496111 h 552196"/>
              <a:gd name="csX3" fmla="*/ 0 w 1780162"/>
              <a:gd name="csY3" fmla="*/ 9728 h 552196"/>
            </a:gdLst>
            <a:ahLst/>
            <a:cxnLst>
              <a:cxn ang="0">
                <a:pos x="csX0" y="csY0"/>
              </a:cxn>
              <a:cxn ang="0">
                <a:pos x="csX1" y="csY1"/>
              </a:cxn>
              <a:cxn ang="0">
                <a:pos x="csX2" y="csY2"/>
              </a:cxn>
              <a:cxn ang="0">
                <a:pos x="csX3" y="csY3"/>
              </a:cxn>
            </a:cxnLst>
            <a:rect l="l" t="t" r="r" b="b"/>
            <a:pathLst>
              <a:path w="1780162" h="552196">
                <a:moveTo>
                  <a:pt x="1780162" y="0"/>
                </a:moveTo>
                <a:cubicBezTo>
                  <a:pt x="1546698" y="201849"/>
                  <a:pt x="1313234" y="403698"/>
                  <a:pt x="1070043" y="486383"/>
                </a:cubicBezTo>
                <a:cubicBezTo>
                  <a:pt x="826852" y="569068"/>
                  <a:pt x="499353" y="575553"/>
                  <a:pt x="321013" y="496111"/>
                </a:cubicBezTo>
                <a:cubicBezTo>
                  <a:pt x="142673" y="416669"/>
                  <a:pt x="43774" y="79443"/>
                  <a:pt x="0" y="9728"/>
                </a:cubicBezTo>
              </a:path>
            </a:pathLst>
          </a:custGeom>
          <a:noFill/>
          <a:ln>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63500">
                  <a:schemeClr val="accent3">
                    <a:satMod val="175000"/>
                    <a:alpha val="40000"/>
                  </a:schemeClr>
                </a:glow>
              </a:effectLst>
            </a:endParaRPr>
          </a:p>
        </p:txBody>
      </p:sp>
      <p:sp>
        <p:nvSpPr>
          <p:cNvPr id="13" name="Freeform 12">
            <a:extLst>
              <a:ext uri="{FF2B5EF4-FFF2-40B4-BE49-F238E27FC236}">
                <a16:creationId xmlns:a16="http://schemas.microsoft.com/office/drawing/2014/main" id="{EFF20DEC-4A89-CF11-5D64-139ED832967C}"/>
              </a:ext>
            </a:extLst>
          </p:cNvPr>
          <p:cNvSpPr/>
          <p:nvPr/>
        </p:nvSpPr>
        <p:spPr>
          <a:xfrm>
            <a:off x="7538936" y="4040421"/>
            <a:ext cx="1721796" cy="327298"/>
          </a:xfrm>
          <a:custGeom>
            <a:avLst/>
            <a:gdLst>
              <a:gd name="csX0" fmla="*/ 1721796 w 1721796"/>
              <a:gd name="csY0" fmla="*/ 327298 h 327298"/>
              <a:gd name="csX1" fmla="*/ 1060315 w 1721796"/>
              <a:gd name="csY1" fmla="*/ 16013 h 327298"/>
              <a:gd name="csX2" fmla="*/ 252919 w 1721796"/>
              <a:gd name="csY2" fmla="*/ 74379 h 327298"/>
              <a:gd name="csX3" fmla="*/ 0 w 1721796"/>
              <a:gd name="csY3" fmla="*/ 327298 h 327298"/>
            </a:gdLst>
            <a:ahLst/>
            <a:cxnLst>
              <a:cxn ang="0">
                <a:pos x="csX0" y="csY0"/>
              </a:cxn>
              <a:cxn ang="0">
                <a:pos x="csX1" y="csY1"/>
              </a:cxn>
              <a:cxn ang="0">
                <a:pos x="csX2" y="csY2"/>
              </a:cxn>
              <a:cxn ang="0">
                <a:pos x="csX3" y="csY3"/>
              </a:cxn>
            </a:cxnLst>
            <a:rect l="l" t="t" r="r" b="b"/>
            <a:pathLst>
              <a:path w="1721796" h="327298">
                <a:moveTo>
                  <a:pt x="1721796" y="327298"/>
                </a:moveTo>
                <a:cubicBezTo>
                  <a:pt x="1513462" y="192732"/>
                  <a:pt x="1305128" y="58166"/>
                  <a:pt x="1060315" y="16013"/>
                </a:cubicBezTo>
                <a:cubicBezTo>
                  <a:pt x="815502" y="-26140"/>
                  <a:pt x="429638" y="22498"/>
                  <a:pt x="252919" y="74379"/>
                </a:cubicBezTo>
                <a:cubicBezTo>
                  <a:pt x="76200" y="126260"/>
                  <a:pt x="0" y="288387"/>
                  <a:pt x="0" y="327298"/>
                </a:cubicBezTo>
              </a:path>
            </a:pathLst>
          </a:custGeom>
          <a:noFill/>
          <a:ln>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63500">
                  <a:schemeClr val="accent3">
                    <a:satMod val="175000"/>
                    <a:alpha val="40000"/>
                  </a:schemeClr>
                </a:glow>
              </a:effectLst>
            </a:endParaRPr>
          </a:p>
        </p:txBody>
      </p:sp>
      <p:sp>
        <p:nvSpPr>
          <p:cNvPr id="14" name="Freeform 13">
            <a:extLst>
              <a:ext uri="{FF2B5EF4-FFF2-40B4-BE49-F238E27FC236}">
                <a16:creationId xmlns:a16="http://schemas.microsoft.com/office/drawing/2014/main" id="{B813237C-90FC-A025-BCB6-8BCC5EDA317C}"/>
              </a:ext>
            </a:extLst>
          </p:cNvPr>
          <p:cNvSpPr/>
          <p:nvPr/>
        </p:nvSpPr>
        <p:spPr>
          <a:xfrm>
            <a:off x="6955278" y="4678899"/>
            <a:ext cx="3489292" cy="375941"/>
          </a:xfrm>
          <a:custGeom>
            <a:avLst/>
            <a:gdLst>
              <a:gd name="csX0" fmla="*/ 0 w 3492229"/>
              <a:gd name="csY0" fmla="*/ 0 h 395291"/>
              <a:gd name="csX1" fmla="*/ 272374 w 3492229"/>
              <a:gd name="csY1" fmla="*/ 243191 h 395291"/>
              <a:gd name="csX2" fmla="*/ 1449421 w 3492229"/>
              <a:gd name="csY2" fmla="*/ 389106 h 395291"/>
              <a:gd name="csX3" fmla="*/ 3219855 w 3492229"/>
              <a:gd name="csY3" fmla="*/ 330740 h 395291"/>
              <a:gd name="csX4" fmla="*/ 3492229 w 3492229"/>
              <a:gd name="csY4" fmla="*/ 0 h 395291"/>
            </a:gdLst>
            <a:ahLst/>
            <a:cxnLst>
              <a:cxn ang="0">
                <a:pos x="csX0" y="csY0"/>
              </a:cxn>
              <a:cxn ang="0">
                <a:pos x="csX1" y="csY1"/>
              </a:cxn>
              <a:cxn ang="0">
                <a:pos x="csX2" y="csY2"/>
              </a:cxn>
              <a:cxn ang="0">
                <a:pos x="csX3" y="csY3"/>
              </a:cxn>
              <a:cxn ang="0">
                <a:pos x="csX4" y="csY4"/>
              </a:cxn>
            </a:cxnLst>
            <a:rect l="l" t="t" r="r" b="b"/>
            <a:pathLst>
              <a:path w="3492229" h="395291">
                <a:moveTo>
                  <a:pt x="0" y="0"/>
                </a:moveTo>
                <a:cubicBezTo>
                  <a:pt x="15402" y="89170"/>
                  <a:pt x="30804" y="178340"/>
                  <a:pt x="272374" y="243191"/>
                </a:cubicBezTo>
                <a:cubicBezTo>
                  <a:pt x="513944" y="308042"/>
                  <a:pt x="958174" y="374515"/>
                  <a:pt x="1449421" y="389106"/>
                </a:cubicBezTo>
                <a:cubicBezTo>
                  <a:pt x="1940668" y="403697"/>
                  <a:pt x="2879387" y="395591"/>
                  <a:pt x="3219855" y="330740"/>
                </a:cubicBezTo>
                <a:cubicBezTo>
                  <a:pt x="3560323" y="265889"/>
                  <a:pt x="3474395" y="21076"/>
                  <a:pt x="3492229" y="0"/>
                </a:cubicBezTo>
              </a:path>
            </a:pathLst>
          </a:custGeom>
          <a:noFill/>
          <a:ln>
            <a:solidFill>
              <a:srgbClr val="FF55C8"/>
            </a:solidFill>
          </a:ln>
          <a:effectLst>
            <a:glow rad="25400">
              <a:srgbClr val="00FFD5">
                <a:alpha val="40000"/>
              </a:srgbClr>
            </a:glow>
          </a:effectLst>
        </p:spPr>
        <p:style>
          <a:lnRef idx="2">
            <a:schemeClr val="accent3"/>
          </a:lnRef>
          <a:fillRef idx="0">
            <a:schemeClr val="accent3"/>
          </a:fillRef>
          <a:effectRef idx="1">
            <a:schemeClr val="accent3"/>
          </a:effectRef>
          <a:fontRef idx="minor">
            <a:schemeClr val="tx1"/>
          </a:fontRef>
        </p:style>
        <p:txBody>
          <a:bodyPr rtlCol="0" anchor="ctr"/>
          <a:lstStyle/>
          <a:p>
            <a:pPr algn="ctr"/>
            <a:endParaRPr lang="en-JP">
              <a:effectLst>
                <a:glow rad="63500">
                  <a:schemeClr val="accent3">
                    <a:satMod val="175000"/>
                    <a:alpha val="40000"/>
                  </a:schemeClr>
                </a:glow>
              </a:effectLst>
            </a:endParaRPr>
          </a:p>
        </p:txBody>
      </p:sp>
      <p:sp>
        <p:nvSpPr>
          <p:cNvPr id="26" name="Freeform 25">
            <a:extLst>
              <a:ext uri="{FF2B5EF4-FFF2-40B4-BE49-F238E27FC236}">
                <a16:creationId xmlns:a16="http://schemas.microsoft.com/office/drawing/2014/main" id="{824FFC16-28AA-7B4F-D5DD-9F7522C70D53}"/>
              </a:ext>
            </a:extLst>
          </p:cNvPr>
          <p:cNvSpPr/>
          <p:nvPr/>
        </p:nvSpPr>
        <p:spPr>
          <a:xfrm>
            <a:off x="7266562" y="3942005"/>
            <a:ext cx="1565164" cy="561901"/>
          </a:xfrm>
          <a:custGeom>
            <a:avLst/>
            <a:gdLst>
              <a:gd name="csX0" fmla="*/ 0 w 1565164"/>
              <a:gd name="csY0" fmla="*/ 425714 h 561901"/>
              <a:gd name="csX1" fmla="*/ 282102 w 1565164"/>
              <a:gd name="csY1" fmla="*/ 46335 h 561901"/>
              <a:gd name="csX2" fmla="*/ 525293 w 1565164"/>
              <a:gd name="csY2" fmla="*/ 7425 h 561901"/>
              <a:gd name="csX3" fmla="*/ 642025 w 1565164"/>
              <a:gd name="csY3" fmla="*/ 56063 h 561901"/>
              <a:gd name="csX4" fmla="*/ 710119 w 1565164"/>
              <a:gd name="csY4" fmla="*/ 201978 h 561901"/>
              <a:gd name="csX5" fmla="*/ 914400 w 1565164"/>
              <a:gd name="csY5" fmla="*/ 289527 h 561901"/>
              <a:gd name="csX6" fmla="*/ 1157591 w 1565164"/>
              <a:gd name="csY6" fmla="*/ 279799 h 561901"/>
              <a:gd name="csX7" fmla="*/ 1410510 w 1565164"/>
              <a:gd name="csY7" fmla="*/ 386804 h 561901"/>
              <a:gd name="csX8" fmla="*/ 1498059 w 1565164"/>
              <a:gd name="csY8" fmla="*/ 532718 h 561901"/>
              <a:gd name="csX9" fmla="*/ 1556425 w 1565164"/>
              <a:gd name="csY9" fmla="*/ 561901 h 561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5164" h="561901">
                <a:moveTo>
                  <a:pt x="0" y="425714"/>
                </a:moveTo>
                <a:cubicBezTo>
                  <a:pt x="97276" y="270882"/>
                  <a:pt x="194553" y="116050"/>
                  <a:pt x="282102" y="46335"/>
                </a:cubicBezTo>
                <a:cubicBezTo>
                  <a:pt x="369651" y="-23380"/>
                  <a:pt x="465306" y="5804"/>
                  <a:pt x="525293" y="7425"/>
                </a:cubicBezTo>
                <a:cubicBezTo>
                  <a:pt x="585280" y="9046"/>
                  <a:pt x="611221" y="23638"/>
                  <a:pt x="642025" y="56063"/>
                </a:cubicBezTo>
                <a:cubicBezTo>
                  <a:pt x="672829" y="88488"/>
                  <a:pt x="664723" y="163067"/>
                  <a:pt x="710119" y="201978"/>
                </a:cubicBezTo>
                <a:cubicBezTo>
                  <a:pt x="755515" y="240889"/>
                  <a:pt x="839821" y="276557"/>
                  <a:pt x="914400" y="289527"/>
                </a:cubicBezTo>
                <a:cubicBezTo>
                  <a:pt x="988979" y="302497"/>
                  <a:pt x="1074906" y="263586"/>
                  <a:pt x="1157591" y="279799"/>
                </a:cubicBezTo>
                <a:cubicBezTo>
                  <a:pt x="1240276" y="296012"/>
                  <a:pt x="1353765" y="344651"/>
                  <a:pt x="1410510" y="386804"/>
                </a:cubicBezTo>
                <a:cubicBezTo>
                  <a:pt x="1467255" y="428957"/>
                  <a:pt x="1498059" y="532718"/>
                  <a:pt x="1498059" y="532718"/>
                </a:cubicBezTo>
                <a:cubicBezTo>
                  <a:pt x="1522378" y="561901"/>
                  <a:pt x="1588851" y="542446"/>
                  <a:pt x="1556425" y="561901"/>
                </a:cubicBezTo>
              </a:path>
            </a:pathLst>
          </a:custGeom>
          <a:noFill/>
          <a:ln>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7" name="Freeform 26">
            <a:extLst>
              <a:ext uri="{FF2B5EF4-FFF2-40B4-BE49-F238E27FC236}">
                <a16:creationId xmlns:a16="http://schemas.microsoft.com/office/drawing/2014/main" id="{B2E9EFC0-E957-0A01-8CA7-D8246B35249A}"/>
              </a:ext>
            </a:extLst>
          </p:cNvPr>
          <p:cNvSpPr/>
          <p:nvPr/>
        </p:nvSpPr>
        <p:spPr>
          <a:xfrm>
            <a:off x="8391200" y="4655992"/>
            <a:ext cx="2626468" cy="442101"/>
          </a:xfrm>
          <a:custGeom>
            <a:avLst/>
            <a:gdLst>
              <a:gd name="csX0" fmla="*/ 0 w 2626468"/>
              <a:gd name="csY0" fmla="*/ 0 h 442101"/>
              <a:gd name="csX1" fmla="*/ 379379 w 2626468"/>
              <a:gd name="csY1" fmla="*/ 330741 h 442101"/>
              <a:gd name="csX2" fmla="*/ 807396 w 2626468"/>
              <a:gd name="csY2" fmla="*/ 437745 h 442101"/>
              <a:gd name="csX3" fmla="*/ 1721796 w 2626468"/>
              <a:gd name="csY3" fmla="*/ 408562 h 442101"/>
              <a:gd name="csX4" fmla="*/ 2140085 w 2626468"/>
              <a:gd name="csY4" fmla="*/ 291830 h 442101"/>
              <a:gd name="csX5" fmla="*/ 2529192 w 2626468"/>
              <a:gd name="csY5" fmla="*/ 223736 h 442101"/>
              <a:gd name="csX6" fmla="*/ 2626468 w 2626468"/>
              <a:gd name="csY6" fmla="*/ 9728 h 4421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26468" h="442101">
                <a:moveTo>
                  <a:pt x="0" y="0"/>
                </a:moveTo>
                <a:cubicBezTo>
                  <a:pt x="122406" y="128891"/>
                  <a:pt x="244813" y="257783"/>
                  <a:pt x="379379" y="330741"/>
                </a:cubicBezTo>
                <a:cubicBezTo>
                  <a:pt x="513945" y="403699"/>
                  <a:pt x="583660" y="424775"/>
                  <a:pt x="807396" y="437745"/>
                </a:cubicBezTo>
                <a:cubicBezTo>
                  <a:pt x="1031132" y="450715"/>
                  <a:pt x="1499681" y="432881"/>
                  <a:pt x="1721796" y="408562"/>
                </a:cubicBezTo>
                <a:cubicBezTo>
                  <a:pt x="1943911" y="384243"/>
                  <a:pt x="2005519" y="322634"/>
                  <a:pt x="2140085" y="291830"/>
                </a:cubicBezTo>
                <a:cubicBezTo>
                  <a:pt x="2274651" y="261026"/>
                  <a:pt x="2448128" y="270753"/>
                  <a:pt x="2529192" y="223736"/>
                </a:cubicBezTo>
                <a:cubicBezTo>
                  <a:pt x="2610256" y="176719"/>
                  <a:pt x="2618362" y="93223"/>
                  <a:pt x="2626468" y="9728"/>
                </a:cubicBezTo>
              </a:path>
            </a:pathLst>
          </a:custGeom>
          <a:noFill/>
          <a:ln w="12700">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30" name="Straight Connector 29">
            <a:extLst>
              <a:ext uri="{FF2B5EF4-FFF2-40B4-BE49-F238E27FC236}">
                <a16:creationId xmlns:a16="http://schemas.microsoft.com/office/drawing/2014/main" id="{82F79037-A53A-0F7A-90DA-13553BD957CB}"/>
              </a:ext>
            </a:extLst>
          </p:cNvPr>
          <p:cNvCxnSpPr>
            <a:stCxn id="26" idx="0"/>
            <a:endCxn id="26" idx="0"/>
          </p:cNvCxnSpPr>
          <p:nvPr/>
        </p:nvCxnSpPr>
        <p:spPr>
          <a:xfrm>
            <a:off x="7266562" y="4367719"/>
            <a:ext cx="0" cy="0"/>
          </a:xfrm>
          <a:prstGeom prst="line">
            <a:avLst/>
          </a:prstGeom>
        </p:spPr>
        <p:style>
          <a:lnRef idx="2">
            <a:schemeClr val="accent1"/>
          </a:lnRef>
          <a:fillRef idx="0">
            <a:schemeClr val="accent1"/>
          </a:fillRef>
          <a:effectRef idx="1">
            <a:schemeClr val="accent1"/>
          </a:effectRef>
          <a:fontRef idx="minor">
            <a:schemeClr val="tx1"/>
          </a:fontRef>
        </p:style>
      </p:cxnSp>
      <p:sp>
        <p:nvSpPr>
          <p:cNvPr id="51" name="Freeform 50">
            <a:extLst>
              <a:ext uri="{FF2B5EF4-FFF2-40B4-BE49-F238E27FC236}">
                <a16:creationId xmlns:a16="http://schemas.microsoft.com/office/drawing/2014/main" id="{C31376DC-D364-68A5-346C-DBCAEDEC8008}"/>
              </a:ext>
            </a:extLst>
          </p:cNvPr>
          <p:cNvSpPr/>
          <p:nvPr/>
        </p:nvSpPr>
        <p:spPr>
          <a:xfrm>
            <a:off x="8389731" y="4656067"/>
            <a:ext cx="2626468" cy="442101"/>
          </a:xfrm>
          <a:custGeom>
            <a:avLst/>
            <a:gdLst>
              <a:gd name="csX0" fmla="*/ 0 w 2626468"/>
              <a:gd name="csY0" fmla="*/ 0 h 442101"/>
              <a:gd name="csX1" fmla="*/ 379379 w 2626468"/>
              <a:gd name="csY1" fmla="*/ 330741 h 442101"/>
              <a:gd name="csX2" fmla="*/ 807396 w 2626468"/>
              <a:gd name="csY2" fmla="*/ 437745 h 442101"/>
              <a:gd name="csX3" fmla="*/ 1721796 w 2626468"/>
              <a:gd name="csY3" fmla="*/ 408562 h 442101"/>
              <a:gd name="csX4" fmla="*/ 2140085 w 2626468"/>
              <a:gd name="csY4" fmla="*/ 291830 h 442101"/>
              <a:gd name="csX5" fmla="*/ 2529192 w 2626468"/>
              <a:gd name="csY5" fmla="*/ 223736 h 442101"/>
              <a:gd name="csX6" fmla="*/ 2626468 w 2626468"/>
              <a:gd name="csY6" fmla="*/ 9728 h 4421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26468" h="442101">
                <a:moveTo>
                  <a:pt x="0" y="0"/>
                </a:moveTo>
                <a:cubicBezTo>
                  <a:pt x="122406" y="128891"/>
                  <a:pt x="244813" y="257783"/>
                  <a:pt x="379379" y="330741"/>
                </a:cubicBezTo>
                <a:cubicBezTo>
                  <a:pt x="513945" y="403699"/>
                  <a:pt x="583660" y="424775"/>
                  <a:pt x="807396" y="437745"/>
                </a:cubicBezTo>
                <a:cubicBezTo>
                  <a:pt x="1031132" y="450715"/>
                  <a:pt x="1499681" y="432881"/>
                  <a:pt x="1721796" y="408562"/>
                </a:cubicBezTo>
                <a:cubicBezTo>
                  <a:pt x="1943911" y="384243"/>
                  <a:pt x="2005519" y="322634"/>
                  <a:pt x="2140085" y="291830"/>
                </a:cubicBezTo>
                <a:cubicBezTo>
                  <a:pt x="2274651" y="261026"/>
                  <a:pt x="2448128" y="270753"/>
                  <a:pt x="2529192" y="223736"/>
                </a:cubicBezTo>
                <a:cubicBezTo>
                  <a:pt x="2610256" y="176719"/>
                  <a:pt x="2618362" y="93223"/>
                  <a:pt x="2626468" y="9728"/>
                </a:cubicBezTo>
              </a:path>
            </a:pathLst>
          </a:custGeom>
          <a:noFill/>
          <a:ln w="12700">
            <a:solidFill>
              <a:schemeClr val="bg1">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2" name="Freeform 51">
            <a:extLst>
              <a:ext uri="{FF2B5EF4-FFF2-40B4-BE49-F238E27FC236}">
                <a16:creationId xmlns:a16="http://schemas.microsoft.com/office/drawing/2014/main" id="{86B8DAD6-65B3-521E-C268-E63BA4DF8526}"/>
              </a:ext>
            </a:extLst>
          </p:cNvPr>
          <p:cNvSpPr/>
          <p:nvPr/>
        </p:nvSpPr>
        <p:spPr>
          <a:xfrm>
            <a:off x="6955278" y="4680000"/>
            <a:ext cx="3489292" cy="375941"/>
          </a:xfrm>
          <a:custGeom>
            <a:avLst/>
            <a:gdLst>
              <a:gd name="csX0" fmla="*/ 0 w 3492229"/>
              <a:gd name="csY0" fmla="*/ 0 h 395291"/>
              <a:gd name="csX1" fmla="*/ 272374 w 3492229"/>
              <a:gd name="csY1" fmla="*/ 243191 h 395291"/>
              <a:gd name="csX2" fmla="*/ 1449421 w 3492229"/>
              <a:gd name="csY2" fmla="*/ 389106 h 395291"/>
              <a:gd name="csX3" fmla="*/ 3219855 w 3492229"/>
              <a:gd name="csY3" fmla="*/ 330740 h 395291"/>
              <a:gd name="csX4" fmla="*/ 3492229 w 3492229"/>
              <a:gd name="csY4" fmla="*/ 0 h 395291"/>
            </a:gdLst>
            <a:ahLst/>
            <a:cxnLst>
              <a:cxn ang="0">
                <a:pos x="csX0" y="csY0"/>
              </a:cxn>
              <a:cxn ang="0">
                <a:pos x="csX1" y="csY1"/>
              </a:cxn>
              <a:cxn ang="0">
                <a:pos x="csX2" y="csY2"/>
              </a:cxn>
              <a:cxn ang="0">
                <a:pos x="csX3" y="csY3"/>
              </a:cxn>
              <a:cxn ang="0">
                <a:pos x="csX4" y="csY4"/>
              </a:cxn>
            </a:cxnLst>
            <a:rect l="l" t="t" r="r" b="b"/>
            <a:pathLst>
              <a:path w="3492229" h="395291">
                <a:moveTo>
                  <a:pt x="0" y="0"/>
                </a:moveTo>
                <a:cubicBezTo>
                  <a:pt x="15402" y="89170"/>
                  <a:pt x="30804" y="178340"/>
                  <a:pt x="272374" y="243191"/>
                </a:cubicBezTo>
                <a:cubicBezTo>
                  <a:pt x="513944" y="308042"/>
                  <a:pt x="958174" y="374515"/>
                  <a:pt x="1449421" y="389106"/>
                </a:cubicBezTo>
                <a:cubicBezTo>
                  <a:pt x="1940668" y="403697"/>
                  <a:pt x="2879387" y="395591"/>
                  <a:pt x="3219855" y="330740"/>
                </a:cubicBezTo>
                <a:cubicBezTo>
                  <a:pt x="3560323" y="265889"/>
                  <a:pt x="3474395" y="21076"/>
                  <a:pt x="3492229" y="0"/>
                </a:cubicBezTo>
              </a:path>
            </a:pathLst>
          </a:custGeom>
          <a:noFill/>
          <a:ln w="12700">
            <a:solidFill>
              <a:schemeClr val="bg1">
                <a:alpha val="70000"/>
              </a:schemeClr>
            </a:solidFill>
          </a:ln>
          <a:effectLst/>
        </p:spPr>
        <p:style>
          <a:lnRef idx="2">
            <a:schemeClr val="accent3"/>
          </a:lnRef>
          <a:fillRef idx="0">
            <a:schemeClr val="accent3"/>
          </a:fillRef>
          <a:effectRef idx="1">
            <a:schemeClr val="accent3"/>
          </a:effectRef>
          <a:fontRef idx="minor">
            <a:schemeClr val="tx1"/>
          </a:fontRef>
        </p:style>
        <p:txBody>
          <a:bodyPr rtlCol="0" anchor="ctr"/>
          <a:lstStyle/>
          <a:p>
            <a:pPr algn="ctr"/>
            <a:endParaRPr lang="en-JP">
              <a:effectLst>
                <a:glow rad="63500">
                  <a:schemeClr val="accent3">
                    <a:satMod val="175000"/>
                    <a:alpha val="40000"/>
                  </a:schemeClr>
                </a:glow>
              </a:effectLst>
            </a:endParaRPr>
          </a:p>
        </p:txBody>
      </p:sp>
      <p:sp>
        <p:nvSpPr>
          <p:cNvPr id="53" name="Freeform 52">
            <a:extLst>
              <a:ext uri="{FF2B5EF4-FFF2-40B4-BE49-F238E27FC236}">
                <a16:creationId xmlns:a16="http://schemas.microsoft.com/office/drawing/2014/main" id="{361C0961-8E57-3F8B-F57B-1054A5985BCD}"/>
              </a:ext>
            </a:extLst>
          </p:cNvPr>
          <p:cNvSpPr/>
          <p:nvPr/>
        </p:nvSpPr>
        <p:spPr>
          <a:xfrm>
            <a:off x="7772834" y="4649123"/>
            <a:ext cx="1780162" cy="552196"/>
          </a:xfrm>
          <a:custGeom>
            <a:avLst/>
            <a:gdLst>
              <a:gd name="csX0" fmla="*/ 1780162 w 1780162"/>
              <a:gd name="csY0" fmla="*/ 0 h 552196"/>
              <a:gd name="csX1" fmla="*/ 1070043 w 1780162"/>
              <a:gd name="csY1" fmla="*/ 486383 h 552196"/>
              <a:gd name="csX2" fmla="*/ 321013 w 1780162"/>
              <a:gd name="csY2" fmla="*/ 496111 h 552196"/>
              <a:gd name="csX3" fmla="*/ 0 w 1780162"/>
              <a:gd name="csY3" fmla="*/ 9728 h 552196"/>
            </a:gdLst>
            <a:ahLst/>
            <a:cxnLst>
              <a:cxn ang="0">
                <a:pos x="csX0" y="csY0"/>
              </a:cxn>
              <a:cxn ang="0">
                <a:pos x="csX1" y="csY1"/>
              </a:cxn>
              <a:cxn ang="0">
                <a:pos x="csX2" y="csY2"/>
              </a:cxn>
              <a:cxn ang="0">
                <a:pos x="csX3" y="csY3"/>
              </a:cxn>
            </a:cxnLst>
            <a:rect l="l" t="t" r="r" b="b"/>
            <a:pathLst>
              <a:path w="1780162" h="552196">
                <a:moveTo>
                  <a:pt x="1780162" y="0"/>
                </a:moveTo>
                <a:cubicBezTo>
                  <a:pt x="1546698" y="201849"/>
                  <a:pt x="1313234" y="403698"/>
                  <a:pt x="1070043" y="486383"/>
                </a:cubicBezTo>
                <a:cubicBezTo>
                  <a:pt x="826852" y="569068"/>
                  <a:pt x="499353" y="575553"/>
                  <a:pt x="321013" y="496111"/>
                </a:cubicBezTo>
                <a:cubicBezTo>
                  <a:pt x="142673" y="416669"/>
                  <a:pt x="43774" y="79443"/>
                  <a:pt x="0" y="9728"/>
                </a:cubicBezTo>
              </a:path>
            </a:pathLst>
          </a:custGeom>
          <a:noFill/>
          <a:ln w="12700">
            <a:solidFill>
              <a:schemeClr val="bg1">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63500">
                  <a:schemeClr val="accent3">
                    <a:satMod val="175000"/>
                    <a:alpha val="40000"/>
                  </a:schemeClr>
                </a:glow>
              </a:effectLst>
            </a:endParaRPr>
          </a:p>
        </p:txBody>
      </p:sp>
      <p:sp>
        <p:nvSpPr>
          <p:cNvPr id="54" name="Freeform 53">
            <a:extLst>
              <a:ext uri="{FF2B5EF4-FFF2-40B4-BE49-F238E27FC236}">
                <a16:creationId xmlns:a16="http://schemas.microsoft.com/office/drawing/2014/main" id="{3A2DC075-09C5-9041-5FF1-47CD835F2A47}"/>
              </a:ext>
            </a:extLst>
          </p:cNvPr>
          <p:cNvSpPr/>
          <p:nvPr/>
        </p:nvSpPr>
        <p:spPr>
          <a:xfrm>
            <a:off x="7536400" y="4040168"/>
            <a:ext cx="1721796" cy="327298"/>
          </a:xfrm>
          <a:custGeom>
            <a:avLst/>
            <a:gdLst>
              <a:gd name="csX0" fmla="*/ 1721796 w 1721796"/>
              <a:gd name="csY0" fmla="*/ 327298 h 327298"/>
              <a:gd name="csX1" fmla="*/ 1060315 w 1721796"/>
              <a:gd name="csY1" fmla="*/ 16013 h 327298"/>
              <a:gd name="csX2" fmla="*/ 252919 w 1721796"/>
              <a:gd name="csY2" fmla="*/ 74379 h 327298"/>
              <a:gd name="csX3" fmla="*/ 0 w 1721796"/>
              <a:gd name="csY3" fmla="*/ 327298 h 327298"/>
            </a:gdLst>
            <a:ahLst/>
            <a:cxnLst>
              <a:cxn ang="0">
                <a:pos x="csX0" y="csY0"/>
              </a:cxn>
              <a:cxn ang="0">
                <a:pos x="csX1" y="csY1"/>
              </a:cxn>
              <a:cxn ang="0">
                <a:pos x="csX2" y="csY2"/>
              </a:cxn>
              <a:cxn ang="0">
                <a:pos x="csX3" y="csY3"/>
              </a:cxn>
            </a:cxnLst>
            <a:rect l="l" t="t" r="r" b="b"/>
            <a:pathLst>
              <a:path w="1721796" h="327298">
                <a:moveTo>
                  <a:pt x="1721796" y="327298"/>
                </a:moveTo>
                <a:cubicBezTo>
                  <a:pt x="1513462" y="192732"/>
                  <a:pt x="1305128" y="58166"/>
                  <a:pt x="1060315" y="16013"/>
                </a:cubicBezTo>
                <a:cubicBezTo>
                  <a:pt x="815502" y="-26140"/>
                  <a:pt x="429638" y="22498"/>
                  <a:pt x="252919" y="74379"/>
                </a:cubicBezTo>
                <a:cubicBezTo>
                  <a:pt x="76200" y="126260"/>
                  <a:pt x="0" y="288387"/>
                  <a:pt x="0" y="327298"/>
                </a:cubicBezTo>
              </a:path>
            </a:pathLst>
          </a:custGeom>
          <a:noFill/>
          <a:ln w="12700">
            <a:solidFill>
              <a:schemeClr val="bg1">
                <a:alpha val="6466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63500">
                  <a:schemeClr val="accent3">
                    <a:satMod val="175000"/>
                    <a:alpha val="40000"/>
                  </a:schemeClr>
                </a:glow>
              </a:effectLst>
            </a:endParaRPr>
          </a:p>
        </p:txBody>
      </p:sp>
      <p:sp>
        <p:nvSpPr>
          <p:cNvPr id="55" name="Freeform 54">
            <a:extLst>
              <a:ext uri="{FF2B5EF4-FFF2-40B4-BE49-F238E27FC236}">
                <a16:creationId xmlns:a16="http://schemas.microsoft.com/office/drawing/2014/main" id="{C55CE4E5-D746-C9B3-262D-3327003B9FE6}"/>
              </a:ext>
            </a:extLst>
          </p:cNvPr>
          <p:cNvSpPr/>
          <p:nvPr/>
        </p:nvSpPr>
        <p:spPr>
          <a:xfrm>
            <a:off x="7999238" y="3860108"/>
            <a:ext cx="2091447" cy="505845"/>
          </a:xfrm>
          <a:custGeom>
            <a:avLst/>
            <a:gdLst>
              <a:gd name="csX0" fmla="*/ 0 w 2091447"/>
              <a:gd name="csY0" fmla="*/ 496117 h 505845"/>
              <a:gd name="csX1" fmla="*/ 544749 w 2091447"/>
              <a:gd name="csY1" fmla="*/ 7 h 505845"/>
              <a:gd name="csX2" fmla="*/ 2091447 w 2091447"/>
              <a:gd name="csY2" fmla="*/ 505845 h 505845"/>
            </a:gdLst>
            <a:ahLst/>
            <a:cxnLst>
              <a:cxn ang="0">
                <a:pos x="csX0" y="csY0"/>
              </a:cxn>
              <a:cxn ang="0">
                <a:pos x="csX1" y="csY1"/>
              </a:cxn>
              <a:cxn ang="0">
                <a:pos x="csX2" y="csY2"/>
              </a:cxn>
            </a:cxnLst>
            <a:rect l="l" t="t" r="r" b="b"/>
            <a:pathLst>
              <a:path w="2091447" h="505845">
                <a:moveTo>
                  <a:pt x="0" y="496117"/>
                </a:moveTo>
                <a:cubicBezTo>
                  <a:pt x="98087" y="247251"/>
                  <a:pt x="196175" y="-1614"/>
                  <a:pt x="544749" y="7"/>
                </a:cubicBezTo>
                <a:cubicBezTo>
                  <a:pt x="893323" y="1628"/>
                  <a:pt x="1835285" y="423160"/>
                  <a:pt x="2091447" y="505845"/>
                </a:cubicBezTo>
              </a:path>
            </a:pathLst>
          </a:custGeom>
          <a:noFill/>
          <a:ln w="12700">
            <a:solidFill>
              <a:schemeClr val="bg1">
                <a:alpha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63500">
                  <a:schemeClr val="accent3">
                    <a:satMod val="175000"/>
                    <a:alpha val="40000"/>
                  </a:schemeClr>
                </a:glow>
              </a:effectLst>
            </a:endParaRPr>
          </a:p>
        </p:txBody>
      </p:sp>
      <p:sp>
        <p:nvSpPr>
          <p:cNvPr id="71" name="Freeform 70">
            <a:extLst>
              <a:ext uri="{FF2B5EF4-FFF2-40B4-BE49-F238E27FC236}">
                <a16:creationId xmlns:a16="http://schemas.microsoft.com/office/drawing/2014/main" id="{4D318C71-5411-F717-DB76-3C93C0464465}"/>
              </a:ext>
            </a:extLst>
          </p:cNvPr>
          <p:cNvSpPr/>
          <p:nvPr/>
        </p:nvSpPr>
        <p:spPr>
          <a:xfrm>
            <a:off x="7265787" y="3941146"/>
            <a:ext cx="1565164" cy="561901"/>
          </a:xfrm>
          <a:custGeom>
            <a:avLst/>
            <a:gdLst>
              <a:gd name="csX0" fmla="*/ 0 w 1565164"/>
              <a:gd name="csY0" fmla="*/ 425714 h 561901"/>
              <a:gd name="csX1" fmla="*/ 282102 w 1565164"/>
              <a:gd name="csY1" fmla="*/ 46335 h 561901"/>
              <a:gd name="csX2" fmla="*/ 525293 w 1565164"/>
              <a:gd name="csY2" fmla="*/ 7425 h 561901"/>
              <a:gd name="csX3" fmla="*/ 642025 w 1565164"/>
              <a:gd name="csY3" fmla="*/ 56063 h 561901"/>
              <a:gd name="csX4" fmla="*/ 710119 w 1565164"/>
              <a:gd name="csY4" fmla="*/ 201978 h 561901"/>
              <a:gd name="csX5" fmla="*/ 914400 w 1565164"/>
              <a:gd name="csY5" fmla="*/ 289527 h 561901"/>
              <a:gd name="csX6" fmla="*/ 1157591 w 1565164"/>
              <a:gd name="csY6" fmla="*/ 279799 h 561901"/>
              <a:gd name="csX7" fmla="*/ 1410510 w 1565164"/>
              <a:gd name="csY7" fmla="*/ 386804 h 561901"/>
              <a:gd name="csX8" fmla="*/ 1498059 w 1565164"/>
              <a:gd name="csY8" fmla="*/ 532718 h 561901"/>
              <a:gd name="csX9" fmla="*/ 1556425 w 1565164"/>
              <a:gd name="csY9" fmla="*/ 561901 h 561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5164" h="561901">
                <a:moveTo>
                  <a:pt x="0" y="425714"/>
                </a:moveTo>
                <a:cubicBezTo>
                  <a:pt x="97276" y="270882"/>
                  <a:pt x="194553" y="116050"/>
                  <a:pt x="282102" y="46335"/>
                </a:cubicBezTo>
                <a:cubicBezTo>
                  <a:pt x="369651" y="-23380"/>
                  <a:pt x="465306" y="5804"/>
                  <a:pt x="525293" y="7425"/>
                </a:cubicBezTo>
                <a:cubicBezTo>
                  <a:pt x="585280" y="9046"/>
                  <a:pt x="611221" y="23638"/>
                  <a:pt x="642025" y="56063"/>
                </a:cubicBezTo>
                <a:cubicBezTo>
                  <a:pt x="672829" y="88488"/>
                  <a:pt x="664723" y="163067"/>
                  <a:pt x="710119" y="201978"/>
                </a:cubicBezTo>
                <a:cubicBezTo>
                  <a:pt x="755515" y="240889"/>
                  <a:pt x="839821" y="276557"/>
                  <a:pt x="914400" y="289527"/>
                </a:cubicBezTo>
                <a:cubicBezTo>
                  <a:pt x="988979" y="302497"/>
                  <a:pt x="1074906" y="263586"/>
                  <a:pt x="1157591" y="279799"/>
                </a:cubicBezTo>
                <a:cubicBezTo>
                  <a:pt x="1240276" y="296012"/>
                  <a:pt x="1353765" y="344651"/>
                  <a:pt x="1410510" y="386804"/>
                </a:cubicBezTo>
                <a:cubicBezTo>
                  <a:pt x="1467255" y="428957"/>
                  <a:pt x="1498059" y="532718"/>
                  <a:pt x="1498059" y="532718"/>
                </a:cubicBezTo>
                <a:cubicBezTo>
                  <a:pt x="1522378" y="561901"/>
                  <a:pt x="1588851" y="542446"/>
                  <a:pt x="1556425" y="561901"/>
                </a:cubicBezTo>
              </a:path>
            </a:pathLst>
          </a:custGeom>
          <a:noFill/>
          <a:ln w="12700">
            <a:solidFill>
              <a:schemeClr val="bg1">
                <a:alpha val="6466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73" name="Straight Connector 72">
            <a:extLst>
              <a:ext uri="{FF2B5EF4-FFF2-40B4-BE49-F238E27FC236}">
                <a16:creationId xmlns:a16="http://schemas.microsoft.com/office/drawing/2014/main" id="{F7E80655-27E0-5325-F403-02A3C1AD4D78}"/>
              </a:ext>
            </a:extLst>
          </p:cNvPr>
          <p:cNvCxnSpPr>
            <a:cxnSpLocks/>
          </p:cNvCxnSpPr>
          <p:nvPr/>
        </p:nvCxnSpPr>
        <p:spPr>
          <a:xfrm flipV="1">
            <a:off x="8679705" y="3738880"/>
            <a:ext cx="0" cy="1635760"/>
          </a:xfrm>
          <a:prstGeom prst="line">
            <a:avLst/>
          </a:prstGeom>
          <a:ln w="28575" cap="rnd">
            <a:solidFill>
              <a:srgbClr val="A8D5BA"/>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C0E5151-1CA2-0A00-1B2B-F72AAC546B6B}"/>
              </a:ext>
            </a:extLst>
          </p:cNvPr>
          <p:cNvSpPr txBox="1">
            <a:spLocks/>
          </p:cNvSpPr>
          <p:nvPr/>
        </p:nvSpPr>
        <p:spPr>
          <a:xfrm>
            <a:off x="8092269" y="6436822"/>
            <a:ext cx="3556159" cy="307777"/>
          </a:xfrm>
          <a:prstGeom prst="rect">
            <a:avLst/>
          </a:prstGeom>
          <a:noFill/>
        </p:spPr>
        <p:txBody>
          <a:bodyPr wrap="square" rtlCol="0" anchor="ctr">
            <a:spAutoFit/>
          </a:bodyPr>
          <a:lstStyle/>
          <a:p>
            <a:r>
              <a:rPr lang="en-JP" sz="1400">
                <a:solidFill>
                  <a:schemeClr val="bg1"/>
                </a:solidFill>
                <a:effectLst>
                  <a:glow rad="63500">
                    <a:schemeClr val="accent4">
                      <a:satMod val="175000"/>
                      <a:alpha val="40000"/>
                    </a:schemeClr>
                  </a:glow>
                </a:effectLst>
              </a:rPr>
              <a:t>[2] </a:t>
            </a:r>
            <a:r>
              <a:rPr lang="en-JP" sz="1400">
                <a:solidFill>
                  <a:schemeClr val="bg1"/>
                </a:solidFill>
              </a:rPr>
              <a:t>Hasegawa, Kundu, and Nishimura (2024)</a:t>
            </a:r>
          </a:p>
        </p:txBody>
      </p:sp>
      <p:cxnSp>
        <p:nvCxnSpPr>
          <p:cNvPr id="9" name="Straight Connector 8">
            <a:extLst>
              <a:ext uri="{FF2B5EF4-FFF2-40B4-BE49-F238E27FC236}">
                <a16:creationId xmlns:a16="http://schemas.microsoft.com/office/drawing/2014/main" id="{BD7A29AE-03EC-11E3-BBC8-4EF7783321AE}"/>
              </a:ext>
            </a:extLst>
          </p:cNvPr>
          <p:cNvCxnSpPr>
            <a:cxnSpLocks/>
          </p:cNvCxnSpPr>
          <p:nvPr/>
        </p:nvCxnSpPr>
        <p:spPr>
          <a:xfrm>
            <a:off x="8638140" y="6048079"/>
            <a:ext cx="3250404"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pic>
        <p:nvPicPr>
          <p:cNvPr id="19" name="Graphic 18" descr="Document with solid fill">
            <a:extLst>
              <a:ext uri="{FF2B5EF4-FFF2-40B4-BE49-F238E27FC236}">
                <a16:creationId xmlns:a16="http://schemas.microsoft.com/office/drawing/2014/main" id="{1943BC56-2603-AC59-F438-45E44014CD8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46330" y="5893819"/>
            <a:ext cx="288001" cy="288001"/>
          </a:xfrm>
          <a:prstGeom prst="rect">
            <a:avLst/>
          </a:prstGeom>
        </p:spPr>
      </p:pic>
      <p:sp>
        <p:nvSpPr>
          <p:cNvPr id="23" name="TextBox 22">
            <a:extLst>
              <a:ext uri="{FF2B5EF4-FFF2-40B4-BE49-F238E27FC236}">
                <a16:creationId xmlns:a16="http://schemas.microsoft.com/office/drawing/2014/main" id="{FEBBDC16-D70B-B9D4-5720-DE54A10E6937}"/>
              </a:ext>
            </a:extLst>
          </p:cNvPr>
          <p:cNvSpPr txBox="1">
            <a:spLocks/>
          </p:cNvSpPr>
          <p:nvPr/>
        </p:nvSpPr>
        <p:spPr>
          <a:xfrm>
            <a:off x="8092269" y="6185098"/>
            <a:ext cx="3902403" cy="307777"/>
          </a:xfrm>
          <a:prstGeom prst="rect">
            <a:avLst/>
          </a:prstGeom>
          <a:noFill/>
        </p:spPr>
        <p:txBody>
          <a:bodyPr wrap="square" rtlCol="0" anchor="ctr">
            <a:spAutoFit/>
          </a:bodyPr>
          <a:lstStyle/>
          <a:p>
            <a:r>
              <a:rPr lang="en-JP" sz="1400">
                <a:solidFill>
                  <a:schemeClr val="bg1"/>
                </a:solidFill>
                <a:effectLst>
                  <a:glow rad="63500">
                    <a:schemeClr val="accent4">
                      <a:satMod val="175000"/>
                      <a:alpha val="40000"/>
                    </a:schemeClr>
                  </a:glow>
                </a:effectLst>
              </a:rPr>
              <a:t>[1] </a:t>
            </a:r>
            <a:r>
              <a:rPr lang="en-JP" sz="1400">
                <a:solidFill>
                  <a:schemeClr val="bg1"/>
                </a:solidFill>
              </a:rPr>
              <a:t>Fraignaud, Le Gall, Nishimura, and Paz (2021)</a:t>
            </a:r>
          </a:p>
        </p:txBody>
      </p:sp>
      <p:cxnSp>
        <p:nvCxnSpPr>
          <p:cNvPr id="28" name="Straight Connector 27">
            <a:extLst>
              <a:ext uri="{FF2B5EF4-FFF2-40B4-BE49-F238E27FC236}">
                <a16:creationId xmlns:a16="http://schemas.microsoft.com/office/drawing/2014/main" id="{46487880-60CB-A194-67AF-38DAB019CC65}"/>
              </a:ext>
            </a:extLst>
          </p:cNvPr>
          <p:cNvCxnSpPr>
            <a:cxnSpLocks/>
          </p:cNvCxnSpPr>
          <p:nvPr/>
        </p:nvCxnSpPr>
        <p:spPr>
          <a:xfrm>
            <a:off x="8092269" y="6049210"/>
            <a:ext cx="254061"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2112E3BF-B9A8-6D6C-44DC-8DDB817D34B9}"/>
              </a:ext>
            </a:extLst>
          </p:cNvPr>
          <p:cNvSpPr/>
          <p:nvPr/>
        </p:nvSpPr>
        <p:spPr>
          <a:xfrm>
            <a:off x="6344239" y="4008749"/>
            <a:ext cx="1140643" cy="356853"/>
          </a:xfrm>
          <a:custGeom>
            <a:avLst/>
            <a:gdLst>
              <a:gd name="csX0" fmla="*/ 0 w 1140643"/>
              <a:gd name="csY0" fmla="*/ 346435 h 356853"/>
              <a:gd name="csX1" fmla="*/ 131975 w 1140643"/>
              <a:gd name="csY1" fmla="*/ 35350 h 356853"/>
              <a:gd name="csX2" fmla="*/ 433633 w 1140643"/>
              <a:gd name="csY2" fmla="*/ 7070 h 356853"/>
              <a:gd name="csX3" fmla="*/ 886120 w 1140643"/>
              <a:gd name="csY3" fmla="*/ 35350 h 356853"/>
              <a:gd name="csX4" fmla="*/ 1102936 w 1140643"/>
              <a:gd name="csY4" fmla="*/ 205032 h 356853"/>
              <a:gd name="csX5" fmla="*/ 1140643 w 1140643"/>
              <a:gd name="csY5" fmla="*/ 355861 h 356853"/>
            </a:gdLst>
            <a:ahLst/>
            <a:cxnLst>
              <a:cxn ang="0">
                <a:pos x="csX0" y="csY0"/>
              </a:cxn>
              <a:cxn ang="0">
                <a:pos x="csX1" y="csY1"/>
              </a:cxn>
              <a:cxn ang="0">
                <a:pos x="csX2" y="csY2"/>
              </a:cxn>
              <a:cxn ang="0">
                <a:pos x="csX3" y="csY3"/>
              </a:cxn>
              <a:cxn ang="0">
                <a:pos x="csX4" y="csY4"/>
              </a:cxn>
              <a:cxn ang="0">
                <a:pos x="csX5" y="csY5"/>
              </a:cxn>
            </a:cxnLst>
            <a:rect l="l" t="t" r="r" b="b"/>
            <a:pathLst>
              <a:path w="1140643" h="356853">
                <a:moveTo>
                  <a:pt x="0" y="346435"/>
                </a:moveTo>
                <a:cubicBezTo>
                  <a:pt x="29851" y="219173"/>
                  <a:pt x="59703" y="91911"/>
                  <a:pt x="131975" y="35350"/>
                </a:cubicBezTo>
                <a:cubicBezTo>
                  <a:pt x="204247" y="-21211"/>
                  <a:pt x="307942" y="7070"/>
                  <a:pt x="433633" y="7070"/>
                </a:cubicBezTo>
                <a:cubicBezTo>
                  <a:pt x="559324" y="7070"/>
                  <a:pt x="774570" y="2356"/>
                  <a:pt x="886120" y="35350"/>
                </a:cubicBezTo>
                <a:cubicBezTo>
                  <a:pt x="997670" y="68344"/>
                  <a:pt x="1060516" y="151613"/>
                  <a:pt x="1102936" y="205032"/>
                </a:cubicBezTo>
                <a:cubicBezTo>
                  <a:pt x="1145357" y="258450"/>
                  <a:pt x="1117076" y="368430"/>
                  <a:pt x="1140643" y="355861"/>
                </a:cubicBezTo>
              </a:path>
            </a:pathLst>
          </a:custGeom>
          <a:noFill/>
          <a:ln w="12700">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2" name="Freeform 11">
            <a:extLst>
              <a:ext uri="{FF2B5EF4-FFF2-40B4-BE49-F238E27FC236}">
                <a16:creationId xmlns:a16="http://schemas.microsoft.com/office/drawing/2014/main" id="{219EB4A3-0B0F-E6B8-B803-ACE010E49EE0}"/>
              </a:ext>
            </a:extLst>
          </p:cNvPr>
          <p:cNvSpPr/>
          <p:nvPr/>
        </p:nvSpPr>
        <p:spPr>
          <a:xfrm>
            <a:off x="6345621" y="4010634"/>
            <a:ext cx="1140643" cy="356853"/>
          </a:xfrm>
          <a:custGeom>
            <a:avLst/>
            <a:gdLst>
              <a:gd name="csX0" fmla="*/ 0 w 1140643"/>
              <a:gd name="csY0" fmla="*/ 346435 h 356853"/>
              <a:gd name="csX1" fmla="*/ 131975 w 1140643"/>
              <a:gd name="csY1" fmla="*/ 35350 h 356853"/>
              <a:gd name="csX2" fmla="*/ 433633 w 1140643"/>
              <a:gd name="csY2" fmla="*/ 7070 h 356853"/>
              <a:gd name="csX3" fmla="*/ 886120 w 1140643"/>
              <a:gd name="csY3" fmla="*/ 35350 h 356853"/>
              <a:gd name="csX4" fmla="*/ 1102936 w 1140643"/>
              <a:gd name="csY4" fmla="*/ 205032 h 356853"/>
              <a:gd name="csX5" fmla="*/ 1140643 w 1140643"/>
              <a:gd name="csY5" fmla="*/ 355861 h 356853"/>
            </a:gdLst>
            <a:ahLst/>
            <a:cxnLst>
              <a:cxn ang="0">
                <a:pos x="csX0" y="csY0"/>
              </a:cxn>
              <a:cxn ang="0">
                <a:pos x="csX1" y="csY1"/>
              </a:cxn>
              <a:cxn ang="0">
                <a:pos x="csX2" y="csY2"/>
              </a:cxn>
              <a:cxn ang="0">
                <a:pos x="csX3" y="csY3"/>
              </a:cxn>
              <a:cxn ang="0">
                <a:pos x="csX4" y="csY4"/>
              </a:cxn>
              <a:cxn ang="0">
                <a:pos x="csX5" y="csY5"/>
              </a:cxn>
            </a:cxnLst>
            <a:rect l="l" t="t" r="r" b="b"/>
            <a:pathLst>
              <a:path w="1140643" h="356853">
                <a:moveTo>
                  <a:pt x="0" y="346435"/>
                </a:moveTo>
                <a:cubicBezTo>
                  <a:pt x="29851" y="219173"/>
                  <a:pt x="59703" y="91911"/>
                  <a:pt x="131975" y="35350"/>
                </a:cubicBezTo>
                <a:cubicBezTo>
                  <a:pt x="204247" y="-21211"/>
                  <a:pt x="307942" y="7070"/>
                  <a:pt x="433633" y="7070"/>
                </a:cubicBezTo>
                <a:cubicBezTo>
                  <a:pt x="559324" y="7070"/>
                  <a:pt x="774570" y="2356"/>
                  <a:pt x="886120" y="35350"/>
                </a:cubicBezTo>
                <a:cubicBezTo>
                  <a:pt x="997670" y="68344"/>
                  <a:pt x="1060516" y="151613"/>
                  <a:pt x="1102936" y="205032"/>
                </a:cubicBezTo>
                <a:cubicBezTo>
                  <a:pt x="1145357" y="258450"/>
                  <a:pt x="1117076" y="368430"/>
                  <a:pt x="1140643" y="355861"/>
                </a:cubicBezTo>
              </a:path>
            </a:pathLst>
          </a:custGeom>
          <a:noFill/>
          <a:ln w="1270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6" name="Freeform 15">
            <a:extLst>
              <a:ext uri="{FF2B5EF4-FFF2-40B4-BE49-F238E27FC236}">
                <a16:creationId xmlns:a16="http://schemas.microsoft.com/office/drawing/2014/main" id="{3E981E7A-76A2-3E2D-C3D7-6357AA7DB046}"/>
              </a:ext>
            </a:extLst>
          </p:cNvPr>
          <p:cNvSpPr/>
          <p:nvPr/>
        </p:nvSpPr>
        <p:spPr>
          <a:xfrm>
            <a:off x="6615077" y="4655632"/>
            <a:ext cx="1488880" cy="363607"/>
          </a:xfrm>
          <a:custGeom>
            <a:avLst/>
            <a:gdLst>
              <a:gd name="csX0" fmla="*/ 37008 w 1488880"/>
              <a:gd name="csY0" fmla="*/ 7110 h 363607"/>
              <a:gd name="csX1" fmla="*/ 43989 w 1488880"/>
              <a:gd name="csY1" fmla="*/ 279336 h 363607"/>
              <a:gd name="csX2" fmla="*/ 476758 w 1488880"/>
              <a:gd name="csY2" fmla="*/ 363098 h 363607"/>
              <a:gd name="csX3" fmla="*/ 1188734 w 1488880"/>
              <a:gd name="csY3" fmla="*/ 307257 h 363607"/>
              <a:gd name="csX4" fmla="*/ 1453979 w 1488880"/>
              <a:gd name="csY4" fmla="*/ 167653 h 363607"/>
              <a:gd name="csX5" fmla="*/ 1488880 w 1488880"/>
              <a:gd name="csY5" fmla="*/ 130 h 363607"/>
            </a:gdLst>
            <a:ahLst/>
            <a:cxnLst>
              <a:cxn ang="0">
                <a:pos x="csX0" y="csY0"/>
              </a:cxn>
              <a:cxn ang="0">
                <a:pos x="csX1" y="csY1"/>
              </a:cxn>
              <a:cxn ang="0">
                <a:pos x="csX2" y="csY2"/>
              </a:cxn>
              <a:cxn ang="0">
                <a:pos x="csX3" y="csY3"/>
              </a:cxn>
              <a:cxn ang="0">
                <a:pos x="csX4" y="csY4"/>
              </a:cxn>
              <a:cxn ang="0">
                <a:pos x="csX5" y="csY5"/>
              </a:cxn>
            </a:cxnLst>
            <a:rect l="l" t="t" r="r" b="b"/>
            <a:pathLst>
              <a:path w="1488880" h="363607">
                <a:moveTo>
                  <a:pt x="37008" y="7110"/>
                </a:moveTo>
                <a:cubicBezTo>
                  <a:pt x="3852" y="113557"/>
                  <a:pt x="-29303" y="220005"/>
                  <a:pt x="43989" y="279336"/>
                </a:cubicBezTo>
                <a:cubicBezTo>
                  <a:pt x="117281" y="338667"/>
                  <a:pt x="285967" y="358445"/>
                  <a:pt x="476758" y="363098"/>
                </a:cubicBezTo>
                <a:cubicBezTo>
                  <a:pt x="667549" y="367751"/>
                  <a:pt x="1025864" y="339831"/>
                  <a:pt x="1188734" y="307257"/>
                </a:cubicBezTo>
                <a:cubicBezTo>
                  <a:pt x="1351604" y="274683"/>
                  <a:pt x="1403955" y="218841"/>
                  <a:pt x="1453979" y="167653"/>
                </a:cubicBezTo>
                <a:cubicBezTo>
                  <a:pt x="1504003" y="116465"/>
                  <a:pt x="1420242" y="-4524"/>
                  <a:pt x="1488880" y="130"/>
                </a:cubicBezTo>
              </a:path>
            </a:pathLst>
          </a:custGeom>
          <a:noFill/>
          <a:ln w="12700">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1" name="Freeform 30">
            <a:extLst>
              <a:ext uri="{FF2B5EF4-FFF2-40B4-BE49-F238E27FC236}">
                <a16:creationId xmlns:a16="http://schemas.microsoft.com/office/drawing/2014/main" id="{5E1B53FC-7211-32DE-6654-18B2023EA72E}"/>
              </a:ext>
            </a:extLst>
          </p:cNvPr>
          <p:cNvSpPr/>
          <p:nvPr/>
        </p:nvSpPr>
        <p:spPr>
          <a:xfrm>
            <a:off x="6613343" y="4656791"/>
            <a:ext cx="1488880" cy="363607"/>
          </a:xfrm>
          <a:custGeom>
            <a:avLst/>
            <a:gdLst>
              <a:gd name="csX0" fmla="*/ 37008 w 1488880"/>
              <a:gd name="csY0" fmla="*/ 7110 h 363607"/>
              <a:gd name="csX1" fmla="*/ 43989 w 1488880"/>
              <a:gd name="csY1" fmla="*/ 279336 h 363607"/>
              <a:gd name="csX2" fmla="*/ 476758 w 1488880"/>
              <a:gd name="csY2" fmla="*/ 363098 h 363607"/>
              <a:gd name="csX3" fmla="*/ 1188734 w 1488880"/>
              <a:gd name="csY3" fmla="*/ 307257 h 363607"/>
              <a:gd name="csX4" fmla="*/ 1453979 w 1488880"/>
              <a:gd name="csY4" fmla="*/ 167653 h 363607"/>
              <a:gd name="csX5" fmla="*/ 1488880 w 1488880"/>
              <a:gd name="csY5" fmla="*/ 130 h 363607"/>
            </a:gdLst>
            <a:ahLst/>
            <a:cxnLst>
              <a:cxn ang="0">
                <a:pos x="csX0" y="csY0"/>
              </a:cxn>
              <a:cxn ang="0">
                <a:pos x="csX1" y="csY1"/>
              </a:cxn>
              <a:cxn ang="0">
                <a:pos x="csX2" y="csY2"/>
              </a:cxn>
              <a:cxn ang="0">
                <a:pos x="csX3" y="csY3"/>
              </a:cxn>
              <a:cxn ang="0">
                <a:pos x="csX4" y="csY4"/>
              </a:cxn>
              <a:cxn ang="0">
                <a:pos x="csX5" y="csY5"/>
              </a:cxn>
            </a:cxnLst>
            <a:rect l="l" t="t" r="r" b="b"/>
            <a:pathLst>
              <a:path w="1488880" h="363607">
                <a:moveTo>
                  <a:pt x="37008" y="7110"/>
                </a:moveTo>
                <a:cubicBezTo>
                  <a:pt x="3852" y="113557"/>
                  <a:pt x="-29303" y="220005"/>
                  <a:pt x="43989" y="279336"/>
                </a:cubicBezTo>
                <a:cubicBezTo>
                  <a:pt x="117281" y="338667"/>
                  <a:pt x="285967" y="358445"/>
                  <a:pt x="476758" y="363098"/>
                </a:cubicBezTo>
                <a:cubicBezTo>
                  <a:pt x="667549" y="367751"/>
                  <a:pt x="1025864" y="339831"/>
                  <a:pt x="1188734" y="307257"/>
                </a:cubicBezTo>
                <a:cubicBezTo>
                  <a:pt x="1351604" y="274683"/>
                  <a:pt x="1403955" y="218841"/>
                  <a:pt x="1453979" y="167653"/>
                </a:cubicBezTo>
                <a:cubicBezTo>
                  <a:pt x="1504003" y="116465"/>
                  <a:pt x="1420242" y="-4524"/>
                  <a:pt x="1488880" y="130"/>
                </a:cubicBezTo>
              </a:path>
            </a:pathLst>
          </a:custGeom>
          <a:noFill/>
          <a:ln w="1270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2" name="Freeform 31">
            <a:extLst>
              <a:ext uri="{FF2B5EF4-FFF2-40B4-BE49-F238E27FC236}">
                <a16:creationId xmlns:a16="http://schemas.microsoft.com/office/drawing/2014/main" id="{2AD3ADBF-90EB-2352-6D03-9CA0E2C59017}"/>
              </a:ext>
            </a:extLst>
          </p:cNvPr>
          <p:cNvSpPr/>
          <p:nvPr/>
        </p:nvSpPr>
        <p:spPr>
          <a:xfrm>
            <a:off x="9486027" y="4048361"/>
            <a:ext cx="921381" cy="314234"/>
          </a:xfrm>
          <a:custGeom>
            <a:avLst/>
            <a:gdLst>
              <a:gd name="csX0" fmla="*/ 0 w 921381"/>
              <a:gd name="csY0" fmla="*/ 307254 h 314234"/>
              <a:gd name="csX1" fmla="*/ 139604 w 921381"/>
              <a:gd name="csY1" fmla="*/ 55969 h 314234"/>
              <a:gd name="csX2" fmla="*/ 404849 w 921381"/>
              <a:gd name="csY2" fmla="*/ 128 h 314234"/>
              <a:gd name="csX3" fmla="*/ 767817 w 921381"/>
              <a:gd name="csY3" fmla="*/ 62949 h 314234"/>
              <a:gd name="csX4" fmla="*/ 921381 w 921381"/>
              <a:gd name="csY4" fmla="*/ 314234 h 314234"/>
            </a:gdLst>
            <a:ahLst/>
            <a:cxnLst>
              <a:cxn ang="0">
                <a:pos x="csX0" y="csY0"/>
              </a:cxn>
              <a:cxn ang="0">
                <a:pos x="csX1" y="csY1"/>
              </a:cxn>
              <a:cxn ang="0">
                <a:pos x="csX2" y="csY2"/>
              </a:cxn>
              <a:cxn ang="0">
                <a:pos x="csX3" y="csY3"/>
              </a:cxn>
              <a:cxn ang="0">
                <a:pos x="csX4" y="csY4"/>
              </a:cxn>
            </a:cxnLst>
            <a:rect l="l" t="t" r="r" b="b"/>
            <a:pathLst>
              <a:path w="921381" h="314234">
                <a:moveTo>
                  <a:pt x="0" y="307254"/>
                </a:moveTo>
                <a:cubicBezTo>
                  <a:pt x="36064" y="207205"/>
                  <a:pt x="72129" y="107157"/>
                  <a:pt x="139604" y="55969"/>
                </a:cubicBezTo>
                <a:cubicBezTo>
                  <a:pt x="207079" y="4781"/>
                  <a:pt x="300147" y="-1035"/>
                  <a:pt x="404849" y="128"/>
                </a:cubicBezTo>
                <a:cubicBezTo>
                  <a:pt x="509551" y="1291"/>
                  <a:pt x="681728" y="10598"/>
                  <a:pt x="767817" y="62949"/>
                </a:cubicBezTo>
                <a:cubicBezTo>
                  <a:pt x="853906" y="115300"/>
                  <a:pt x="887643" y="214767"/>
                  <a:pt x="921381" y="314234"/>
                </a:cubicBezTo>
              </a:path>
            </a:pathLst>
          </a:custGeom>
          <a:noFill/>
          <a:ln>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3" name="Freeform 32">
            <a:extLst>
              <a:ext uri="{FF2B5EF4-FFF2-40B4-BE49-F238E27FC236}">
                <a16:creationId xmlns:a16="http://schemas.microsoft.com/office/drawing/2014/main" id="{49408D52-9FB3-528F-A0E0-10C43DFE2E29}"/>
              </a:ext>
            </a:extLst>
          </p:cNvPr>
          <p:cNvSpPr/>
          <p:nvPr/>
        </p:nvSpPr>
        <p:spPr>
          <a:xfrm>
            <a:off x="9486026" y="4048245"/>
            <a:ext cx="921381" cy="314234"/>
          </a:xfrm>
          <a:custGeom>
            <a:avLst/>
            <a:gdLst>
              <a:gd name="csX0" fmla="*/ 0 w 921381"/>
              <a:gd name="csY0" fmla="*/ 307254 h 314234"/>
              <a:gd name="csX1" fmla="*/ 139604 w 921381"/>
              <a:gd name="csY1" fmla="*/ 55969 h 314234"/>
              <a:gd name="csX2" fmla="*/ 404849 w 921381"/>
              <a:gd name="csY2" fmla="*/ 128 h 314234"/>
              <a:gd name="csX3" fmla="*/ 767817 w 921381"/>
              <a:gd name="csY3" fmla="*/ 62949 h 314234"/>
              <a:gd name="csX4" fmla="*/ 921381 w 921381"/>
              <a:gd name="csY4" fmla="*/ 314234 h 314234"/>
            </a:gdLst>
            <a:ahLst/>
            <a:cxnLst>
              <a:cxn ang="0">
                <a:pos x="csX0" y="csY0"/>
              </a:cxn>
              <a:cxn ang="0">
                <a:pos x="csX1" y="csY1"/>
              </a:cxn>
              <a:cxn ang="0">
                <a:pos x="csX2" y="csY2"/>
              </a:cxn>
              <a:cxn ang="0">
                <a:pos x="csX3" y="csY3"/>
              </a:cxn>
              <a:cxn ang="0">
                <a:pos x="csX4" y="csY4"/>
              </a:cxn>
            </a:cxnLst>
            <a:rect l="l" t="t" r="r" b="b"/>
            <a:pathLst>
              <a:path w="921381" h="314234">
                <a:moveTo>
                  <a:pt x="0" y="307254"/>
                </a:moveTo>
                <a:cubicBezTo>
                  <a:pt x="36064" y="207205"/>
                  <a:pt x="72129" y="107157"/>
                  <a:pt x="139604" y="55969"/>
                </a:cubicBezTo>
                <a:cubicBezTo>
                  <a:pt x="207079" y="4781"/>
                  <a:pt x="300147" y="-1035"/>
                  <a:pt x="404849" y="128"/>
                </a:cubicBezTo>
                <a:cubicBezTo>
                  <a:pt x="509551" y="1291"/>
                  <a:pt x="681728" y="10598"/>
                  <a:pt x="767817" y="62949"/>
                </a:cubicBezTo>
                <a:cubicBezTo>
                  <a:pt x="853906" y="115300"/>
                  <a:pt x="887643" y="214767"/>
                  <a:pt x="921381" y="314234"/>
                </a:cubicBezTo>
              </a:path>
            </a:pathLst>
          </a:custGeom>
          <a:no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4" name="Freeform 33">
            <a:extLst>
              <a:ext uri="{FF2B5EF4-FFF2-40B4-BE49-F238E27FC236}">
                <a16:creationId xmlns:a16="http://schemas.microsoft.com/office/drawing/2014/main" id="{6F08B007-42C8-35A3-AECA-CB04AFE3B1E8}"/>
              </a:ext>
            </a:extLst>
          </p:cNvPr>
          <p:cNvSpPr/>
          <p:nvPr/>
        </p:nvSpPr>
        <p:spPr>
          <a:xfrm>
            <a:off x="9810521" y="4655762"/>
            <a:ext cx="917974" cy="249365"/>
          </a:xfrm>
          <a:custGeom>
            <a:avLst/>
            <a:gdLst>
              <a:gd name="csX0" fmla="*/ 917974 w 917974"/>
              <a:gd name="csY0" fmla="*/ 0 h 249365"/>
              <a:gd name="csX1" fmla="*/ 666688 w 917974"/>
              <a:gd name="csY1" fmla="*/ 230345 h 249365"/>
              <a:gd name="csX2" fmla="*/ 457284 w 917974"/>
              <a:gd name="csY2" fmla="*/ 230345 h 249365"/>
              <a:gd name="csX3" fmla="*/ 66395 w 917974"/>
              <a:gd name="csY3" fmla="*/ 181484 h 249365"/>
              <a:gd name="csX4" fmla="*/ 3574 w 917974"/>
              <a:gd name="csY4" fmla="*/ 6980 h 249365"/>
            </a:gdLst>
            <a:ahLst/>
            <a:cxnLst>
              <a:cxn ang="0">
                <a:pos x="csX0" y="csY0"/>
              </a:cxn>
              <a:cxn ang="0">
                <a:pos x="csX1" y="csY1"/>
              </a:cxn>
              <a:cxn ang="0">
                <a:pos x="csX2" y="csY2"/>
              </a:cxn>
              <a:cxn ang="0">
                <a:pos x="csX3" y="csY3"/>
              </a:cxn>
              <a:cxn ang="0">
                <a:pos x="csX4" y="csY4"/>
              </a:cxn>
            </a:cxnLst>
            <a:rect l="l" t="t" r="r" b="b"/>
            <a:pathLst>
              <a:path w="917974" h="249365">
                <a:moveTo>
                  <a:pt x="917974" y="0"/>
                </a:moveTo>
                <a:cubicBezTo>
                  <a:pt x="830722" y="95977"/>
                  <a:pt x="743470" y="191954"/>
                  <a:pt x="666688" y="230345"/>
                </a:cubicBezTo>
                <a:cubicBezTo>
                  <a:pt x="589906" y="268736"/>
                  <a:pt x="557333" y="238489"/>
                  <a:pt x="457284" y="230345"/>
                </a:cubicBezTo>
                <a:cubicBezTo>
                  <a:pt x="357235" y="222202"/>
                  <a:pt x="142013" y="218711"/>
                  <a:pt x="66395" y="181484"/>
                </a:cubicBezTo>
                <a:cubicBezTo>
                  <a:pt x="-9223" y="144257"/>
                  <a:pt x="-2825" y="75618"/>
                  <a:pt x="3574" y="6980"/>
                </a:cubicBezTo>
              </a:path>
            </a:pathLst>
          </a:custGeom>
          <a:noFill/>
          <a:ln w="12700">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6" name="Freeform 35">
            <a:extLst>
              <a:ext uri="{FF2B5EF4-FFF2-40B4-BE49-F238E27FC236}">
                <a16:creationId xmlns:a16="http://schemas.microsoft.com/office/drawing/2014/main" id="{CC971BD2-F98A-CD38-ED89-73725C2F56C5}"/>
              </a:ext>
            </a:extLst>
          </p:cNvPr>
          <p:cNvSpPr/>
          <p:nvPr/>
        </p:nvSpPr>
        <p:spPr>
          <a:xfrm>
            <a:off x="9809360" y="4654601"/>
            <a:ext cx="917974" cy="249365"/>
          </a:xfrm>
          <a:custGeom>
            <a:avLst/>
            <a:gdLst>
              <a:gd name="csX0" fmla="*/ 917974 w 917974"/>
              <a:gd name="csY0" fmla="*/ 0 h 249365"/>
              <a:gd name="csX1" fmla="*/ 666688 w 917974"/>
              <a:gd name="csY1" fmla="*/ 230345 h 249365"/>
              <a:gd name="csX2" fmla="*/ 457284 w 917974"/>
              <a:gd name="csY2" fmla="*/ 230345 h 249365"/>
              <a:gd name="csX3" fmla="*/ 66395 w 917974"/>
              <a:gd name="csY3" fmla="*/ 181484 h 249365"/>
              <a:gd name="csX4" fmla="*/ 3574 w 917974"/>
              <a:gd name="csY4" fmla="*/ 6980 h 249365"/>
            </a:gdLst>
            <a:ahLst/>
            <a:cxnLst>
              <a:cxn ang="0">
                <a:pos x="csX0" y="csY0"/>
              </a:cxn>
              <a:cxn ang="0">
                <a:pos x="csX1" y="csY1"/>
              </a:cxn>
              <a:cxn ang="0">
                <a:pos x="csX2" y="csY2"/>
              </a:cxn>
              <a:cxn ang="0">
                <a:pos x="csX3" y="csY3"/>
              </a:cxn>
              <a:cxn ang="0">
                <a:pos x="csX4" y="csY4"/>
              </a:cxn>
            </a:cxnLst>
            <a:rect l="l" t="t" r="r" b="b"/>
            <a:pathLst>
              <a:path w="917974" h="249365">
                <a:moveTo>
                  <a:pt x="917974" y="0"/>
                </a:moveTo>
                <a:cubicBezTo>
                  <a:pt x="830722" y="95977"/>
                  <a:pt x="743470" y="191954"/>
                  <a:pt x="666688" y="230345"/>
                </a:cubicBezTo>
                <a:cubicBezTo>
                  <a:pt x="589906" y="268736"/>
                  <a:pt x="557333" y="238489"/>
                  <a:pt x="457284" y="230345"/>
                </a:cubicBezTo>
                <a:cubicBezTo>
                  <a:pt x="357235" y="222202"/>
                  <a:pt x="142013" y="218711"/>
                  <a:pt x="66395" y="181484"/>
                </a:cubicBezTo>
                <a:cubicBezTo>
                  <a:pt x="-9223" y="144257"/>
                  <a:pt x="-2825" y="75618"/>
                  <a:pt x="3574" y="6980"/>
                </a:cubicBezTo>
              </a:path>
            </a:pathLst>
          </a:custGeom>
          <a:noFill/>
          <a:ln w="1270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420184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left)">
                                      <p:cBhvr>
                                        <p:cTn id="34" dur="500"/>
                                        <p:tgtEl>
                                          <p:spTgt spid="32"/>
                                        </p:tgtEl>
                                      </p:cBhvr>
                                    </p:animEffect>
                                  </p:childTnLst>
                                </p:cTn>
                              </p:par>
                              <p:par>
                                <p:cTn id="35" presetID="22" presetClass="entr" presetSubtype="8" fill="hold" nodeType="with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left)">
                                      <p:cBhvr>
                                        <p:cTn id="37" dur="500"/>
                                        <p:tgtEl>
                                          <p:spTgt spid="3">
                                            <p:txEl>
                                              <p:pRg st="3" end="3"/>
                                            </p:txEl>
                                          </p:spTgt>
                                        </p:tgtEl>
                                      </p:cBhvr>
                                    </p:animEffect>
                                  </p:childTnLst>
                                </p:cTn>
                              </p:par>
                            </p:childTnLst>
                          </p:cTn>
                        </p:par>
                        <p:par>
                          <p:cTn id="38" fill="hold">
                            <p:stCondLst>
                              <p:cond delay="500"/>
                            </p:stCondLst>
                            <p:childTnLst>
                              <p:par>
                                <p:cTn id="39" presetID="22" presetClass="entr" presetSubtype="8" repeatCount="0" fill="hold" grpId="0" nodeType="after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left)">
                                      <p:cBhvr>
                                        <p:cTn id="41" dur="2000"/>
                                        <p:tgtEl>
                                          <p:spTgt spid="51"/>
                                        </p:tgtEl>
                                      </p:cBhvr>
                                    </p:animEffect>
                                  </p:childTnLst>
                                </p:cTn>
                              </p:par>
                              <p:par>
                                <p:cTn id="42" presetID="22" presetClass="entr" presetSubtype="8" fill="hold" grpId="1"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wipe(left)">
                                      <p:cBhvr>
                                        <p:cTn id="44" dur="2000"/>
                                        <p:tgtEl>
                                          <p:spTgt spid="52"/>
                                        </p:tgtEl>
                                      </p:cBhvr>
                                    </p:animEffect>
                                  </p:childTnLst>
                                </p:cTn>
                              </p:par>
                              <p:par>
                                <p:cTn id="45" presetID="22" presetClass="entr" presetSubtype="8" fill="hold" grpId="1"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wipe(left)">
                                      <p:cBhvr>
                                        <p:cTn id="47" dur="2000"/>
                                        <p:tgtEl>
                                          <p:spTgt spid="53"/>
                                        </p:tgtEl>
                                      </p:cBhvr>
                                    </p:animEffect>
                                  </p:childTnLst>
                                </p:cTn>
                              </p:par>
                              <p:par>
                                <p:cTn id="48" presetID="22" presetClass="entr" presetSubtype="8" fill="hold" grpId="1" nodeType="with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wipe(left)">
                                      <p:cBhvr>
                                        <p:cTn id="50" dur="2000"/>
                                        <p:tgtEl>
                                          <p:spTgt spid="54"/>
                                        </p:tgtEl>
                                      </p:cBhvr>
                                    </p:animEffect>
                                  </p:childTnLst>
                                </p:cTn>
                              </p:par>
                              <p:par>
                                <p:cTn id="51" presetID="22" presetClass="entr" presetSubtype="8" fill="hold" grpId="1" nodeType="withEffect">
                                  <p:stCondLst>
                                    <p:cond delay="0"/>
                                  </p:stCondLst>
                                  <p:childTnLst>
                                    <p:set>
                                      <p:cBhvr>
                                        <p:cTn id="52" dur="1" fill="hold">
                                          <p:stCondLst>
                                            <p:cond delay="0"/>
                                          </p:stCondLst>
                                        </p:cTn>
                                        <p:tgtEl>
                                          <p:spTgt spid="55"/>
                                        </p:tgtEl>
                                        <p:attrNameLst>
                                          <p:attrName>style.visibility</p:attrName>
                                        </p:attrNameLst>
                                      </p:cBhvr>
                                      <p:to>
                                        <p:strVal val="visible"/>
                                      </p:to>
                                    </p:set>
                                    <p:animEffect transition="in" filter="wipe(left)">
                                      <p:cBhvr>
                                        <p:cTn id="53" dur="2000"/>
                                        <p:tgtEl>
                                          <p:spTgt spid="55"/>
                                        </p:tgtEl>
                                      </p:cBhvr>
                                    </p:animEffect>
                                  </p:childTnLst>
                                </p:cTn>
                              </p:par>
                              <p:par>
                                <p:cTn id="54" presetID="22" presetClass="entr" presetSubtype="8" fill="hold" grpId="1" nodeType="with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wipe(left)">
                                      <p:cBhvr>
                                        <p:cTn id="56" dur="2000"/>
                                        <p:tgtEl>
                                          <p:spTgt spid="71"/>
                                        </p:tgtEl>
                                      </p:cBhvr>
                                    </p:animEffect>
                                  </p:childTnLst>
                                </p:cTn>
                              </p:par>
                              <p:par>
                                <p:cTn id="57" presetID="22" presetClass="entr" presetSubtype="8" fill="hold" grpId="1"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left)">
                                      <p:cBhvr>
                                        <p:cTn id="59" dur="2000"/>
                                        <p:tgtEl>
                                          <p:spTgt spid="33"/>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left)">
                                      <p:cBhvr>
                                        <p:cTn id="62" dur="2000"/>
                                        <p:tgtEl>
                                          <p:spTgt spid="12"/>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wipe(left)">
                                      <p:cBhvr>
                                        <p:cTn id="65" dur="2000"/>
                                        <p:tgtEl>
                                          <p:spTgt spid="31"/>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left)">
                                      <p:cBhvr>
                                        <p:cTn id="68" dur="2000"/>
                                        <p:tgtEl>
                                          <p:spTgt spid="36"/>
                                        </p:tgtEl>
                                      </p:cBhvr>
                                    </p:animEffect>
                                  </p:childTnLst>
                                </p:cTn>
                              </p:par>
                            </p:childTnLst>
                          </p:cTn>
                        </p:par>
                        <p:par>
                          <p:cTn id="69" fill="hold">
                            <p:stCondLst>
                              <p:cond delay="2500"/>
                            </p:stCondLst>
                            <p:childTnLst>
                              <p:par>
                                <p:cTn id="70" presetID="22" presetClass="exit" presetSubtype="8" fill="hold" grpId="1" nodeType="afterEffect">
                                  <p:stCondLst>
                                    <p:cond delay="0"/>
                                  </p:stCondLst>
                                  <p:childTnLst>
                                    <p:animEffect transition="out" filter="wipe(left)">
                                      <p:cBhvr>
                                        <p:cTn id="71" dur="2000"/>
                                        <p:tgtEl>
                                          <p:spTgt spid="51"/>
                                        </p:tgtEl>
                                      </p:cBhvr>
                                    </p:animEffect>
                                    <p:set>
                                      <p:cBhvr>
                                        <p:cTn id="72" dur="1" fill="hold">
                                          <p:stCondLst>
                                            <p:cond delay="1999"/>
                                          </p:stCondLst>
                                        </p:cTn>
                                        <p:tgtEl>
                                          <p:spTgt spid="51"/>
                                        </p:tgtEl>
                                        <p:attrNameLst>
                                          <p:attrName>style.visibility</p:attrName>
                                        </p:attrNameLst>
                                      </p:cBhvr>
                                      <p:to>
                                        <p:strVal val="hidden"/>
                                      </p:to>
                                    </p:set>
                                  </p:childTnLst>
                                </p:cTn>
                              </p:par>
                              <p:par>
                                <p:cTn id="73" presetID="22" presetClass="exit" presetSubtype="8" fill="hold" grpId="2" nodeType="withEffect">
                                  <p:stCondLst>
                                    <p:cond delay="0"/>
                                  </p:stCondLst>
                                  <p:childTnLst>
                                    <p:animEffect transition="out" filter="wipe(left)">
                                      <p:cBhvr>
                                        <p:cTn id="74" dur="2000"/>
                                        <p:tgtEl>
                                          <p:spTgt spid="52"/>
                                        </p:tgtEl>
                                      </p:cBhvr>
                                    </p:animEffect>
                                    <p:set>
                                      <p:cBhvr>
                                        <p:cTn id="75" dur="1" fill="hold">
                                          <p:stCondLst>
                                            <p:cond delay="1999"/>
                                          </p:stCondLst>
                                        </p:cTn>
                                        <p:tgtEl>
                                          <p:spTgt spid="52"/>
                                        </p:tgtEl>
                                        <p:attrNameLst>
                                          <p:attrName>style.visibility</p:attrName>
                                        </p:attrNameLst>
                                      </p:cBhvr>
                                      <p:to>
                                        <p:strVal val="hidden"/>
                                      </p:to>
                                    </p:set>
                                  </p:childTnLst>
                                </p:cTn>
                              </p:par>
                              <p:par>
                                <p:cTn id="76" presetID="22" presetClass="exit" presetSubtype="8" fill="hold" grpId="2" nodeType="withEffect">
                                  <p:stCondLst>
                                    <p:cond delay="0"/>
                                  </p:stCondLst>
                                  <p:childTnLst>
                                    <p:animEffect transition="out" filter="wipe(left)">
                                      <p:cBhvr>
                                        <p:cTn id="77" dur="2000"/>
                                        <p:tgtEl>
                                          <p:spTgt spid="53"/>
                                        </p:tgtEl>
                                      </p:cBhvr>
                                    </p:animEffect>
                                    <p:set>
                                      <p:cBhvr>
                                        <p:cTn id="78" dur="1" fill="hold">
                                          <p:stCondLst>
                                            <p:cond delay="1999"/>
                                          </p:stCondLst>
                                        </p:cTn>
                                        <p:tgtEl>
                                          <p:spTgt spid="53"/>
                                        </p:tgtEl>
                                        <p:attrNameLst>
                                          <p:attrName>style.visibility</p:attrName>
                                        </p:attrNameLst>
                                      </p:cBhvr>
                                      <p:to>
                                        <p:strVal val="hidden"/>
                                      </p:to>
                                    </p:set>
                                  </p:childTnLst>
                                </p:cTn>
                              </p:par>
                              <p:par>
                                <p:cTn id="79" presetID="22" presetClass="exit" presetSubtype="8" fill="hold" grpId="2" nodeType="withEffect">
                                  <p:stCondLst>
                                    <p:cond delay="0"/>
                                  </p:stCondLst>
                                  <p:childTnLst>
                                    <p:animEffect transition="out" filter="wipe(left)">
                                      <p:cBhvr>
                                        <p:cTn id="80" dur="2000"/>
                                        <p:tgtEl>
                                          <p:spTgt spid="54"/>
                                        </p:tgtEl>
                                      </p:cBhvr>
                                    </p:animEffect>
                                    <p:set>
                                      <p:cBhvr>
                                        <p:cTn id="81" dur="1" fill="hold">
                                          <p:stCondLst>
                                            <p:cond delay="1999"/>
                                          </p:stCondLst>
                                        </p:cTn>
                                        <p:tgtEl>
                                          <p:spTgt spid="54"/>
                                        </p:tgtEl>
                                        <p:attrNameLst>
                                          <p:attrName>style.visibility</p:attrName>
                                        </p:attrNameLst>
                                      </p:cBhvr>
                                      <p:to>
                                        <p:strVal val="hidden"/>
                                      </p:to>
                                    </p:set>
                                  </p:childTnLst>
                                </p:cTn>
                              </p:par>
                              <p:par>
                                <p:cTn id="82" presetID="22" presetClass="exit" presetSubtype="8" fill="hold" grpId="2" nodeType="withEffect">
                                  <p:stCondLst>
                                    <p:cond delay="0"/>
                                  </p:stCondLst>
                                  <p:childTnLst>
                                    <p:animEffect transition="out" filter="wipe(left)">
                                      <p:cBhvr>
                                        <p:cTn id="83" dur="2000"/>
                                        <p:tgtEl>
                                          <p:spTgt spid="55"/>
                                        </p:tgtEl>
                                      </p:cBhvr>
                                    </p:animEffect>
                                    <p:set>
                                      <p:cBhvr>
                                        <p:cTn id="84" dur="1" fill="hold">
                                          <p:stCondLst>
                                            <p:cond delay="1999"/>
                                          </p:stCondLst>
                                        </p:cTn>
                                        <p:tgtEl>
                                          <p:spTgt spid="55"/>
                                        </p:tgtEl>
                                        <p:attrNameLst>
                                          <p:attrName>style.visibility</p:attrName>
                                        </p:attrNameLst>
                                      </p:cBhvr>
                                      <p:to>
                                        <p:strVal val="hidden"/>
                                      </p:to>
                                    </p:set>
                                  </p:childTnLst>
                                </p:cTn>
                              </p:par>
                              <p:par>
                                <p:cTn id="85" presetID="22" presetClass="exit" presetSubtype="8" fill="hold" grpId="2" nodeType="withEffect">
                                  <p:stCondLst>
                                    <p:cond delay="0"/>
                                  </p:stCondLst>
                                  <p:childTnLst>
                                    <p:animEffect transition="out" filter="wipe(left)">
                                      <p:cBhvr>
                                        <p:cTn id="86" dur="2000"/>
                                        <p:tgtEl>
                                          <p:spTgt spid="71"/>
                                        </p:tgtEl>
                                      </p:cBhvr>
                                    </p:animEffect>
                                    <p:set>
                                      <p:cBhvr>
                                        <p:cTn id="87" dur="1" fill="hold">
                                          <p:stCondLst>
                                            <p:cond delay="1999"/>
                                          </p:stCondLst>
                                        </p:cTn>
                                        <p:tgtEl>
                                          <p:spTgt spid="71"/>
                                        </p:tgtEl>
                                        <p:attrNameLst>
                                          <p:attrName>style.visibility</p:attrName>
                                        </p:attrNameLst>
                                      </p:cBhvr>
                                      <p:to>
                                        <p:strVal val="hidden"/>
                                      </p:to>
                                    </p:set>
                                  </p:childTnLst>
                                </p:cTn>
                              </p:par>
                              <p:par>
                                <p:cTn id="88" presetID="22" presetClass="exit" presetSubtype="8" fill="hold" grpId="2" nodeType="withEffect">
                                  <p:stCondLst>
                                    <p:cond delay="0"/>
                                  </p:stCondLst>
                                  <p:childTnLst>
                                    <p:animEffect transition="out" filter="wipe(left)">
                                      <p:cBhvr>
                                        <p:cTn id="89" dur="2000"/>
                                        <p:tgtEl>
                                          <p:spTgt spid="33"/>
                                        </p:tgtEl>
                                      </p:cBhvr>
                                    </p:animEffect>
                                    <p:set>
                                      <p:cBhvr>
                                        <p:cTn id="90" dur="1" fill="hold">
                                          <p:stCondLst>
                                            <p:cond delay="1999"/>
                                          </p:stCondLst>
                                        </p:cTn>
                                        <p:tgtEl>
                                          <p:spTgt spid="33"/>
                                        </p:tgtEl>
                                        <p:attrNameLst>
                                          <p:attrName>style.visibility</p:attrName>
                                        </p:attrNameLst>
                                      </p:cBhvr>
                                      <p:to>
                                        <p:strVal val="hidden"/>
                                      </p:to>
                                    </p:set>
                                  </p:childTnLst>
                                </p:cTn>
                              </p:par>
                              <p:par>
                                <p:cTn id="91" presetID="22" presetClass="exit" presetSubtype="8" fill="hold" grpId="1" nodeType="withEffect">
                                  <p:stCondLst>
                                    <p:cond delay="0"/>
                                  </p:stCondLst>
                                  <p:childTnLst>
                                    <p:animEffect transition="out" filter="wipe(left)">
                                      <p:cBhvr>
                                        <p:cTn id="92" dur="2000"/>
                                        <p:tgtEl>
                                          <p:spTgt spid="36"/>
                                        </p:tgtEl>
                                      </p:cBhvr>
                                    </p:animEffect>
                                    <p:set>
                                      <p:cBhvr>
                                        <p:cTn id="93" dur="1" fill="hold">
                                          <p:stCondLst>
                                            <p:cond delay="1999"/>
                                          </p:stCondLst>
                                        </p:cTn>
                                        <p:tgtEl>
                                          <p:spTgt spid="36"/>
                                        </p:tgtEl>
                                        <p:attrNameLst>
                                          <p:attrName>style.visibility</p:attrName>
                                        </p:attrNameLst>
                                      </p:cBhvr>
                                      <p:to>
                                        <p:strVal val="hidden"/>
                                      </p:to>
                                    </p:set>
                                  </p:childTnLst>
                                </p:cTn>
                              </p:par>
                              <p:par>
                                <p:cTn id="94" presetID="22" presetClass="exit" presetSubtype="8" fill="hold" grpId="1" nodeType="withEffect">
                                  <p:stCondLst>
                                    <p:cond delay="0"/>
                                  </p:stCondLst>
                                  <p:childTnLst>
                                    <p:animEffect transition="out" filter="wipe(left)">
                                      <p:cBhvr>
                                        <p:cTn id="95" dur="2000"/>
                                        <p:tgtEl>
                                          <p:spTgt spid="31"/>
                                        </p:tgtEl>
                                      </p:cBhvr>
                                    </p:animEffect>
                                    <p:set>
                                      <p:cBhvr>
                                        <p:cTn id="96" dur="1" fill="hold">
                                          <p:stCondLst>
                                            <p:cond delay="1999"/>
                                          </p:stCondLst>
                                        </p:cTn>
                                        <p:tgtEl>
                                          <p:spTgt spid="31"/>
                                        </p:tgtEl>
                                        <p:attrNameLst>
                                          <p:attrName>style.visibility</p:attrName>
                                        </p:attrNameLst>
                                      </p:cBhvr>
                                      <p:to>
                                        <p:strVal val="hidden"/>
                                      </p:to>
                                    </p:set>
                                  </p:childTnLst>
                                </p:cTn>
                              </p:par>
                              <p:par>
                                <p:cTn id="97" presetID="22" presetClass="exit" presetSubtype="8" fill="hold" grpId="1" nodeType="withEffect">
                                  <p:stCondLst>
                                    <p:cond delay="0"/>
                                  </p:stCondLst>
                                  <p:childTnLst>
                                    <p:animEffect transition="out" filter="wipe(left)">
                                      <p:cBhvr>
                                        <p:cTn id="98" dur="2000"/>
                                        <p:tgtEl>
                                          <p:spTgt spid="12"/>
                                        </p:tgtEl>
                                      </p:cBhvr>
                                    </p:animEffect>
                                    <p:set>
                                      <p:cBhvr>
                                        <p:cTn id="99" dur="1" fill="hold">
                                          <p:stCondLst>
                                            <p:cond delay="1999"/>
                                          </p:stCondLst>
                                        </p:cTn>
                                        <p:tgtEl>
                                          <p:spTgt spid="12"/>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73"/>
                                        </p:tgtEl>
                                        <p:attrNameLst>
                                          <p:attrName>style.visibility</p:attrName>
                                        </p:attrNameLst>
                                      </p:cBhvr>
                                      <p:to>
                                        <p:strVal val="visible"/>
                                      </p:to>
                                    </p:set>
                                    <p:animEffect transition="in" filter="wipe(up)">
                                      <p:cBhvr>
                                        <p:cTn id="104" dur="500"/>
                                        <p:tgtEl>
                                          <p:spTgt spid="73"/>
                                        </p:tgtEl>
                                      </p:cBhvr>
                                    </p:animEffect>
                                  </p:childTnLst>
                                </p:cTn>
                              </p:par>
                              <p:par>
                                <p:cTn id="105" presetID="16" presetClass="exit" presetSubtype="37" fill="hold" grpId="3" nodeType="withEffect">
                                  <p:stCondLst>
                                    <p:cond delay="0"/>
                                  </p:stCondLst>
                                  <p:childTnLst>
                                    <p:animEffect transition="out" filter="barn(outVertical)">
                                      <p:cBhvr>
                                        <p:cTn id="106" dur="500"/>
                                        <p:tgtEl>
                                          <p:spTgt spid="71"/>
                                        </p:tgtEl>
                                      </p:cBhvr>
                                    </p:animEffect>
                                    <p:set>
                                      <p:cBhvr>
                                        <p:cTn id="107" dur="1" fill="hold">
                                          <p:stCondLst>
                                            <p:cond delay="499"/>
                                          </p:stCondLst>
                                        </p:cTn>
                                        <p:tgtEl>
                                          <p:spTgt spid="71"/>
                                        </p:tgtEl>
                                        <p:attrNameLst>
                                          <p:attrName>style.visibility</p:attrName>
                                        </p:attrNameLst>
                                      </p:cBhvr>
                                      <p:to>
                                        <p:strVal val="hidden"/>
                                      </p:to>
                                    </p:set>
                                  </p:childTnLst>
                                </p:cTn>
                              </p:par>
                              <p:par>
                                <p:cTn id="108" presetID="16" presetClass="exit" presetSubtype="37" fill="hold" grpId="2" nodeType="withEffect">
                                  <p:stCondLst>
                                    <p:cond delay="0"/>
                                  </p:stCondLst>
                                  <p:childTnLst>
                                    <p:animEffect transition="out" filter="barn(outVertical)">
                                      <p:cBhvr>
                                        <p:cTn id="109" dur="500"/>
                                        <p:tgtEl>
                                          <p:spTgt spid="51"/>
                                        </p:tgtEl>
                                      </p:cBhvr>
                                    </p:animEffect>
                                    <p:set>
                                      <p:cBhvr>
                                        <p:cTn id="110" dur="1" fill="hold">
                                          <p:stCondLst>
                                            <p:cond delay="499"/>
                                          </p:stCondLst>
                                        </p:cTn>
                                        <p:tgtEl>
                                          <p:spTgt spid="51"/>
                                        </p:tgtEl>
                                        <p:attrNameLst>
                                          <p:attrName>style.visibility</p:attrName>
                                        </p:attrNameLst>
                                      </p:cBhvr>
                                      <p:to>
                                        <p:strVal val="hidden"/>
                                      </p:to>
                                    </p:set>
                                  </p:childTnLst>
                                </p:cTn>
                              </p:par>
                              <p:par>
                                <p:cTn id="111" presetID="16" presetClass="exit" presetSubtype="37" fill="hold" grpId="3" nodeType="withEffect">
                                  <p:stCondLst>
                                    <p:cond delay="0"/>
                                  </p:stCondLst>
                                  <p:childTnLst>
                                    <p:animEffect transition="out" filter="barn(outVertical)">
                                      <p:cBhvr>
                                        <p:cTn id="112" dur="500"/>
                                        <p:tgtEl>
                                          <p:spTgt spid="55"/>
                                        </p:tgtEl>
                                      </p:cBhvr>
                                    </p:animEffect>
                                    <p:set>
                                      <p:cBhvr>
                                        <p:cTn id="113" dur="1" fill="hold">
                                          <p:stCondLst>
                                            <p:cond delay="499"/>
                                          </p:stCondLst>
                                        </p:cTn>
                                        <p:tgtEl>
                                          <p:spTgt spid="55"/>
                                        </p:tgtEl>
                                        <p:attrNameLst>
                                          <p:attrName>style.visibility</p:attrName>
                                        </p:attrNameLst>
                                      </p:cBhvr>
                                      <p:to>
                                        <p:strVal val="hidden"/>
                                      </p:to>
                                    </p:set>
                                  </p:childTnLst>
                                </p:cTn>
                              </p:par>
                              <p:par>
                                <p:cTn id="114" presetID="16" presetClass="exit" presetSubtype="37" fill="hold" grpId="3" nodeType="withEffect">
                                  <p:stCondLst>
                                    <p:cond delay="0"/>
                                  </p:stCondLst>
                                  <p:childTnLst>
                                    <p:animEffect transition="out" filter="barn(outVertical)">
                                      <p:cBhvr>
                                        <p:cTn id="115" dur="500"/>
                                        <p:tgtEl>
                                          <p:spTgt spid="54"/>
                                        </p:tgtEl>
                                      </p:cBhvr>
                                    </p:animEffect>
                                    <p:set>
                                      <p:cBhvr>
                                        <p:cTn id="116" dur="1" fill="hold">
                                          <p:stCondLst>
                                            <p:cond delay="499"/>
                                          </p:stCondLst>
                                        </p:cTn>
                                        <p:tgtEl>
                                          <p:spTgt spid="54"/>
                                        </p:tgtEl>
                                        <p:attrNameLst>
                                          <p:attrName>style.visibility</p:attrName>
                                        </p:attrNameLst>
                                      </p:cBhvr>
                                      <p:to>
                                        <p:strVal val="hidden"/>
                                      </p:to>
                                    </p:set>
                                  </p:childTnLst>
                                </p:cTn>
                              </p:par>
                              <p:par>
                                <p:cTn id="117" presetID="16" presetClass="exit" presetSubtype="37" fill="hold" grpId="3" nodeType="withEffect">
                                  <p:stCondLst>
                                    <p:cond delay="0"/>
                                  </p:stCondLst>
                                  <p:childTnLst>
                                    <p:animEffect transition="out" filter="barn(outVertical)">
                                      <p:cBhvr>
                                        <p:cTn id="118" dur="500"/>
                                        <p:tgtEl>
                                          <p:spTgt spid="53"/>
                                        </p:tgtEl>
                                      </p:cBhvr>
                                    </p:animEffect>
                                    <p:set>
                                      <p:cBhvr>
                                        <p:cTn id="119" dur="1" fill="hold">
                                          <p:stCondLst>
                                            <p:cond delay="499"/>
                                          </p:stCondLst>
                                        </p:cTn>
                                        <p:tgtEl>
                                          <p:spTgt spid="53"/>
                                        </p:tgtEl>
                                        <p:attrNameLst>
                                          <p:attrName>style.visibility</p:attrName>
                                        </p:attrNameLst>
                                      </p:cBhvr>
                                      <p:to>
                                        <p:strVal val="hidden"/>
                                      </p:to>
                                    </p:set>
                                  </p:childTnLst>
                                </p:cTn>
                              </p:par>
                              <p:par>
                                <p:cTn id="120" presetID="16" presetClass="exit" presetSubtype="37" fill="hold" grpId="3" nodeType="withEffect">
                                  <p:stCondLst>
                                    <p:cond delay="0"/>
                                  </p:stCondLst>
                                  <p:childTnLst>
                                    <p:animEffect transition="out" filter="barn(outVertical)">
                                      <p:cBhvr>
                                        <p:cTn id="121" dur="500"/>
                                        <p:tgtEl>
                                          <p:spTgt spid="52"/>
                                        </p:tgtEl>
                                      </p:cBhvr>
                                    </p:animEffect>
                                    <p:set>
                                      <p:cBhvr>
                                        <p:cTn id="122" dur="1" fill="hold">
                                          <p:stCondLst>
                                            <p:cond delay="499"/>
                                          </p:stCondLst>
                                        </p:cTn>
                                        <p:tgtEl>
                                          <p:spTgt spid="52"/>
                                        </p:tgtEl>
                                        <p:attrNameLst>
                                          <p:attrName>style.visibility</p:attrName>
                                        </p:attrNameLst>
                                      </p:cBhvr>
                                      <p:to>
                                        <p:strVal val="hidden"/>
                                      </p:to>
                                    </p:set>
                                  </p:childTnLst>
                                </p:cTn>
                              </p:par>
                              <p:par>
                                <p:cTn id="123" presetID="16" presetClass="exit" presetSubtype="37" fill="hold" grpId="1" nodeType="withEffect">
                                  <p:stCondLst>
                                    <p:cond delay="0"/>
                                  </p:stCondLst>
                                  <p:childTnLst>
                                    <p:animEffect transition="out" filter="barn(outVertical)">
                                      <p:cBhvr>
                                        <p:cTn id="124" dur="500"/>
                                        <p:tgtEl>
                                          <p:spTgt spid="27"/>
                                        </p:tgtEl>
                                      </p:cBhvr>
                                    </p:animEffect>
                                    <p:set>
                                      <p:cBhvr>
                                        <p:cTn id="125" dur="1" fill="hold">
                                          <p:stCondLst>
                                            <p:cond delay="499"/>
                                          </p:stCondLst>
                                        </p:cTn>
                                        <p:tgtEl>
                                          <p:spTgt spid="27"/>
                                        </p:tgtEl>
                                        <p:attrNameLst>
                                          <p:attrName>style.visibility</p:attrName>
                                        </p:attrNameLst>
                                      </p:cBhvr>
                                      <p:to>
                                        <p:strVal val="hidden"/>
                                      </p:to>
                                    </p:set>
                                  </p:childTnLst>
                                </p:cTn>
                              </p:par>
                              <p:par>
                                <p:cTn id="126" presetID="16" presetClass="exit" presetSubtype="37" fill="hold" grpId="1" nodeType="withEffect">
                                  <p:stCondLst>
                                    <p:cond delay="0"/>
                                  </p:stCondLst>
                                  <p:childTnLst>
                                    <p:animEffect transition="out" filter="barn(outVertical)">
                                      <p:cBhvr>
                                        <p:cTn id="127" dur="500"/>
                                        <p:tgtEl>
                                          <p:spTgt spid="26"/>
                                        </p:tgtEl>
                                      </p:cBhvr>
                                    </p:animEffect>
                                    <p:set>
                                      <p:cBhvr>
                                        <p:cTn id="128" dur="1" fill="hold">
                                          <p:stCondLst>
                                            <p:cond delay="499"/>
                                          </p:stCondLst>
                                        </p:cTn>
                                        <p:tgtEl>
                                          <p:spTgt spid="26"/>
                                        </p:tgtEl>
                                        <p:attrNameLst>
                                          <p:attrName>style.visibility</p:attrName>
                                        </p:attrNameLst>
                                      </p:cBhvr>
                                      <p:to>
                                        <p:strVal val="hidden"/>
                                      </p:to>
                                    </p:set>
                                  </p:childTnLst>
                                </p:cTn>
                              </p:par>
                              <p:par>
                                <p:cTn id="129" presetID="16" presetClass="exit" presetSubtype="37" fill="hold" grpId="1" nodeType="withEffect">
                                  <p:stCondLst>
                                    <p:cond delay="0"/>
                                  </p:stCondLst>
                                  <p:childTnLst>
                                    <p:animEffect transition="out" filter="barn(outVertical)">
                                      <p:cBhvr>
                                        <p:cTn id="130" dur="500"/>
                                        <p:tgtEl>
                                          <p:spTgt spid="14"/>
                                        </p:tgtEl>
                                      </p:cBhvr>
                                    </p:animEffect>
                                    <p:set>
                                      <p:cBhvr>
                                        <p:cTn id="131" dur="1" fill="hold">
                                          <p:stCondLst>
                                            <p:cond delay="499"/>
                                          </p:stCondLst>
                                        </p:cTn>
                                        <p:tgtEl>
                                          <p:spTgt spid="14"/>
                                        </p:tgtEl>
                                        <p:attrNameLst>
                                          <p:attrName>style.visibility</p:attrName>
                                        </p:attrNameLst>
                                      </p:cBhvr>
                                      <p:to>
                                        <p:strVal val="hidden"/>
                                      </p:to>
                                    </p:set>
                                  </p:childTnLst>
                                </p:cTn>
                              </p:par>
                              <p:par>
                                <p:cTn id="132" presetID="16" presetClass="exit" presetSubtype="37" fill="hold" grpId="1" nodeType="withEffect">
                                  <p:stCondLst>
                                    <p:cond delay="0"/>
                                  </p:stCondLst>
                                  <p:childTnLst>
                                    <p:animEffect transition="out" filter="barn(outVertical)">
                                      <p:cBhvr>
                                        <p:cTn id="133" dur="500"/>
                                        <p:tgtEl>
                                          <p:spTgt spid="13"/>
                                        </p:tgtEl>
                                      </p:cBhvr>
                                    </p:animEffect>
                                    <p:set>
                                      <p:cBhvr>
                                        <p:cTn id="134" dur="1" fill="hold">
                                          <p:stCondLst>
                                            <p:cond delay="499"/>
                                          </p:stCondLst>
                                        </p:cTn>
                                        <p:tgtEl>
                                          <p:spTgt spid="13"/>
                                        </p:tgtEl>
                                        <p:attrNameLst>
                                          <p:attrName>style.visibility</p:attrName>
                                        </p:attrNameLst>
                                      </p:cBhvr>
                                      <p:to>
                                        <p:strVal val="hidden"/>
                                      </p:to>
                                    </p:set>
                                  </p:childTnLst>
                                </p:cTn>
                              </p:par>
                              <p:par>
                                <p:cTn id="135" presetID="16" presetClass="exit" presetSubtype="37" fill="hold" grpId="1" nodeType="withEffect">
                                  <p:stCondLst>
                                    <p:cond delay="0"/>
                                  </p:stCondLst>
                                  <p:childTnLst>
                                    <p:animEffect transition="out" filter="barn(outVertical)">
                                      <p:cBhvr>
                                        <p:cTn id="136" dur="500"/>
                                        <p:tgtEl>
                                          <p:spTgt spid="11"/>
                                        </p:tgtEl>
                                      </p:cBhvr>
                                    </p:animEffect>
                                    <p:set>
                                      <p:cBhvr>
                                        <p:cTn id="137" dur="1" fill="hold">
                                          <p:stCondLst>
                                            <p:cond delay="499"/>
                                          </p:stCondLst>
                                        </p:cTn>
                                        <p:tgtEl>
                                          <p:spTgt spid="11"/>
                                        </p:tgtEl>
                                        <p:attrNameLst>
                                          <p:attrName>style.visibility</p:attrName>
                                        </p:attrNameLst>
                                      </p:cBhvr>
                                      <p:to>
                                        <p:strVal val="hidden"/>
                                      </p:to>
                                    </p:set>
                                  </p:childTnLst>
                                </p:cTn>
                              </p:par>
                              <p:par>
                                <p:cTn id="138" presetID="16" presetClass="exit" presetSubtype="37" fill="hold" grpId="1" nodeType="withEffect">
                                  <p:stCondLst>
                                    <p:cond delay="0"/>
                                  </p:stCondLst>
                                  <p:childTnLst>
                                    <p:animEffect transition="out" filter="barn(outVertical)">
                                      <p:cBhvr>
                                        <p:cTn id="139" dur="500"/>
                                        <p:tgtEl>
                                          <p:spTgt spid="8"/>
                                        </p:tgtEl>
                                      </p:cBhvr>
                                    </p:animEffect>
                                    <p:set>
                                      <p:cBhvr>
                                        <p:cTn id="140" dur="1" fill="hold">
                                          <p:stCondLst>
                                            <p:cond delay="499"/>
                                          </p:stCondLst>
                                        </p:cTn>
                                        <p:tgtEl>
                                          <p:spTgt spid="8"/>
                                        </p:tgtEl>
                                        <p:attrNameLst>
                                          <p:attrName>style.visibility</p:attrName>
                                        </p:attrNameLst>
                                      </p:cBhvr>
                                      <p:to>
                                        <p:strVal val="hidden"/>
                                      </p:to>
                                    </p:set>
                                  </p:childTnLst>
                                </p:cTn>
                              </p:par>
                              <p:par>
                                <p:cTn id="141" presetID="2" presetClass="entr" presetSubtype="8" fill="hold" nodeType="withEffect">
                                  <p:stCondLst>
                                    <p:cond delay="0"/>
                                  </p:stCondLst>
                                  <p:childTnLst>
                                    <p:set>
                                      <p:cBhvr>
                                        <p:cTn id="142" dur="1" fill="hold">
                                          <p:stCondLst>
                                            <p:cond delay="0"/>
                                          </p:stCondLst>
                                        </p:cTn>
                                        <p:tgtEl>
                                          <p:spTgt spid="3">
                                            <p:txEl>
                                              <p:pRg st="5" end="5"/>
                                            </p:txEl>
                                          </p:spTgt>
                                        </p:tgtEl>
                                        <p:attrNameLst>
                                          <p:attrName>style.visibility</p:attrName>
                                        </p:attrNameLst>
                                      </p:cBhvr>
                                      <p:to>
                                        <p:strVal val="visible"/>
                                      </p:to>
                                    </p:set>
                                    <p:anim calcmode="lin" valueType="num">
                                      <p:cBhvr additive="base">
                                        <p:cTn id="143"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144" dur="500" fill="hold"/>
                                        <p:tgtEl>
                                          <p:spTgt spid="3">
                                            <p:txEl>
                                              <p:pRg st="5" end="5"/>
                                            </p:txEl>
                                          </p:spTgt>
                                        </p:tgtEl>
                                        <p:attrNameLst>
                                          <p:attrName>ppt_y</p:attrName>
                                        </p:attrNameLst>
                                      </p:cBhvr>
                                      <p:tavLst>
                                        <p:tav tm="0">
                                          <p:val>
                                            <p:strVal val="#ppt_y"/>
                                          </p:val>
                                        </p:tav>
                                        <p:tav tm="100000">
                                          <p:val>
                                            <p:strVal val="#ppt_y"/>
                                          </p:val>
                                        </p:tav>
                                      </p:tavLst>
                                    </p:anim>
                                  </p:childTnLst>
                                </p:cTn>
                              </p:par>
                              <p:par>
                                <p:cTn id="145" presetID="10" presetClass="entr" presetSubtype="0" fill="hold" grpId="0" nodeType="withEffect">
                                  <p:stCondLst>
                                    <p:cond delay="0"/>
                                  </p:stCondLst>
                                  <p:childTnLst>
                                    <p:set>
                                      <p:cBhvr>
                                        <p:cTn id="146" dur="1" fill="hold">
                                          <p:stCondLst>
                                            <p:cond delay="0"/>
                                          </p:stCondLst>
                                        </p:cTn>
                                        <p:tgtEl>
                                          <p:spTgt spid="7"/>
                                        </p:tgtEl>
                                        <p:attrNameLst>
                                          <p:attrName>style.visibility</p:attrName>
                                        </p:attrNameLst>
                                      </p:cBhvr>
                                      <p:to>
                                        <p:strVal val="visible"/>
                                      </p:to>
                                    </p:set>
                                    <p:animEffect transition="in" filter="fade">
                                      <p:cBhvr>
                                        <p:cTn id="14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1" grpId="0" animBg="1"/>
      <p:bldP spid="11" grpId="1" animBg="1"/>
      <p:bldP spid="13" grpId="0" animBg="1"/>
      <p:bldP spid="13" grpId="1" animBg="1"/>
      <p:bldP spid="14" grpId="0" animBg="1"/>
      <p:bldP spid="14" grpId="1" animBg="1"/>
      <p:bldP spid="26" grpId="0" animBg="1"/>
      <p:bldP spid="26" grpId="1" animBg="1"/>
      <p:bldP spid="27" grpId="0" animBg="1"/>
      <p:bldP spid="27" grpId="1" animBg="1"/>
      <p:bldP spid="51" grpId="0" animBg="1"/>
      <p:bldP spid="51" grpId="1" animBg="1"/>
      <p:bldP spid="51" grpId="2" animBg="1"/>
      <p:bldP spid="52" grpId="1" animBg="1"/>
      <p:bldP spid="52" grpId="2" animBg="1"/>
      <p:bldP spid="52" grpId="3" animBg="1"/>
      <p:bldP spid="53" grpId="1" animBg="1"/>
      <p:bldP spid="53" grpId="2" animBg="1"/>
      <p:bldP spid="53" grpId="3" animBg="1"/>
      <p:bldP spid="54" grpId="1" animBg="1"/>
      <p:bldP spid="54" grpId="2" animBg="1"/>
      <p:bldP spid="54" grpId="3" animBg="1"/>
      <p:bldP spid="55" grpId="1" animBg="1"/>
      <p:bldP spid="55" grpId="2" animBg="1"/>
      <p:bldP spid="55" grpId="3" animBg="1"/>
      <p:bldP spid="71" grpId="1" animBg="1"/>
      <p:bldP spid="71" grpId="2" animBg="1"/>
      <p:bldP spid="71" grpId="3" animBg="1"/>
      <p:bldP spid="7" grpId="0"/>
      <p:bldP spid="10" grpId="0" animBg="1"/>
      <p:bldP spid="12" grpId="0" animBg="1"/>
      <p:bldP spid="12" grpId="1" animBg="1"/>
      <p:bldP spid="16" grpId="0" animBg="1"/>
      <p:bldP spid="31" grpId="0" animBg="1"/>
      <p:bldP spid="31" grpId="1" animBg="1"/>
      <p:bldP spid="32" grpId="0" animBg="1"/>
      <p:bldP spid="33" grpId="1" animBg="1"/>
      <p:bldP spid="33" grpId="2" animBg="1"/>
      <p:bldP spid="34" grpId="0" animBg="1"/>
      <p:bldP spid="36" grpId="0" animBg="1"/>
      <p:bldP spid="36"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a:extLst>
            <a:ext uri="{FF2B5EF4-FFF2-40B4-BE49-F238E27FC236}">
              <a16:creationId xmlns:a16="http://schemas.microsoft.com/office/drawing/2014/main" id="{368B9B6E-3DBC-6A26-DD8E-96EC2A8D0DD6}"/>
            </a:ext>
          </a:extLst>
        </p:cNvPr>
        <p:cNvGrpSpPr/>
        <p:nvPr/>
      </p:nvGrpSpPr>
      <p:grpSpPr>
        <a:xfrm>
          <a:off x="0" y="0"/>
          <a:ext cx="0" cy="0"/>
          <a:chOff x="0" y="0"/>
          <a:chExt cx="0" cy="0"/>
        </a:xfrm>
      </p:grpSpPr>
      <p:sp>
        <p:nvSpPr>
          <p:cNvPr id="70" name="Rectangle 69">
            <a:extLst>
              <a:ext uri="{FF2B5EF4-FFF2-40B4-BE49-F238E27FC236}">
                <a16:creationId xmlns:a16="http://schemas.microsoft.com/office/drawing/2014/main" id="{3FCAEE3B-F2F8-A15B-12B9-ECAB86AF26EA}"/>
              </a:ext>
            </a:extLst>
          </p:cNvPr>
          <p:cNvSpPr/>
          <p:nvPr/>
        </p:nvSpPr>
        <p:spPr>
          <a:xfrm>
            <a:off x="9146099" y="4215662"/>
            <a:ext cx="1152000" cy="288000"/>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1" name="Rectangle 70">
            <a:extLst>
              <a:ext uri="{FF2B5EF4-FFF2-40B4-BE49-F238E27FC236}">
                <a16:creationId xmlns:a16="http://schemas.microsoft.com/office/drawing/2014/main" id="{953EE511-BC13-202C-20D2-BB481BD78F2C}"/>
              </a:ext>
            </a:extLst>
          </p:cNvPr>
          <p:cNvSpPr/>
          <p:nvPr/>
        </p:nvSpPr>
        <p:spPr>
          <a:xfrm>
            <a:off x="9145497" y="5011715"/>
            <a:ext cx="1152000" cy="288000"/>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8" name="Rectangle 67">
            <a:extLst>
              <a:ext uri="{FF2B5EF4-FFF2-40B4-BE49-F238E27FC236}">
                <a16:creationId xmlns:a16="http://schemas.microsoft.com/office/drawing/2014/main" id="{122280D0-3452-CC09-8704-4A492C402BDF}"/>
              </a:ext>
            </a:extLst>
          </p:cNvPr>
          <p:cNvSpPr/>
          <p:nvPr/>
        </p:nvSpPr>
        <p:spPr>
          <a:xfrm>
            <a:off x="6283178" y="4608000"/>
            <a:ext cx="1152000" cy="288000"/>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9" name="Rectangle 68">
            <a:extLst>
              <a:ext uri="{FF2B5EF4-FFF2-40B4-BE49-F238E27FC236}">
                <a16:creationId xmlns:a16="http://schemas.microsoft.com/office/drawing/2014/main" id="{266AA7DC-D775-3569-A830-CBFF98533B8D}"/>
              </a:ext>
            </a:extLst>
          </p:cNvPr>
          <p:cNvSpPr/>
          <p:nvPr/>
        </p:nvSpPr>
        <p:spPr>
          <a:xfrm>
            <a:off x="7434577" y="4607567"/>
            <a:ext cx="1152000" cy="288000"/>
          </a:xfrm>
          <a:prstGeom prst="rect">
            <a:avLst/>
          </a:prstGeom>
          <a:solidFill>
            <a:srgbClr val="00FFD5">
              <a:alpha val="4000"/>
            </a:srgbClr>
          </a:solidFill>
          <a:ln>
            <a:noFill/>
          </a:ln>
          <a:effectLst>
            <a:glow rad="150070">
              <a:srgbClr val="00FFD5">
                <a:alpha val="40000"/>
              </a:srgbClr>
            </a:glow>
            <a:outerShdw blurRad="50800" dist="50800" dir="5400000" algn="ctr" rotWithShape="0">
              <a:srgbClr val="000000"/>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graphicFrame>
        <p:nvGraphicFramePr>
          <p:cNvPr id="34" name="Table 33">
            <a:extLst>
              <a:ext uri="{FF2B5EF4-FFF2-40B4-BE49-F238E27FC236}">
                <a16:creationId xmlns:a16="http://schemas.microsoft.com/office/drawing/2014/main" id="{FC0677C7-304B-075E-86BF-B63FD0BA734D}"/>
              </a:ext>
            </a:extLst>
          </p:cNvPr>
          <p:cNvGraphicFramePr>
            <a:graphicFrameLocks noGrp="1"/>
          </p:cNvGraphicFramePr>
          <p:nvPr>
            <p:extLst>
              <p:ext uri="{D42A27DB-BD31-4B8C-83A1-F6EECF244321}">
                <p14:modId xmlns:p14="http://schemas.microsoft.com/office/powerpoint/2010/main" val="1343734158"/>
              </p:ext>
            </p:extLst>
          </p:nvPr>
        </p:nvGraphicFramePr>
        <p:xfrm>
          <a:off x="9099017" y="3006025"/>
          <a:ext cx="1152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grpSp>
        <p:nvGrpSpPr>
          <p:cNvPr id="41" name="Group 40">
            <a:extLst>
              <a:ext uri="{FF2B5EF4-FFF2-40B4-BE49-F238E27FC236}">
                <a16:creationId xmlns:a16="http://schemas.microsoft.com/office/drawing/2014/main" id="{8AF423FB-EE87-3C40-C376-2631259F52F2}"/>
              </a:ext>
            </a:extLst>
          </p:cNvPr>
          <p:cNvGrpSpPr/>
          <p:nvPr/>
        </p:nvGrpSpPr>
        <p:grpSpPr>
          <a:xfrm>
            <a:off x="9099918" y="2984591"/>
            <a:ext cx="1150497" cy="338554"/>
            <a:chOff x="7390801" y="2271530"/>
            <a:chExt cx="1150497" cy="338554"/>
          </a:xfrm>
        </p:grpSpPr>
        <p:sp>
          <p:nvSpPr>
            <p:cNvPr id="42" name="TextBox 41">
              <a:extLst>
                <a:ext uri="{FF2B5EF4-FFF2-40B4-BE49-F238E27FC236}">
                  <a16:creationId xmlns:a16="http://schemas.microsoft.com/office/drawing/2014/main" id="{D81CA6CE-9114-5BD3-8157-19642D351040}"/>
                </a:ext>
              </a:extLst>
            </p:cNvPr>
            <p:cNvSpPr txBox="1"/>
            <p:nvPr/>
          </p:nvSpPr>
          <p:spPr>
            <a:xfrm>
              <a:off x="7390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43" name="TextBox 42">
              <a:extLst>
                <a:ext uri="{FF2B5EF4-FFF2-40B4-BE49-F238E27FC236}">
                  <a16:creationId xmlns:a16="http://schemas.microsoft.com/office/drawing/2014/main" id="{A07EC128-83E6-21F8-0873-51A867B6F9F1}"/>
                </a:ext>
              </a:extLst>
            </p:cNvPr>
            <p:cNvSpPr txBox="1"/>
            <p:nvPr/>
          </p:nvSpPr>
          <p:spPr>
            <a:xfrm>
              <a:off x="7677599" y="227153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44" name="TextBox 43">
              <a:extLst>
                <a:ext uri="{FF2B5EF4-FFF2-40B4-BE49-F238E27FC236}">
                  <a16:creationId xmlns:a16="http://schemas.microsoft.com/office/drawing/2014/main" id="{EF72CD3D-DF7A-ED67-7DA5-0668E53EDDFF}"/>
                </a:ext>
              </a:extLst>
            </p:cNvPr>
            <p:cNvSpPr txBox="1"/>
            <p:nvPr/>
          </p:nvSpPr>
          <p:spPr>
            <a:xfrm>
              <a:off x="7966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45" name="TextBox 44">
              <a:extLst>
                <a:ext uri="{FF2B5EF4-FFF2-40B4-BE49-F238E27FC236}">
                  <a16:creationId xmlns:a16="http://schemas.microsoft.com/office/drawing/2014/main" id="{75BBAD2D-FF23-4A2E-E3FE-7FB581437CBF}"/>
                </a:ext>
              </a:extLst>
            </p:cNvPr>
            <p:cNvSpPr txBox="1"/>
            <p:nvPr/>
          </p:nvSpPr>
          <p:spPr>
            <a:xfrm>
              <a:off x="8253298" y="2271530"/>
              <a:ext cx="288000" cy="338554"/>
            </a:xfrm>
            <a:prstGeom prst="rect">
              <a:avLst/>
            </a:prstGeom>
            <a:noFill/>
          </p:spPr>
          <p:txBody>
            <a:bodyPr wrap="square" rtlCol="0" anchor="ctr">
              <a:spAutoFit/>
            </a:bodyPr>
            <a:lstStyle/>
            <a:p>
              <a:pPr algn="ctr"/>
              <a:r>
                <a:rPr lang="en-JP" sz="1600" b="1">
                  <a:solidFill>
                    <a:srgbClr val="A8D5BA"/>
                  </a:solidFill>
                </a:rPr>
                <a:t>3</a:t>
              </a:r>
            </a:p>
          </p:txBody>
        </p:sp>
      </p:grpSp>
      <p:graphicFrame>
        <p:nvGraphicFramePr>
          <p:cNvPr id="33" name="Table 32">
            <a:extLst>
              <a:ext uri="{FF2B5EF4-FFF2-40B4-BE49-F238E27FC236}">
                <a16:creationId xmlns:a16="http://schemas.microsoft.com/office/drawing/2014/main" id="{FE2CBEB3-133B-1F81-132D-D6281E29C49D}"/>
              </a:ext>
            </a:extLst>
          </p:cNvPr>
          <p:cNvGraphicFramePr>
            <a:graphicFrameLocks noGrp="1"/>
          </p:cNvGraphicFramePr>
          <p:nvPr>
            <p:extLst>
              <p:ext uri="{D42A27DB-BD31-4B8C-83A1-F6EECF244321}">
                <p14:modId xmlns:p14="http://schemas.microsoft.com/office/powerpoint/2010/main" val="1228341641"/>
              </p:ext>
            </p:extLst>
          </p:nvPr>
        </p:nvGraphicFramePr>
        <p:xfrm>
          <a:off x="9099918" y="2208549"/>
          <a:ext cx="1152000" cy="288000"/>
        </p:xfrm>
        <a:graphic>
          <a:graphicData uri="http://schemas.openxmlformats.org/drawingml/2006/table">
            <a:tbl>
              <a:tblPr firstRow="1" bandRow="1">
                <a:tableStyleId>{5C22544A-7EE6-4342-B048-85BDC9FD1C3A}</a:tableStyleId>
              </a:tblPr>
              <a:tblGrid>
                <a:gridCol w="281263">
                  <a:extLst>
                    <a:ext uri="{9D8B030D-6E8A-4147-A177-3AD203B41FA5}">
                      <a16:colId xmlns:a16="http://schemas.microsoft.com/office/drawing/2014/main" val="2692743704"/>
                    </a:ext>
                  </a:extLst>
                </a:gridCol>
                <a:gridCol w="294737">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grpSp>
        <p:nvGrpSpPr>
          <p:cNvPr id="39" name="Group 38">
            <a:extLst>
              <a:ext uri="{FF2B5EF4-FFF2-40B4-BE49-F238E27FC236}">
                <a16:creationId xmlns:a16="http://schemas.microsoft.com/office/drawing/2014/main" id="{C2D2CDB2-91C3-43CC-4FF3-0387B421B157}"/>
              </a:ext>
            </a:extLst>
          </p:cNvPr>
          <p:cNvGrpSpPr/>
          <p:nvPr/>
        </p:nvGrpSpPr>
        <p:grpSpPr>
          <a:xfrm>
            <a:off x="9100068" y="2186328"/>
            <a:ext cx="1152301" cy="341071"/>
            <a:chOff x="6237899" y="2746542"/>
            <a:chExt cx="1152301" cy="341071"/>
          </a:xfrm>
        </p:grpSpPr>
        <p:sp>
          <p:nvSpPr>
            <p:cNvPr id="35" name="TextBox 34">
              <a:extLst>
                <a:ext uri="{FF2B5EF4-FFF2-40B4-BE49-F238E27FC236}">
                  <a16:creationId xmlns:a16="http://schemas.microsoft.com/office/drawing/2014/main" id="{FCA139EA-E319-7F91-6B5A-EB510C9C3C98}"/>
                </a:ext>
              </a:extLst>
            </p:cNvPr>
            <p:cNvSpPr txBox="1"/>
            <p:nvPr/>
          </p:nvSpPr>
          <p:spPr>
            <a:xfrm>
              <a:off x="6237899" y="2746542"/>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36" name="TextBox 35">
              <a:extLst>
                <a:ext uri="{FF2B5EF4-FFF2-40B4-BE49-F238E27FC236}">
                  <a16:creationId xmlns:a16="http://schemas.microsoft.com/office/drawing/2014/main" id="{2AA311F4-242E-70FC-7658-168EE759DA22}"/>
                </a:ext>
              </a:extLst>
            </p:cNvPr>
            <p:cNvSpPr txBox="1"/>
            <p:nvPr/>
          </p:nvSpPr>
          <p:spPr>
            <a:xfrm>
              <a:off x="6526200" y="2748286"/>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37" name="TextBox 36">
              <a:extLst>
                <a:ext uri="{FF2B5EF4-FFF2-40B4-BE49-F238E27FC236}">
                  <a16:creationId xmlns:a16="http://schemas.microsoft.com/office/drawing/2014/main" id="{758433D4-EA9F-3884-0EFB-B94605E665E9}"/>
                </a:ext>
              </a:extLst>
            </p:cNvPr>
            <p:cNvSpPr txBox="1"/>
            <p:nvPr/>
          </p:nvSpPr>
          <p:spPr>
            <a:xfrm>
              <a:off x="6814200" y="2749059"/>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38" name="TextBox 37">
              <a:extLst>
                <a:ext uri="{FF2B5EF4-FFF2-40B4-BE49-F238E27FC236}">
                  <a16:creationId xmlns:a16="http://schemas.microsoft.com/office/drawing/2014/main" id="{CFB7D42F-F3E6-96D4-72C3-30BE0F594D34}"/>
                </a:ext>
              </a:extLst>
            </p:cNvPr>
            <p:cNvSpPr txBox="1"/>
            <p:nvPr/>
          </p:nvSpPr>
          <p:spPr>
            <a:xfrm>
              <a:off x="7102200" y="2746542"/>
              <a:ext cx="288000" cy="338554"/>
            </a:xfrm>
            <a:prstGeom prst="rect">
              <a:avLst/>
            </a:prstGeom>
            <a:noFill/>
          </p:spPr>
          <p:txBody>
            <a:bodyPr wrap="square" rtlCol="0" anchor="ctr">
              <a:spAutoFit/>
            </a:bodyPr>
            <a:lstStyle/>
            <a:p>
              <a:pPr algn="ctr"/>
              <a:r>
                <a:rPr lang="en-JP" sz="1600" b="1">
                  <a:solidFill>
                    <a:srgbClr val="A8D5BA"/>
                  </a:solidFill>
                </a:rPr>
                <a:t>9</a:t>
              </a:r>
            </a:p>
          </p:txBody>
        </p:sp>
      </p:grpSp>
      <p:sp>
        <p:nvSpPr>
          <p:cNvPr id="2" name="Title 1">
            <a:extLst>
              <a:ext uri="{FF2B5EF4-FFF2-40B4-BE49-F238E27FC236}">
                <a16:creationId xmlns:a16="http://schemas.microsoft.com/office/drawing/2014/main" id="{E66C5A47-B741-FB84-671A-A7695F933762}"/>
              </a:ext>
            </a:extLst>
          </p:cNvPr>
          <p:cNvSpPr>
            <a:spLocks noGrp="1"/>
          </p:cNvSpPr>
          <p:nvPr>
            <p:ph type="title"/>
          </p:nvPr>
        </p:nvSpPr>
        <p:spPr>
          <a:ln w="28575">
            <a:noFill/>
          </a:ln>
        </p:spPr>
        <p:txBody>
          <a:bodyPr>
            <a:normAutofit/>
          </a:bodyPr>
          <a:lstStyle/>
          <a:p>
            <a:r>
              <a:rPr lang="ja-JP" altLang="en-US" b="1">
                <a:solidFill>
                  <a:schemeClr val="bg1"/>
                </a:solidFill>
                <a:effectLst/>
              </a:rPr>
              <a:t>複数の</a:t>
            </a:r>
            <a:r>
              <a:rPr lang="ja-JP" altLang="en-US" b="1">
                <a:solidFill>
                  <a:schemeClr val="bg1"/>
                </a:solidFill>
              </a:rPr>
              <a:t>証明</a:t>
            </a:r>
            <a:endParaRPr lang="en-JP">
              <a:solidFill>
                <a:schemeClr val="bg1"/>
              </a:solidFill>
              <a:effectLst/>
            </a:endParaRPr>
          </a:p>
        </p:txBody>
      </p:sp>
      <p:sp>
        <p:nvSpPr>
          <p:cNvPr id="15" name="Subtitle 2">
            <a:extLst>
              <a:ext uri="{FF2B5EF4-FFF2-40B4-BE49-F238E27FC236}">
                <a16:creationId xmlns:a16="http://schemas.microsoft.com/office/drawing/2014/main" id="{128CBB77-F4F9-1520-F52E-17B846EB5E79}"/>
              </a:ext>
            </a:extLst>
          </p:cNvPr>
          <p:cNvSpPr txBox="1">
            <a:spLocks/>
          </p:cNvSpPr>
          <p:nvPr/>
        </p:nvSpPr>
        <p:spPr>
          <a:xfrm>
            <a:off x="838200" y="1302638"/>
            <a:ext cx="9144000" cy="3958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sz="2000">
                <a:solidFill>
                  <a:srgbClr val="A8D5BA"/>
                </a:solidFill>
              </a:rPr>
              <a:t>Multiple proofs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2C93E8-2AB9-A1E5-A906-D94FC6C80A78}"/>
                  </a:ext>
                </a:extLst>
              </p:cNvPr>
              <p:cNvSpPr txBox="1">
                <a:spLocks/>
              </p:cNvSpPr>
              <p:nvPr/>
            </p:nvSpPr>
            <p:spPr>
              <a:xfrm>
                <a:off x="838199" y="1855894"/>
                <a:ext cx="4823999"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b="1">
                    <a:solidFill>
                      <a:srgbClr val="E0E0E0"/>
                    </a:solidFill>
                  </a:rPr>
                  <a:t>古典証明</a:t>
                </a:r>
              </a:p>
              <a:p>
                <a:pPr marL="0" indent="0" algn="ctr">
                  <a:lnSpc>
                    <a:spcPct val="150000"/>
                  </a:lnSpc>
                  <a:buClr>
                    <a:schemeClr val="bg1"/>
                  </a:buClr>
                  <a:buNone/>
                </a:pPr>
                <a:r>
                  <a:rPr lang="en-JP" sz="2400" b="1">
                    <a:solidFill>
                      <a:srgbClr val="E0E0E0"/>
                    </a:solidFill>
                  </a:rPr>
                  <a:t>１通の証明</a:t>
                </a:r>
                <a:r>
                  <a:rPr lang="en-US" sz="2400" b="1">
                    <a:solidFill>
                      <a:srgbClr val="E0E0E0"/>
                    </a:solidFill>
                  </a:rPr>
                  <a:t> </a:t>
                </a:r>
                <a14:m>
                  <m:oMath xmlns:m="http://schemas.openxmlformats.org/officeDocument/2006/math">
                    <m:r>
                      <a:rPr lang="en-JP" sz="2400" b="1" i="1" smtClean="0">
                        <a:solidFill>
                          <a:srgbClr val="E0E0E0"/>
                        </a:solidFill>
                        <a:latin typeface="Cambria Math" panose="02040503050406030204" pitchFamily="18" charset="0"/>
                        <a:ea typeface="Cambria Math" panose="02040503050406030204" pitchFamily="18" charset="0"/>
                      </a:rPr>
                      <m:t>≡</m:t>
                    </m:r>
                  </m:oMath>
                </a14:m>
                <a:r>
                  <a:rPr lang="ja-JP" altLang="en-US" sz="2400" b="1">
                    <a:solidFill>
                      <a:srgbClr val="E0E0E0"/>
                    </a:solidFill>
                  </a:rPr>
                  <a:t>２</a:t>
                </a:r>
                <a:r>
                  <a:rPr lang="ja-JP" altLang="en-JP" sz="2400" b="1">
                    <a:solidFill>
                      <a:srgbClr val="E0E0E0"/>
                    </a:solidFill>
                  </a:rPr>
                  <a:t>通</a:t>
                </a:r>
                <a:r>
                  <a:rPr lang="ja-JP" altLang="en-US" sz="2400" b="1">
                    <a:solidFill>
                      <a:srgbClr val="E0E0E0"/>
                    </a:solidFill>
                  </a:rPr>
                  <a:t>の</a:t>
                </a:r>
                <a:r>
                  <a:rPr lang="ja-JP" altLang="en-JP" sz="2400" b="1">
                    <a:solidFill>
                      <a:srgbClr val="E0E0E0"/>
                    </a:solidFill>
                  </a:rPr>
                  <a:t>証明</a:t>
                </a:r>
                <a:r>
                  <a:rPr lang="ja-JP" altLang="en-US" sz="2400" b="1">
                    <a:solidFill>
                      <a:srgbClr val="E0E0E0"/>
                    </a:solidFill>
                  </a:rPr>
                  <a:t>。</a:t>
                </a:r>
                <a:endParaRPr lang="en-JP" b="1">
                  <a:solidFill>
                    <a:srgbClr val="E0E0E0"/>
                  </a:solidFill>
                </a:endParaRPr>
              </a:p>
            </p:txBody>
          </p:sp>
        </mc:Choice>
        <mc:Fallback xmlns="">
          <p:sp>
            <p:nvSpPr>
              <p:cNvPr id="3" name="Content Placeholder 2">
                <a:extLst>
                  <a:ext uri="{FF2B5EF4-FFF2-40B4-BE49-F238E27FC236}">
                    <a16:creationId xmlns:a16="http://schemas.microsoft.com/office/drawing/2014/main" id="{B42C93E8-2AB9-A1E5-A906-D94FC6C80A78}"/>
                  </a:ext>
                </a:extLst>
              </p:cNvPr>
              <p:cNvSpPr txBox="1">
                <a:spLocks noRot="1" noChangeAspect="1" noMove="1" noResize="1" noEditPoints="1" noAdjustHandles="1" noChangeArrowheads="1" noChangeShapeType="1" noTextEdit="1"/>
              </p:cNvSpPr>
              <p:nvPr/>
            </p:nvSpPr>
            <p:spPr>
              <a:xfrm>
                <a:off x="838199" y="1855894"/>
                <a:ext cx="4823999" cy="1603375"/>
              </a:xfrm>
              <a:prstGeom prst="rect">
                <a:avLst/>
              </a:prstGeom>
              <a:blipFill>
                <a:blip r:embed="rId3"/>
                <a:stretch>
                  <a:fillRect l="-2362" t="-6250"/>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590A996-FCAE-165C-6A5E-D210C8E49D50}"/>
                  </a:ext>
                </a:extLst>
              </p:cNvPr>
              <p:cNvSpPr txBox="1">
                <a:spLocks noChangeAspect="1"/>
              </p:cNvSpPr>
              <p:nvPr/>
            </p:nvSpPr>
            <p:spPr>
              <a:xfrm>
                <a:off x="8376038" y="2552607"/>
                <a:ext cx="31404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JP" sz="2400" i="1" smtClean="0">
                          <a:solidFill>
                            <a:schemeClr val="bg1"/>
                          </a:solidFill>
                          <a:latin typeface="Cambria Math" panose="02040503050406030204" pitchFamily="18" charset="0"/>
                          <a:ea typeface="Cambria Math" panose="02040503050406030204" pitchFamily="18" charset="0"/>
                        </a:rPr>
                        <m:t>≡</m:t>
                      </m:r>
                    </m:oMath>
                  </m:oMathPara>
                </a14:m>
                <a:endParaRPr lang="en-JP">
                  <a:solidFill>
                    <a:schemeClr val="bg1"/>
                  </a:solidFill>
                </a:endParaRPr>
              </a:p>
            </p:txBody>
          </p:sp>
        </mc:Choice>
        <mc:Fallback xmlns="">
          <p:sp>
            <p:nvSpPr>
              <p:cNvPr id="48" name="TextBox 47">
                <a:extLst>
                  <a:ext uri="{FF2B5EF4-FFF2-40B4-BE49-F238E27FC236}">
                    <a16:creationId xmlns:a16="http://schemas.microsoft.com/office/drawing/2014/main" id="{C590A996-FCAE-165C-6A5E-D210C8E49D50}"/>
                  </a:ext>
                </a:extLst>
              </p:cNvPr>
              <p:cNvSpPr txBox="1">
                <a:spLocks noRot="1" noChangeAspect="1" noMove="1" noResize="1" noEditPoints="1" noAdjustHandles="1" noChangeArrowheads="1" noChangeShapeType="1" noTextEdit="1"/>
              </p:cNvSpPr>
              <p:nvPr/>
            </p:nvSpPr>
            <p:spPr>
              <a:xfrm>
                <a:off x="8376038" y="2552607"/>
                <a:ext cx="314042" cy="369332"/>
              </a:xfrm>
              <a:prstGeom prst="rect">
                <a:avLst/>
              </a:prstGeom>
              <a:blipFill>
                <a:blip r:embed="rId4"/>
                <a:stretch>
                  <a:fillRect l="-11538" r="-11538"/>
                </a:stretch>
              </a:blipFill>
            </p:spPr>
            <p:txBody>
              <a:bodyPr/>
              <a:lstStyle/>
              <a:p>
                <a:r>
                  <a:rPr lang="en-JP">
                    <a:noFill/>
                  </a:rPr>
                  <a:t> </a:t>
                </a:r>
              </a:p>
            </p:txBody>
          </p:sp>
        </mc:Fallback>
      </mc:AlternateContent>
      <p:sp>
        <p:nvSpPr>
          <p:cNvPr id="49" name="Content Placeholder 2">
            <a:extLst>
              <a:ext uri="{FF2B5EF4-FFF2-40B4-BE49-F238E27FC236}">
                <a16:creationId xmlns:a16="http://schemas.microsoft.com/office/drawing/2014/main" id="{62DEFA73-5296-A8C0-3F0D-AF9010AA6C90}"/>
              </a:ext>
            </a:extLst>
          </p:cNvPr>
          <p:cNvSpPr txBox="1">
            <a:spLocks/>
          </p:cNvSpPr>
          <p:nvPr/>
        </p:nvSpPr>
        <p:spPr>
          <a:xfrm>
            <a:off x="838199" y="3722443"/>
            <a:ext cx="4823999" cy="220334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b="1">
                <a:solidFill>
                  <a:srgbClr val="FF55C8"/>
                </a:solidFill>
                <a:effectLst>
                  <a:glow rad="63500">
                    <a:srgbClr val="00FFD5">
                      <a:alpha val="40000"/>
                    </a:srgbClr>
                  </a:glow>
                </a:effectLst>
              </a:rPr>
              <a:t>量子</a:t>
            </a:r>
            <a:r>
              <a:rPr lang="en-JP" b="1">
                <a:solidFill>
                  <a:srgbClr val="E0E0E0"/>
                </a:solidFill>
              </a:rPr>
              <a:t>証明</a:t>
            </a:r>
          </a:p>
          <a:p>
            <a:pPr>
              <a:lnSpc>
                <a:spcPct val="100000"/>
              </a:lnSpc>
              <a:buClr>
                <a:schemeClr val="bg1"/>
              </a:buClr>
            </a:pPr>
            <a:r>
              <a:rPr lang="en-JP" sz="2400">
                <a:solidFill>
                  <a:srgbClr val="E0E0E0"/>
                </a:solidFill>
              </a:rPr>
              <a:t>２通証明は</a:t>
            </a:r>
            <a:r>
              <a:rPr lang="en-JP" sz="2400" b="1">
                <a:solidFill>
                  <a:srgbClr val="FF55C8"/>
                </a:solidFill>
                <a:effectLst>
                  <a:glow rad="63500">
                    <a:srgbClr val="00FFD5">
                      <a:alpha val="40000"/>
                    </a:srgbClr>
                  </a:glow>
                </a:effectLst>
              </a:rPr>
              <a:t>量子もつれ</a:t>
            </a:r>
            <a:r>
              <a:rPr lang="en-JP" sz="2400">
                <a:solidFill>
                  <a:srgbClr val="E0E0E0"/>
                </a:solidFill>
              </a:rPr>
              <a:t>を共有していない</a:t>
            </a:r>
            <a:r>
              <a:rPr lang="en-JP" sz="2400" b="1">
                <a:solidFill>
                  <a:srgbClr val="E0E0E0"/>
                </a:solidFill>
              </a:rPr>
              <a:t>。</a:t>
            </a:r>
          </a:p>
          <a:p>
            <a:pPr marL="0" indent="0" algn="ctr">
              <a:lnSpc>
                <a:spcPct val="150000"/>
              </a:lnSpc>
              <a:buClr>
                <a:schemeClr val="bg1"/>
              </a:buClr>
              <a:buNone/>
            </a:pPr>
            <a:r>
              <a:rPr lang="en-JP" sz="2400" b="1">
                <a:solidFill>
                  <a:srgbClr val="E0E0E0"/>
                </a:solidFill>
              </a:rPr>
              <a:t>１通の量子証明</a:t>
            </a:r>
            <a:r>
              <a:rPr lang="en-US" sz="2400" b="1">
                <a:solidFill>
                  <a:srgbClr val="E0E0E0"/>
                </a:solidFill>
              </a:rPr>
              <a:t>         </a:t>
            </a:r>
            <a:r>
              <a:rPr lang="ja-JP" altLang="en-US" sz="2400" b="1">
                <a:solidFill>
                  <a:srgbClr val="E0E0E0"/>
                </a:solidFill>
              </a:rPr>
              <a:t>２</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r>
              <a:rPr lang="ja-JP" altLang="en-US" sz="2400" b="1">
                <a:solidFill>
                  <a:srgbClr val="E0E0E0"/>
                </a:solidFill>
              </a:rPr>
              <a:t>。</a:t>
            </a:r>
            <a:endParaRPr lang="en-JP" b="1">
              <a:solidFill>
                <a:srgbClr val="E0E0E0"/>
              </a:solidFill>
            </a:endParaRPr>
          </a:p>
        </p:txBody>
      </p:sp>
      <p:graphicFrame>
        <p:nvGraphicFramePr>
          <p:cNvPr id="51" name="Table 50">
            <a:extLst>
              <a:ext uri="{FF2B5EF4-FFF2-40B4-BE49-F238E27FC236}">
                <a16:creationId xmlns:a16="http://schemas.microsoft.com/office/drawing/2014/main" id="{2BA29288-D508-A68F-C220-73401402220A}"/>
              </a:ext>
            </a:extLst>
          </p:cNvPr>
          <p:cNvGraphicFramePr>
            <a:graphicFrameLocks noGrp="1"/>
          </p:cNvGraphicFramePr>
          <p:nvPr>
            <p:extLst>
              <p:ext uri="{D42A27DB-BD31-4B8C-83A1-F6EECF244321}">
                <p14:modId xmlns:p14="http://schemas.microsoft.com/office/powerpoint/2010/main" val="1063591392"/>
              </p:ext>
            </p:extLst>
          </p:nvPr>
        </p:nvGraphicFramePr>
        <p:xfrm>
          <a:off x="7389298" y="2599728"/>
          <a:ext cx="1152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grpSp>
        <p:nvGrpSpPr>
          <p:cNvPr id="52" name="Group 51">
            <a:extLst>
              <a:ext uri="{FF2B5EF4-FFF2-40B4-BE49-F238E27FC236}">
                <a16:creationId xmlns:a16="http://schemas.microsoft.com/office/drawing/2014/main" id="{768F6ECC-67D5-0C63-2CFD-83DB19637556}"/>
              </a:ext>
            </a:extLst>
          </p:cNvPr>
          <p:cNvGrpSpPr/>
          <p:nvPr/>
        </p:nvGrpSpPr>
        <p:grpSpPr>
          <a:xfrm>
            <a:off x="7390199" y="2578294"/>
            <a:ext cx="1150497" cy="338554"/>
            <a:chOff x="7390801" y="2271530"/>
            <a:chExt cx="1150497" cy="338554"/>
          </a:xfrm>
        </p:grpSpPr>
        <p:sp>
          <p:nvSpPr>
            <p:cNvPr id="53" name="TextBox 52">
              <a:extLst>
                <a:ext uri="{FF2B5EF4-FFF2-40B4-BE49-F238E27FC236}">
                  <a16:creationId xmlns:a16="http://schemas.microsoft.com/office/drawing/2014/main" id="{962BC592-1C5A-E753-7C79-0DEED9C58EC9}"/>
                </a:ext>
              </a:extLst>
            </p:cNvPr>
            <p:cNvSpPr txBox="1"/>
            <p:nvPr/>
          </p:nvSpPr>
          <p:spPr>
            <a:xfrm>
              <a:off x="7390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54" name="TextBox 53">
              <a:extLst>
                <a:ext uri="{FF2B5EF4-FFF2-40B4-BE49-F238E27FC236}">
                  <a16:creationId xmlns:a16="http://schemas.microsoft.com/office/drawing/2014/main" id="{20D82DFF-B709-CE47-DDCF-33BB9BB2CB72}"/>
                </a:ext>
              </a:extLst>
            </p:cNvPr>
            <p:cNvSpPr txBox="1"/>
            <p:nvPr/>
          </p:nvSpPr>
          <p:spPr>
            <a:xfrm>
              <a:off x="7677599" y="227153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55" name="TextBox 54">
              <a:extLst>
                <a:ext uri="{FF2B5EF4-FFF2-40B4-BE49-F238E27FC236}">
                  <a16:creationId xmlns:a16="http://schemas.microsoft.com/office/drawing/2014/main" id="{FB0CABC2-7287-DF32-D3C5-F1365F655CB9}"/>
                </a:ext>
              </a:extLst>
            </p:cNvPr>
            <p:cNvSpPr txBox="1"/>
            <p:nvPr/>
          </p:nvSpPr>
          <p:spPr>
            <a:xfrm>
              <a:off x="7966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56" name="TextBox 55">
              <a:extLst>
                <a:ext uri="{FF2B5EF4-FFF2-40B4-BE49-F238E27FC236}">
                  <a16:creationId xmlns:a16="http://schemas.microsoft.com/office/drawing/2014/main" id="{F9711697-B9BF-C1E4-7A35-C6B439EBA60B}"/>
                </a:ext>
              </a:extLst>
            </p:cNvPr>
            <p:cNvSpPr txBox="1"/>
            <p:nvPr/>
          </p:nvSpPr>
          <p:spPr>
            <a:xfrm>
              <a:off x="8253298" y="2271530"/>
              <a:ext cx="288000" cy="338554"/>
            </a:xfrm>
            <a:prstGeom prst="rect">
              <a:avLst/>
            </a:prstGeom>
            <a:noFill/>
          </p:spPr>
          <p:txBody>
            <a:bodyPr wrap="square" rtlCol="0" anchor="ctr">
              <a:spAutoFit/>
            </a:bodyPr>
            <a:lstStyle/>
            <a:p>
              <a:pPr algn="ctr"/>
              <a:r>
                <a:rPr lang="en-JP" sz="1600" b="1">
                  <a:solidFill>
                    <a:srgbClr val="A8D5BA"/>
                  </a:solidFill>
                </a:rPr>
                <a:t>3</a:t>
              </a:r>
            </a:p>
          </p:txBody>
        </p:sp>
      </p:grpSp>
      <p:graphicFrame>
        <p:nvGraphicFramePr>
          <p:cNvPr id="57" name="Table 56">
            <a:extLst>
              <a:ext uri="{FF2B5EF4-FFF2-40B4-BE49-F238E27FC236}">
                <a16:creationId xmlns:a16="http://schemas.microsoft.com/office/drawing/2014/main" id="{9F7E07D9-A0A7-54E1-561B-31F3EAD14395}"/>
              </a:ext>
            </a:extLst>
          </p:cNvPr>
          <p:cNvGraphicFramePr>
            <a:graphicFrameLocks noGrp="1"/>
          </p:cNvGraphicFramePr>
          <p:nvPr>
            <p:extLst>
              <p:ext uri="{D42A27DB-BD31-4B8C-83A1-F6EECF244321}">
                <p14:modId xmlns:p14="http://schemas.microsoft.com/office/powerpoint/2010/main" val="3795489823"/>
              </p:ext>
            </p:extLst>
          </p:nvPr>
        </p:nvGraphicFramePr>
        <p:xfrm>
          <a:off x="6237448" y="2599728"/>
          <a:ext cx="1152000" cy="288000"/>
        </p:xfrm>
        <a:graphic>
          <a:graphicData uri="http://schemas.openxmlformats.org/drawingml/2006/table">
            <a:tbl>
              <a:tblPr firstRow="1" bandRow="1">
                <a:tableStyleId>{5C22544A-7EE6-4342-B048-85BDC9FD1C3A}</a:tableStyleId>
              </a:tblPr>
              <a:tblGrid>
                <a:gridCol w="281263">
                  <a:extLst>
                    <a:ext uri="{9D8B030D-6E8A-4147-A177-3AD203B41FA5}">
                      <a16:colId xmlns:a16="http://schemas.microsoft.com/office/drawing/2014/main" val="2692743704"/>
                    </a:ext>
                  </a:extLst>
                </a:gridCol>
                <a:gridCol w="294737">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tc>
                  <a:txBody>
                    <a:bodyPr/>
                    <a:lstStyle/>
                    <a:p>
                      <a:endParaRPr lang="en-JP" sz="800"/>
                    </a:p>
                  </a:txBody>
                  <a:tcPr>
                    <a:lnL w="12700" cap="flat" cmpd="sng" algn="ctr">
                      <a:solidFill>
                        <a:srgbClr val="A8D5BA"/>
                      </a:solidFill>
                      <a:prstDash val="solid"/>
                      <a:round/>
                      <a:headEnd type="none" w="med" len="med"/>
                      <a:tailEnd type="none" w="med" len="med"/>
                    </a:lnL>
                    <a:lnR w="12700" cap="flat" cmpd="sng" algn="ctr">
                      <a:solidFill>
                        <a:srgbClr val="A8D5BA"/>
                      </a:solidFill>
                      <a:prstDash val="solid"/>
                      <a:round/>
                      <a:headEnd type="none" w="med" len="med"/>
                      <a:tailEnd type="none" w="med" len="med"/>
                    </a:lnR>
                    <a:lnT w="12700" cap="flat" cmpd="sng" algn="ctr">
                      <a:solidFill>
                        <a:srgbClr val="A8D5BA"/>
                      </a:solidFill>
                      <a:prstDash val="solid"/>
                      <a:round/>
                      <a:headEnd type="none" w="med" len="med"/>
                      <a:tailEnd type="none" w="med" len="med"/>
                    </a:lnT>
                    <a:lnB w="12700" cap="flat" cmpd="sng" algn="ctr">
                      <a:solidFill>
                        <a:srgbClr val="A8D5BA"/>
                      </a:solidFill>
                      <a:prstDash val="solid"/>
                      <a:round/>
                      <a:headEnd type="none" w="med" len="med"/>
                      <a:tailEnd type="none" w="med" len="med"/>
                    </a:lnB>
                    <a:noFill/>
                  </a:tcPr>
                </a:tc>
                <a:extLst>
                  <a:ext uri="{0D108BD9-81ED-4DB2-BD59-A6C34878D82A}">
                    <a16:rowId xmlns:a16="http://schemas.microsoft.com/office/drawing/2014/main" val="1264921292"/>
                  </a:ext>
                </a:extLst>
              </a:tr>
            </a:tbl>
          </a:graphicData>
        </a:graphic>
      </p:graphicFrame>
      <p:grpSp>
        <p:nvGrpSpPr>
          <p:cNvPr id="58" name="Group 57">
            <a:extLst>
              <a:ext uri="{FF2B5EF4-FFF2-40B4-BE49-F238E27FC236}">
                <a16:creationId xmlns:a16="http://schemas.microsoft.com/office/drawing/2014/main" id="{05483272-7EA5-2E1B-7EC9-999BBCD0E593}"/>
              </a:ext>
            </a:extLst>
          </p:cNvPr>
          <p:cNvGrpSpPr/>
          <p:nvPr/>
        </p:nvGrpSpPr>
        <p:grpSpPr>
          <a:xfrm>
            <a:off x="6237598" y="2577507"/>
            <a:ext cx="1152301" cy="341071"/>
            <a:chOff x="6237899" y="2746542"/>
            <a:chExt cx="1152301" cy="341071"/>
          </a:xfrm>
        </p:grpSpPr>
        <p:sp>
          <p:nvSpPr>
            <p:cNvPr id="59" name="TextBox 58">
              <a:extLst>
                <a:ext uri="{FF2B5EF4-FFF2-40B4-BE49-F238E27FC236}">
                  <a16:creationId xmlns:a16="http://schemas.microsoft.com/office/drawing/2014/main" id="{CC36E1DC-4576-9AC4-014A-D128F4D95E37}"/>
                </a:ext>
              </a:extLst>
            </p:cNvPr>
            <p:cNvSpPr txBox="1"/>
            <p:nvPr/>
          </p:nvSpPr>
          <p:spPr>
            <a:xfrm>
              <a:off x="6237899" y="2746542"/>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60" name="TextBox 59">
              <a:extLst>
                <a:ext uri="{FF2B5EF4-FFF2-40B4-BE49-F238E27FC236}">
                  <a16:creationId xmlns:a16="http://schemas.microsoft.com/office/drawing/2014/main" id="{1E89B8F0-DCA6-9747-666E-42C9C8E20586}"/>
                </a:ext>
              </a:extLst>
            </p:cNvPr>
            <p:cNvSpPr txBox="1"/>
            <p:nvPr/>
          </p:nvSpPr>
          <p:spPr>
            <a:xfrm>
              <a:off x="6526200" y="2748286"/>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61" name="TextBox 60">
              <a:extLst>
                <a:ext uri="{FF2B5EF4-FFF2-40B4-BE49-F238E27FC236}">
                  <a16:creationId xmlns:a16="http://schemas.microsoft.com/office/drawing/2014/main" id="{858C0B0F-9380-2026-60A0-BF763C061357}"/>
                </a:ext>
              </a:extLst>
            </p:cNvPr>
            <p:cNvSpPr txBox="1"/>
            <p:nvPr/>
          </p:nvSpPr>
          <p:spPr>
            <a:xfrm>
              <a:off x="6814200" y="2749059"/>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62" name="TextBox 61">
              <a:extLst>
                <a:ext uri="{FF2B5EF4-FFF2-40B4-BE49-F238E27FC236}">
                  <a16:creationId xmlns:a16="http://schemas.microsoft.com/office/drawing/2014/main" id="{DEA5A4B1-D7BB-4B0C-1243-34A0531CF78E}"/>
                </a:ext>
              </a:extLst>
            </p:cNvPr>
            <p:cNvSpPr txBox="1"/>
            <p:nvPr/>
          </p:nvSpPr>
          <p:spPr>
            <a:xfrm>
              <a:off x="7102200" y="2746542"/>
              <a:ext cx="288000" cy="338554"/>
            </a:xfrm>
            <a:prstGeom prst="rect">
              <a:avLst/>
            </a:prstGeom>
            <a:noFill/>
          </p:spPr>
          <p:txBody>
            <a:bodyPr wrap="square" rtlCol="0" anchor="ctr">
              <a:spAutoFit/>
            </a:bodyPr>
            <a:lstStyle/>
            <a:p>
              <a:pPr algn="ctr"/>
              <a:r>
                <a:rPr lang="en-JP" sz="1600" b="1">
                  <a:solidFill>
                    <a:srgbClr val="A8D5BA"/>
                  </a:solidFill>
                </a:rPr>
                <a:t>9</a:t>
              </a:r>
            </a:p>
          </p:txBody>
        </p:sp>
      </p:grpSp>
      <p:graphicFrame>
        <p:nvGraphicFramePr>
          <p:cNvPr id="12" name="Table 11">
            <a:extLst>
              <a:ext uri="{FF2B5EF4-FFF2-40B4-BE49-F238E27FC236}">
                <a16:creationId xmlns:a16="http://schemas.microsoft.com/office/drawing/2014/main" id="{23FD19FA-9AD1-F72D-0594-D2621E5A8446}"/>
              </a:ext>
            </a:extLst>
          </p:cNvPr>
          <p:cNvGraphicFramePr>
            <a:graphicFrameLocks noGrp="1"/>
          </p:cNvGraphicFramePr>
          <p:nvPr>
            <p:extLst>
              <p:ext uri="{D42A27DB-BD31-4B8C-83A1-F6EECF244321}">
                <p14:modId xmlns:p14="http://schemas.microsoft.com/office/powerpoint/2010/main" val="1987030014"/>
              </p:ext>
            </p:extLst>
          </p:nvPr>
        </p:nvGraphicFramePr>
        <p:xfrm>
          <a:off x="9146099" y="5011715"/>
          <a:ext cx="1152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extLst>
                  <a:ext uri="{0D108BD9-81ED-4DB2-BD59-A6C34878D82A}">
                    <a16:rowId xmlns:a16="http://schemas.microsoft.com/office/drawing/2014/main" val="1264921292"/>
                  </a:ext>
                </a:extLst>
              </a:tr>
            </a:tbl>
          </a:graphicData>
        </a:graphic>
      </p:graphicFrame>
      <p:grpSp>
        <p:nvGrpSpPr>
          <p:cNvPr id="13" name="Group 12">
            <a:extLst>
              <a:ext uri="{FF2B5EF4-FFF2-40B4-BE49-F238E27FC236}">
                <a16:creationId xmlns:a16="http://schemas.microsoft.com/office/drawing/2014/main" id="{FA9B23C7-4BD4-DDB8-22ED-E9806FEDF8FA}"/>
              </a:ext>
            </a:extLst>
          </p:cNvPr>
          <p:cNvGrpSpPr/>
          <p:nvPr/>
        </p:nvGrpSpPr>
        <p:grpSpPr>
          <a:xfrm>
            <a:off x="9147000" y="4990281"/>
            <a:ext cx="1150497" cy="338554"/>
            <a:chOff x="7390801" y="2271530"/>
            <a:chExt cx="1150497" cy="338554"/>
          </a:xfrm>
        </p:grpSpPr>
        <p:sp>
          <p:nvSpPr>
            <p:cNvPr id="14" name="TextBox 13">
              <a:extLst>
                <a:ext uri="{FF2B5EF4-FFF2-40B4-BE49-F238E27FC236}">
                  <a16:creationId xmlns:a16="http://schemas.microsoft.com/office/drawing/2014/main" id="{F859DDAD-668E-A9DC-6132-AEE48937221A}"/>
                </a:ext>
              </a:extLst>
            </p:cNvPr>
            <p:cNvSpPr txBox="1"/>
            <p:nvPr/>
          </p:nvSpPr>
          <p:spPr>
            <a:xfrm>
              <a:off x="7390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16" name="TextBox 15">
              <a:extLst>
                <a:ext uri="{FF2B5EF4-FFF2-40B4-BE49-F238E27FC236}">
                  <a16:creationId xmlns:a16="http://schemas.microsoft.com/office/drawing/2014/main" id="{C2EB2E05-76CA-A12D-6347-BBEA2E185C1A}"/>
                </a:ext>
              </a:extLst>
            </p:cNvPr>
            <p:cNvSpPr txBox="1"/>
            <p:nvPr/>
          </p:nvSpPr>
          <p:spPr>
            <a:xfrm>
              <a:off x="7677599" y="227153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17" name="TextBox 16">
              <a:extLst>
                <a:ext uri="{FF2B5EF4-FFF2-40B4-BE49-F238E27FC236}">
                  <a16:creationId xmlns:a16="http://schemas.microsoft.com/office/drawing/2014/main" id="{64766551-3C64-1B23-4E2F-847165738306}"/>
                </a:ext>
              </a:extLst>
            </p:cNvPr>
            <p:cNvSpPr txBox="1"/>
            <p:nvPr/>
          </p:nvSpPr>
          <p:spPr>
            <a:xfrm>
              <a:off x="7966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18" name="TextBox 17">
              <a:extLst>
                <a:ext uri="{FF2B5EF4-FFF2-40B4-BE49-F238E27FC236}">
                  <a16:creationId xmlns:a16="http://schemas.microsoft.com/office/drawing/2014/main" id="{7D8B2E99-C585-CF8B-C52A-0121B30CE410}"/>
                </a:ext>
              </a:extLst>
            </p:cNvPr>
            <p:cNvSpPr txBox="1"/>
            <p:nvPr/>
          </p:nvSpPr>
          <p:spPr>
            <a:xfrm>
              <a:off x="8253298" y="2271530"/>
              <a:ext cx="288000" cy="338554"/>
            </a:xfrm>
            <a:prstGeom prst="rect">
              <a:avLst/>
            </a:prstGeom>
            <a:noFill/>
          </p:spPr>
          <p:txBody>
            <a:bodyPr wrap="square" rtlCol="0" anchor="ctr">
              <a:spAutoFit/>
            </a:bodyPr>
            <a:lstStyle/>
            <a:p>
              <a:pPr algn="ctr"/>
              <a:r>
                <a:rPr lang="en-JP" sz="1600" b="1">
                  <a:solidFill>
                    <a:srgbClr val="A8D5BA"/>
                  </a:solidFill>
                </a:rPr>
                <a:t>3</a:t>
              </a:r>
            </a:p>
          </p:txBody>
        </p:sp>
      </p:grpSp>
      <p:graphicFrame>
        <p:nvGraphicFramePr>
          <p:cNvPr id="19" name="Table 18">
            <a:extLst>
              <a:ext uri="{FF2B5EF4-FFF2-40B4-BE49-F238E27FC236}">
                <a16:creationId xmlns:a16="http://schemas.microsoft.com/office/drawing/2014/main" id="{D7BED74B-1987-9AD6-19C1-555532212618}"/>
              </a:ext>
            </a:extLst>
          </p:cNvPr>
          <p:cNvGraphicFramePr>
            <a:graphicFrameLocks noGrp="1"/>
          </p:cNvGraphicFramePr>
          <p:nvPr>
            <p:extLst>
              <p:ext uri="{D42A27DB-BD31-4B8C-83A1-F6EECF244321}">
                <p14:modId xmlns:p14="http://schemas.microsoft.com/office/powerpoint/2010/main" val="453001393"/>
              </p:ext>
            </p:extLst>
          </p:nvPr>
        </p:nvGraphicFramePr>
        <p:xfrm>
          <a:off x="9147000" y="4214239"/>
          <a:ext cx="1152000" cy="288000"/>
        </p:xfrm>
        <a:graphic>
          <a:graphicData uri="http://schemas.openxmlformats.org/drawingml/2006/table">
            <a:tbl>
              <a:tblPr firstRow="1" bandRow="1">
                <a:tableStyleId>{5C22544A-7EE6-4342-B048-85BDC9FD1C3A}</a:tableStyleId>
              </a:tblPr>
              <a:tblGrid>
                <a:gridCol w="281263">
                  <a:extLst>
                    <a:ext uri="{9D8B030D-6E8A-4147-A177-3AD203B41FA5}">
                      <a16:colId xmlns:a16="http://schemas.microsoft.com/office/drawing/2014/main" val="2692743704"/>
                    </a:ext>
                  </a:extLst>
                </a:gridCol>
                <a:gridCol w="294737">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extLst>
                  <a:ext uri="{0D108BD9-81ED-4DB2-BD59-A6C34878D82A}">
                    <a16:rowId xmlns:a16="http://schemas.microsoft.com/office/drawing/2014/main" val="1264921292"/>
                  </a:ext>
                </a:extLst>
              </a:tr>
            </a:tbl>
          </a:graphicData>
        </a:graphic>
      </p:graphicFrame>
      <p:grpSp>
        <p:nvGrpSpPr>
          <p:cNvPr id="20" name="Group 19">
            <a:extLst>
              <a:ext uri="{FF2B5EF4-FFF2-40B4-BE49-F238E27FC236}">
                <a16:creationId xmlns:a16="http://schemas.microsoft.com/office/drawing/2014/main" id="{C2F1D216-8CF6-DADD-EBAF-A11BF9A6C522}"/>
              </a:ext>
            </a:extLst>
          </p:cNvPr>
          <p:cNvGrpSpPr/>
          <p:nvPr/>
        </p:nvGrpSpPr>
        <p:grpSpPr>
          <a:xfrm>
            <a:off x="9147150" y="4192018"/>
            <a:ext cx="1152301" cy="341071"/>
            <a:chOff x="6237899" y="2746542"/>
            <a:chExt cx="1152301" cy="341071"/>
          </a:xfrm>
        </p:grpSpPr>
        <p:sp>
          <p:nvSpPr>
            <p:cNvPr id="21" name="TextBox 20">
              <a:extLst>
                <a:ext uri="{FF2B5EF4-FFF2-40B4-BE49-F238E27FC236}">
                  <a16:creationId xmlns:a16="http://schemas.microsoft.com/office/drawing/2014/main" id="{6E8A7873-0ACC-BE6A-9A41-6979A6386776}"/>
                </a:ext>
              </a:extLst>
            </p:cNvPr>
            <p:cNvSpPr txBox="1"/>
            <p:nvPr/>
          </p:nvSpPr>
          <p:spPr>
            <a:xfrm>
              <a:off x="6237899" y="2746542"/>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22" name="TextBox 21">
              <a:extLst>
                <a:ext uri="{FF2B5EF4-FFF2-40B4-BE49-F238E27FC236}">
                  <a16:creationId xmlns:a16="http://schemas.microsoft.com/office/drawing/2014/main" id="{83B324C1-5187-C46A-DF09-F892D19F4A30}"/>
                </a:ext>
              </a:extLst>
            </p:cNvPr>
            <p:cNvSpPr txBox="1"/>
            <p:nvPr/>
          </p:nvSpPr>
          <p:spPr>
            <a:xfrm>
              <a:off x="6526200" y="2748286"/>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23" name="TextBox 22">
              <a:extLst>
                <a:ext uri="{FF2B5EF4-FFF2-40B4-BE49-F238E27FC236}">
                  <a16:creationId xmlns:a16="http://schemas.microsoft.com/office/drawing/2014/main" id="{A5983441-3C18-AC86-8BC6-7E53B16AB235}"/>
                </a:ext>
              </a:extLst>
            </p:cNvPr>
            <p:cNvSpPr txBox="1"/>
            <p:nvPr/>
          </p:nvSpPr>
          <p:spPr>
            <a:xfrm>
              <a:off x="6814200" y="2749059"/>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24" name="TextBox 23">
              <a:extLst>
                <a:ext uri="{FF2B5EF4-FFF2-40B4-BE49-F238E27FC236}">
                  <a16:creationId xmlns:a16="http://schemas.microsoft.com/office/drawing/2014/main" id="{C84287FF-64D1-3313-70C1-A069DE8404DD}"/>
                </a:ext>
              </a:extLst>
            </p:cNvPr>
            <p:cNvSpPr txBox="1"/>
            <p:nvPr/>
          </p:nvSpPr>
          <p:spPr>
            <a:xfrm>
              <a:off x="7102200" y="2746542"/>
              <a:ext cx="288000" cy="338554"/>
            </a:xfrm>
            <a:prstGeom prst="rect">
              <a:avLst/>
            </a:prstGeom>
            <a:noFill/>
          </p:spPr>
          <p:txBody>
            <a:bodyPr wrap="square" rtlCol="0" anchor="ctr">
              <a:spAutoFit/>
            </a:bodyPr>
            <a:lstStyle/>
            <a:p>
              <a:pPr algn="ctr"/>
              <a:r>
                <a:rPr lang="en-JP" sz="1600" b="1">
                  <a:solidFill>
                    <a:srgbClr val="A8D5BA"/>
                  </a:solidFill>
                </a:rPr>
                <a:t>9</a:t>
              </a:r>
            </a:p>
          </p:txBody>
        </p:sp>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6447F64-AD2F-A029-FAC3-652F335A0118}"/>
                  </a:ext>
                </a:extLst>
              </p:cNvPr>
              <p:cNvSpPr txBox="1">
                <a:spLocks noChangeAspect="1"/>
              </p:cNvSpPr>
              <p:nvPr/>
            </p:nvSpPr>
            <p:spPr>
              <a:xfrm>
                <a:off x="8423120" y="4558297"/>
                <a:ext cx="31404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JP" sz="2400" i="1" smtClean="0">
                          <a:solidFill>
                            <a:srgbClr val="FF0000"/>
                          </a:solidFill>
                          <a:latin typeface="Cambria Math" panose="02040503050406030204" pitchFamily="18" charset="0"/>
                          <a:ea typeface="Cambria Math" panose="02040503050406030204" pitchFamily="18" charset="0"/>
                        </a:rPr>
                        <m:t>≢</m:t>
                      </m:r>
                    </m:oMath>
                  </m:oMathPara>
                </a14:m>
                <a:endParaRPr lang="en-JP" sz="2400">
                  <a:solidFill>
                    <a:srgbClr val="FF0000"/>
                  </a:solidFill>
                </a:endParaRPr>
              </a:p>
            </p:txBody>
          </p:sp>
        </mc:Choice>
        <mc:Fallback xmlns="">
          <p:sp>
            <p:nvSpPr>
              <p:cNvPr id="25" name="TextBox 24">
                <a:extLst>
                  <a:ext uri="{FF2B5EF4-FFF2-40B4-BE49-F238E27FC236}">
                    <a16:creationId xmlns:a16="http://schemas.microsoft.com/office/drawing/2014/main" id="{A6447F64-AD2F-A029-FAC3-652F335A0118}"/>
                  </a:ext>
                </a:extLst>
              </p:cNvPr>
              <p:cNvSpPr txBox="1">
                <a:spLocks noRot="1" noChangeAspect="1" noMove="1" noResize="1" noEditPoints="1" noAdjustHandles="1" noChangeArrowheads="1" noChangeShapeType="1" noTextEdit="1"/>
              </p:cNvSpPr>
              <p:nvPr/>
            </p:nvSpPr>
            <p:spPr>
              <a:xfrm>
                <a:off x="8423120" y="4558297"/>
                <a:ext cx="314042" cy="369332"/>
              </a:xfrm>
              <a:prstGeom prst="rect">
                <a:avLst/>
              </a:prstGeom>
              <a:blipFill>
                <a:blip r:embed="rId6"/>
                <a:stretch>
                  <a:fillRect l="-20000" r="-20000" b="-10345"/>
                </a:stretch>
              </a:blipFill>
            </p:spPr>
            <p:txBody>
              <a:bodyPr/>
              <a:lstStyle/>
              <a:p>
                <a:r>
                  <a:rPr lang="en-JP">
                    <a:noFill/>
                  </a:rPr>
                  <a:t> </a:t>
                </a:r>
              </a:p>
            </p:txBody>
          </p:sp>
        </mc:Fallback>
      </mc:AlternateContent>
      <p:graphicFrame>
        <p:nvGraphicFramePr>
          <p:cNvPr id="26" name="Table 25">
            <a:extLst>
              <a:ext uri="{FF2B5EF4-FFF2-40B4-BE49-F238E27FC236}">
                <a16:creationId xmlns:a16="http://schemas.microsoft.com/office/drawing/2014/main" id="{CD178892-DCFB-139D-F790-FAB085858934}"/>
              </a:ext>
            </a:extLst>
          </p:cNvPr>
          <p:cNvGraphicFramePr>
            <a:graphicFrameLocks noGrp="1"/>
          </p:cNvGraphicFramePr>
          <p:nvPr>
            <p:extLst>
              <p:ext uri="{D42A27DB-BD31-4B8C-83A1-F6EECF244321}">
                <p14:modId xmlns:p14="http://schemas.microsoft.com/office/powerpoint/2010/main" val="3880222145"/>
              </p:ext>
            </p:extLst>
          </p:nvPr>
        </p:nvGraphicFramePr>
        <p:xfrm>
          <a:off x="7436380" y="4605418"/>
          <a:ext cx="1152000" cy="2880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692743704"/>
                    </a:ext>
                  </a:extLst>
                </a:gridCol>
                <a:gridCol w="288000">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solidFill>
                      <a:srgbClr val="001F16"/>
                    </a:solidFill>
                  </a:tcPr>
                </a:tc>
                <a:extLst>
                  <a:ext uri="{0D108BD9-81ED-4DB2-BD59-A6C34878D82A}">
                    <a16:rowId xmlns:a16="http://schemas.microsoft.com/office/drawing/2014/main" val="1264921292"/>
                  </a:ext>
                </a:extLst>
              </a:tr>
            </a:tbl>
          </a:graphicData>
        </a:graphic>
      </p:graphicFrame>
      <p:grpSp>
        <p:nvGrpSpPr>
          <p:cNvPr id="27" name="Group 26">
            <a:extLst>
              <a:ext uri="{FF2B5EF4-FFF2-40B4-BE49-F238E27FC236}">
                <a16:creationId xmlns:a16="http://schemas.microsoft.com/office/drawing/2014/main" id="{11C0FF23-29FC-150E-1BF5-4164556A0068}"/>
              </a:ext>
            </a:extLst>
          </p:cNvPr>
          <p:cNvGrpSpPr/>
          <p:nvPr/>
        </p:nvGrpSpPr>
        <p:grpSpPr>
          <a:xfrm>
            <a:off x="7437281" y="4583984"/>
            <a:ext cx="1150497" cy="338554"/>
            <a:chOff x="7390801" y="2271530"/>
            <a:chExt cx="1150497" cy="338554"/>
          </a:xfrm>
        </p:grpSpPr>
        <p:sp>
          <p:nvSpPr>
            <p:cNvPr id="28" name="TextBox 27">
              <a:extLst>
                <a:ext uri="{FF2B5EF4-FFF2-40B4-BE49-F238E27FC236}">
                  <a16:creationId xmlns:a16="http://schemas.microsoft.com/office/drawing/2014/main" id="{0592B269-727C-2D14-A5F3-91752BD8DD49}"/>
                </a:ext>
              </a:extLst>
            </p:cNvPr>
            <p:cNvSpPr txBox="1"/>
            <p:nvPr/>
          </p:nvSpPr>
          <p:spPr>
            <a:xfrm>
              <a:off x="7390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29" name="TextBox 28">
              <a:extLst>
                <a:ext uri="{FF2B5EF4-FFF2-40B4-BE49-F238E27FC236}">
                  <a16:creationId xmlns:a16="http://schemas.microsoft.com/office/drawing/2014/main" id="{F0B9EDDB-4AC6-C9AB-C346-05EC6D3115CF}"/>
                </a:ext>
              </a:extLst>
            </p:cNvPr>
            <p:cNvSpPr txBox="1"/>
            <p:nvPr/>
          </p:nvSpPr>
          <p:spPr>
            <a:xfrm>
              <a:off x="7677599" y="2271530"/>
              <a:ext cx="288000" cy="338554"/>
            </a:xfrm>
            <a:prstGeom prst="rect">
              <a:avLst/>
            </a:prstGeom>
            <a:noFill/>
          </p:spPr>
          <p:txBody>
            <a:bodyPr wrap="square" rtlCol="0" anchor="ctr">
              <a:spAutoFit/>
            </a:bodyPr>
            <a:lstStyle/>
            <a:p>
              <a:pPr algn="ctr"/>
              <a:r>
                <a:rPr lang="en-JP" sz="1600" b="1">
                  <a:solidFill>
                    <a:srgbClr val="A8D5BA"/>
                  </a:solidFill>
                </a:rPr>
                <a:t>7</a:t>
              </a:r>
            </a:p>
          </p:txBody>
        </p:sp>
        <p:sp>
          <p:nvSpPr>
            <p:cNvPr id="30" name="TextBox 29">
              <a:extLst>
                <a:ext uri="{FF2B5EF4-FFF2-40B4-BE49-F238E27FC236}">
                  <a16:creationId xmlns:a16="http://schemas.microsoft.com/office/drawing/2014/main" id="{CA2EDCB3-F24B-2D0A-55FB-5F41E9BA1AD6}"/>
                </a:ext>
              </a:extLst>
            </p:cNvPr>
            <p:cNvSpPr txBox="1"/>
            <p:nvPr/>
          </p:nvSpPr>
          <p:spPr>
            <a:xfrm>
              <a:off x="7966801" y="2271530"/>
              <a:ext cx="288000" cy="338554"/>
            </a:xfrm>
            <a:prstGeom prst="rect">
              <a:avLst/>
            </a:prstGeom>
            <a:noFill/>
          </p:spPr>
          <p:txBody>
            <a:bodyPr wrap="square" rtlCol="0" anchor="ctr">
              <a:spAutoFit/>
            </a:bodyPr>
            <a:lstStyle/>
            <a:p>
              <a:pPr algn="ctr"/>
              <a:r>
                <a:rPr lang="en-JP" sz="1600" b="1">
                  <a:solidFill>
                    <a:srgbClr val="A8D5BA"/>
                  </a:solidFill>
                </a:rPr>
                <a:t>3</a:t>
              </a:r>
            </a:p>
          </p:txBody>
        </p:sp>
        <p:sp>
          <p:nvSpPr>
            <p:cNvPr id="31" name="TextBox 30">
              <a:extLst>
                <a:ext uri="{FF2B5EF4-FFF2-40B4-BE49-F238E27FC236}">
                  <a16:creationId xmlns:a16="http://schemas.microsoft.com/office/drawing/2014/main" id="{E0FBC366-CA0B-50E8-67D9-5F1695DD7913}"/>
                </a:ext>
              </a:extLst>
            </p:cNvPr>
            <p:cNvSpPr txBox="1"/>
            <p:nvPr/>
          </p:nvSpPr>
          <p:spPr>
            <a:xfrm>
              <a:off x="8253298" y="2271530"/>
              <a:ext cx="288000" cy="338554"/>
            </a:xfrm>
            <a:prstGeom prst="rect">
              <a:avLst/>
            </a:prstGeom>
            <a:noFill/>
          </p:spPr>
          <p:txBody>
            <a:bodyPr wrap="square" rtlCol="0" anchor="ctr">
              <a:spAutoFit/>
            </a:bodyPr>
            <a:lstStyle/>
            <a:p>
              <a:pPr algn="ctr"/>
              <a:r>
                <a:rPr lang="en-JP" sz="1600" b="1">
                  <a:solidFill>
                    <a:srgbClr val="A8D5BA"/>
                  </a:solidFill>
                </a:rPr>
                <a:t>3</a:t>
              </a:r>
            </a:p>
          </p:txBody>
        </p:sp>
      </p:grpSp>
      <p:graphicFrame>
        <p:nvGraphicFramePr>
          <p:cNvPr id="32" name="Table 31">
            <a:extLst>
              <a:ext uri="{FF2B5EF4-FFF2-40B4-BE49-F238E27FC236}">
                <a16:creationId xmlns:a16="http://schemas.microsoft.com/office/drawing/2014/main" id="{B783C3C0-D39C-EC8D-6C71-CDCCB8ED6741}"/>
              </a:ext>
            </a:extLst>
          </p:cNvPr>
          <p:cNvGraphicFramePr>
            <a:graphicFrameLocks noGrp="1"/>
          </p:cNvGraphicFramePr>
          <p:nvPr>
            <p:extLst>
              <p:ext uri="{D42A27DB-BD31-4B8C-83A1-F6EECF244321}">
                <p14:modId xmlns:p14="http://schemas.microsoft.com/office/powerpoint/2010/main" val="4053474445"/>
              </p:ext>
            </p:extLst>
          </p:nvPr>
        </p:nvGraphicFramePr>
        <p:xfrm>
          <a:off x="6284530" y="4605418"/>
          <a:ext cx="1152000" cy="288000"/>
        </p:xfrm>
        <a:graphic>
          <a:graphicData uri="http://schemas.openxmlformats.org/drawingml/2006/table">
            <a:tbl>
              <a:tblPr firstRow="1" bandRow="1">
                <a:tableStyleId>{5C22544A-7EE6-4342-B048-85BDC9FD1C3A}</a:tableStyleId>
              </a:tblPr>
              <a:tblGrid>
                <a:gridCol w="281263">
                  <a:extLst>
                    <a:ext uri="{9D8B030D-6E8A-4147-A177-3AD203B41FA5}">
                      <a16:colId xmlns:a16="http://schemas.microsoft.com/office/drawing/2014/main" val="2692743704"/>
                    </a:ext>
                  </a:extLst>
                </a:gridCol>
                <a:gridCol w="294737">
                  <a:extLst>
                    <a:ext uri="{9D8B030D-6E8A-4147-A177-3AD203B41FA5}">
                      <a16:colId xmlns:a16="http://schemas.microsoft.com/office/drawing/2014/main" val="1651527774"/>
                    </a:ext>
                  </a:extLst>
                </a:gridCol>
                <a:gridCol w="288000">
                  <a:extLst>
                    <a:ext uri="{9D8B030D-6E8A-4147-A177-3AD203B41FA5}">
                      <a16:colId xmlns:a16="http://schemas.microsoft.com/office/drawing/2014/main" val="2797459802"/>
                    </a:ext>
                  </a:extLst>
                </a:gridCol>
                <a:gridCol w="288000">
                  <a:extLst>
                    <a:ext uri="{9D8B030D-6E8A-4147-A177-3AD203B41FA5}">
                      <a16:colId xmlns:a16="http://schemas.microsoft.com/office/drawing/2014/main" val="2241606304"/>
                    </a:ext>
                  </a:extLst>
                </a:gridCol>
              </a:tblGrid>
              <a:tr h="288000">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tc>
                  <a:txBody>
                    <a:bodyPr/>
                    <a:lstStyle/>
                    <a:p>
                      <a:endParaRPr lang="en-JP" sz="800"/>
                    </a:p>
                  </a:txBody>
                  <a:tcPr>
                    <a:lnL w="12700" cap="flat" cmpd="sng" algn="ctr">
                      <a:solidFill>
                        <a:srgbClr val="FF55C8"/>
                      </a:solidFill>
                      <a:prstDash val="solid"/>
                      <a:round/>
                      <a:headEnd type="none" w="med" len="med"/>
                      <a:tailEnd type="none" w="med" len="med"/>
                    </a:lnL>
                    <a:lnR w="12700" cap="flat" cmpd="sng" algn="ctr">
                      <a:solidFill>
                        <a:srgbClr val="FF55C8"/>
                      </a:solidFill>
                      <a:prstDash val="solid"/>
                      <a:round/>
                      <a:headEnd type="none" w="med" len="med"/>
                      <a:tailEnd type="none" w="med" len="med"/>
                    </a:lnR>
                    <a:lnT w="12700" cap="flat" cmpd="sng" algn="ctr">
                      <a:solidFill>
                        <a:srgbClr val="FF55C8"/>
                      </a:solidFill>
                      <a:prstDash val="solid"/>
                      <a:round/>
                      <a:headEnd type="none" w="med" len="med"/>
                      <a:tailEnd type="none" w="med" len="med"/>
                    </a:lnT>
                    <a:lnB w="12700" cap="flat" cmpd="sng" algn="ctr">
                      <a:solidFill>
                        <a:srgbClr val="FF55C8"/>
                      </a:solidFill>
                      <a:prstDash val="solid"/>
                      <a:round/>
                      <a:headEnd type="none" w="med" len="med"/>
                      <a:tailEnd type="none" w="med" len="med"/>
                    </a:lnB>
                    <a:lnTlToBr w="12700" cmpd="sng">
                      <a:noFill/>
                      <a:prstDash val="solid"/>
                    </a:lnTlToBr>
                    <a:lnBlToTr w="12700" cmpd="sng">
                      <a:noFill/>
                      <a:prstDash val="solid"/>
                    </a:lnBlToTr>
                    <a:solidFill>
                      <a:srgbClr val="001F16"/>
                    </a:solidFill>
                  </a:tcPr>
                </a:tc>
                <a:extLst>
                  <a:ext uri="{0D108BD9-81ED-4DB2-BD59-A6C34878D82A}">
                    <a16:rowId xmlns:a16="http://schemas.microsoft.com/office/drawing/2014/main" val="1264921292"/>
                  </a:ext>
                </a:extLst>
              </a:tr>
            </a:tbl>
          </a:graphicData>
        </a:graphic>
      </p:graphicFrame>
      <p:grpSp>
        <p:nvGrpSpPr>
          <p:cNvPr id="40" name="Group 39">
            <a:extLst>
              <a:ext uri="{FF2B5EF4-FFF2-40B4-BE49-F238E27FC236}">
                <a16:creationId xmlns:a16="http://schemas.microsoft.com/office/drawing/2014/main" id="{999BCDD5-0FDF-2D77-A053-B15F20B1B885}"/>
              </a:ext>
            </a:extLst>
          </p:cNvPr>
          <p:cNvGrpSpPr/>
          <p:nvPr/>
        </p:nvGrpSpPr>
        <p:grpSpPr>
          <a:xfrm>
            <a:off x="6284680" y="4583197"/>
            <a:ext cx="1152301" cy="341071"/>
            <a:chOff x="6237899" y="2746542"/>
            <a:chExt cx="1152301" cy="341071"/>
          </a:xfrm>
        </p:grpSpPr>
        <p:sp>
          <p:nvSpPr>
            <p:cNvPr id="46" name="TextBox 45">
              <a:extLst>
                <a:ext uri="{FF2B5EF4-FFF2-40B4-BE49-F238E27FC236}">
                  <a16:creationId xmlns:a16="http://schemas.microsoft.com/office/drawing/2014/main" id="{F5D40BF8-2324-AC64-8C3F-B2733F8F4B23}"/>
                </a:ext>
              </a:extLst>
            </p:cNvPr>
            <p:cNvSpPr txBox="1"/>
            <p:nvPr/>
          </p:nvSpPr>
          <p:spPr>
            <a:xfrm>
              <a:off x="6237899" y="2746542"/>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50" name="TextBox 49">
              <a:extLst>
                <a:ext uri="{FF2B5EF4-FFF2-40B4-BE49-F238E27FC236}">
                  <a16:creationId xmlns:a16="http://schemas.microsoft.com/office/drawing/2014/main" id="{10827E59-E915-57DD-90AA-12BFFBF84CA7}"/>
                </a:ext>
              </a:extLst>
            </p:cNvPr>
            <p:cNvSpPr txBox="1"/>
            <p:nvPr/>
          </p:nvSpPr>
          <p:spPr>
            <a:xfrm>
              <a:off x="6526200" y="2748286"/>
              <a:ext cx="288000" cy="338554"/>
            </a:xfrm>
            <a:prstGeom prst="rect">
              <a:avLst/>
            </a:prstGeom>
            <a:noFill/>
          </p:spPr>
          <p:txBody>
            <a:bodyPr wrap="square" rtlCol="0" anchor="ctr">
              <a:spAutoFit/>
            </a:bodyPr>
            <a:lstStyle/>
            <a:p>
              <a:pPr algn="ctr"/>
              <a:r>
                <a:rPr lang="en-JP" sz="1600" b="1">
                  <a:solidFill>
                    <a:srgbClr val="A8D5BA"/>
                  </a:solidFill>
                </a:rPr>
                <a:t>6</a:t>
              </a:r>
            </a:p>
          </p:txBody>
        </p:sp>
        <p:sp>
          <p:nvSpPr>
            <p:cNvPr id="63" name="TextBox 62">
              <a:extLst>
                <a:ext uri="{FF2B5EF4-FFF2-40B4-BE49-F238E27FC236}">
                  <a16:creationId xmlns:a16="http://schemas.microsoft.com/office/drawing/2014/main" id="{C976377B-3309-E3EB-AAFF-E451E4F19ED1}"/>
                </a:ext>
              </a:extLst>
            </p:cNvPr>
            <p:cNvSpPr txBox="1"/>
            <p:nvPr/>
          </p:nvSpPr>
          <p:spPr>
            <a:xfrm>
              <a:off x="6814200" y="2749059"/>
              <a:ext cx="288000" cy="338554"/>
            </a:xfrm>
            <a:prstGeom prst="rect">
              <a:avLst/>
            </a:prstGeom>
            <a:noFill/>
          </p:spPr>
          <p:txBody>
            <a:bodyPr wrap="square" rtlCol="0" anchor="ctr">
              <a:spAutoFit/>
            </a:bodyPr>
            <a:lstStyle/>
            <a:p>
              <a:pPr algn="ctr"/>
              <a:r>
                <a:rPr lang="en-JP" sz="1600" b="1">
                  <a:solidFill>
                    <a:srgbClr val="A8D5BA"/>
                  </a:solidFill>
                </a:rPr>
                <a:t>1</a:t>
              </a:r>
            </a:p>
          </p:txBody>
        </p:sp>
        <p:sp>
          <p:nvSpPr>
            <p:cNvPr id="65" name="TextBox 64">
              <a:extLst>
                <a:ext uri="{FF2B5EF4-FFF2-40B4-BE49-F238E27FC236}">
                  <a16:creationId xmlns:a16="http://schemas.microsoft.com/office/drawing/2014/main" id="{DAF0C967-44E3-4374-249F-4D27FCF8C0B6}"/>
                </a:ext>
              </a:extLst>
            </p:cNvPr>
            <p:cNvSpPr txBox="1"/>
            <p:nvPr/>
          </p:nvSpPr>
          <p:spPr>
            <a:xfrm>
              <a:off x="7102200" y="2746542"/>
              <a:ext cx="288000" cy="338554"/>
            </a:xfrm>
            <a:prstGeom prst="rect">
              <a:avLst/>
            </a:prstGeom>
            <a:noFill/>
          </p:spPr>
          <p:txBody>
            <a:bodyPr wrap="square" rtlCol="0" anchor="ctr">
              <a:spAutoFit/>
            </a:bodyPr>
            <a:lstStyle/>
            <a:p>
              <a:pPr algn="ctr"/>
              <a:r>
                <a:rPr lang="en-JP" sz="1600" b="1">
                  <a:solidFill>
                    <a:srgbClr val="A8D5BA"/>
                  </a:solidFill>
                </a:rPr>
                <a:t>9</a:t>
              </a:r>
            </a:p>
          </p:txBody>
        </p:sp>
      </p:grpSp>
      <p:sp>
        <p:nvSpPr>
          <p:cNvPr id="72" name="Freeform 71">
            <a:extLst>
              <a:ext uri="{FF2B5EF4-FFF2-40B4-BE49-F238E27FC236}">
                <a16:creationId xmlns:a16="http://schemas.microsoft.com/office/drawing/2014/main" id="{6AD789B2-7623-D2E1-4522-557F9B18A5F9}"/>
              </a:ext>
            </a:extLst>
          </p:cNvPr>
          <p:cNvSpPr/>
          <p:nvPr/>
        </p:nvSpPr>
        <p:spPr>
          <a:xfrm>
            <a:off x="7000504" y="4506686"/>
            <a:ext cx="575953" cy="498763"/>
          </a:xfrm>
          <a:custGeom>
            <a:avLst/>
            <a:gdLst>
              <a:gd name="csX0" fmla="*/ 0 w 575953"/>
              <a:gd name="csY0" fmla="*/ 0 h 498763"/>
              <a:gd name="csX1" fmla="*/ 83127 w 575953"/>
              <a:gd name="csY1" fmla="*/ 172192 h 498763"/>
              <a:gd name="csX2" fmla="*/ 231569 w 575953"/>
              <a:gd name="csY2" fmla="*/ 219693 h 498763"/>
              <a:gd name="csX3" fmla="*/ 457200 w 575953"/>
              <a:gd name="csY3" fmla="*/ 255319 h 498763"/>
              <a:gd name="csX4" fmla="*/ 575953 w 575953"/>
              <a:gd name="csY4" fmla="*/ 498763 h 498763"/>
            </a:gdLst>
            <a:ahLst/>
            <a:cxnLst>
              <a:cxn ang="0">
                <a:pos x="csX0" y="csY0"/>
              </a:cxn>
              <a:cxn ang="0">
                <a:pos x="csX1" y="csY1"/>
              </a:cxn>
              <a:cxn ang="0">
                <a:pos x="csX2" y="csY2"/>
              </a:cxn>
              <a:cxn ang="0">
                <a:pos x="csX3" y="csY3"/>
              </a:cxn>
              <a:cxn ang="0">
                <a:pos x="csX4" y="csY4"/>
              </a:cxn>
            </a:cxnLst>
            <a:rect l="l" t="t" r="r" b="b"/>
            <a:pathLst>
              <a:path w="575953" h="498763">
                <a:moveTo>
                  <a:pt x="0" y="0"/>
                </a:moveTo>
                <a:cubicBezTo>
                  <a:pt x="22266" y="67788"/>
                  <a:pt x="44532" y="135577"/>
                  <a:pt x="83127" y="172192"/>
                </a:cubicBezTo>
                <a:cubicBezTo>
                  <a:pt x="121722" y="208808"/>
                  <a:pt x="169223" y="205838"/>
                  <a:pt x="231569" y="219693"/>
                </a:cubicBezTo>
                <a:cubicBezTo>
                  <a:pt x="293915" y="233548"/>
                  <a:pt x="399803" y="208807"/>
                  <a:pt x="457200" y="255319"/>
                </a:cubicBezTo>
                <a:cubicBezTo>
                  <a:pt x="514597" y="301831"/>
                  <a:pt x="559130" y="456210"/>
                  <a:pt x="575953" y="498763"/>
                </a:cubicBezTo>
              </a:path>
            </a:pathLst>
          </a:custGeom>
          <a:noFill/>
          <a:ln w="12700">
            <a:solidFill>
              <a:srgbClr val="FF55C8"/>
            </a:solidFill>
            <a:beve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3" name="Freeform 72">
            <a:extLst>
              <a:ext uri="{FF2B5EF4-FFF2-40B4-BE49-F238E27FC236}">
                <a16:creationId xmlns:a16="http://schemas.microsoft.com/office/drawing/2014/main" id="{E5C9D61C-61F1-ABB7-D48C-31104D0FADE0}"/>
              </a:ext>
            </a:extLst>
          </p:cNvPr>
          <p:cNvSpPr/>
          <p:nvPr/>
        </p:nvSpPr>
        <p:spPr>
          <a:xfrm>
            <a:off x="6998941" y="4506686"/>
            <a:ext cx="862524" cy="504701"/>
          </a:xfrm>
          <a:custGeom>
            <a:avLst/>
            <a:gdLst>
              <a:gd name="csX0" fmla="*/ 862524 w 862524"/>
              <a:gd name="csY0" fmla="*/ 0 h 504701"/>
              <a:gd name="csX1" fmla="*/ 458763 w 862524"/>
              <a:gd name="csY1" fmla="*/ 148441 h 504701"/>
              <a:gd name="csX2" fmla="*/ 340010 w 862524"/>
              <a:gd name="csY2" fmla="*/ 320633 h 504701"/>
              <a:gd name="csX3" fmla="*/ 120316 w 862524"/>
              <a:gd name="csY3" fmla="*/ 368135 h 504701"/>
              <a:gd name="csX4" fmla="*/ 13438 w 862524"/>
              <a:gd name="csY4" fmla="*/ 415636 h 504701"/>
              <a:gd name="csX5" fmla="*/ 1563 w 862524"/>
              <a:gd name="csY5" fmla="*/ 504701 h 504701"/>
            </a:gdLst>
            <a:ahLst/>
            <a:cxnLst>
              <a:cxn ang="0">
                <a:pos x="csX0" y="csY0"/>
              </a:cxn>
              <a:cxn ang="0">
                <a:pos x="csX1" y="csY1"/>
              </a:cxn>
              <a:cxn ang="0">
                <a:pos x="csX2" y="csY2"/>
              </a:cxn>
              <a:cxn ang="0">
                <a:pos x="csX3" y="csY3"/>
              </a:cxn>
              <a:cxn ang="0">
                <a:pos x="csX4" y="csY4"/>
              </a:cxn>
              <a:cxn ang="0">
                <a:pos x="csX5" y="csY5"/>
              </a:cxn>
            </a:cxnLst>
            <a:rect l="l" t="t" r="r" b="b"/>
            <a:pathLst>
              <a:path w="862524" h="504701">
                <a:moveTo>
                  <a:pt x="862524" y="0"/>
                </a:moveTo>
                <a:cubicBezTo>
                  <a:pt x="704186" y="47501"/>
                  <a:pt x="545849" y="95002"/>
                  <a:pt x="458763" y="148441"/>
                </a:cubicBezTo>
                <a:cubicBezTo>
                  <a:pt x="371677" y="201880"/>
                  <a:pt x="396418" y="284017"/>
                  <a:pt x="340010" y="320633"/>
                </a:cubicBezTo>
                <a:cubicBezTo>
                  <a:pt x="283602" y="357249"/>
                  <a:pt x="174745" y="352301"/>
                  <a:pt x="120316" y="368135"/>
                </a:cubicBezTo>
                <a:cubicBezTo>
                  <a:pt x="65887" y="383969"/>
                  <a:pt x="33230" y="392875"/>
                  <a:pt x="13438" y="415636"/>
                </a:cubicBezTo>
                <a:cubicBezTo>
                  <a:pt x="-6354" y="438397"/>
                  <a:pt x="1563" y="490847"/>
                  <a:pt x="1563" y="504701"/>
                </a:cubicBezTo>
              </a:path>
            </a:pathLst>
          </a:custGeom>
          <a:noFill/>
          <a:ln w="12700">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4" name="Freeform 73">
            <a:extLst>
              <a:ext uri="{FF2B5EF4-FFF2-40B4-BE49-F238E27FC236}">
                <a16:creationId xmlns:a16="http://schemas.microsoft.com/office/drawing/2014/main" id="{271CA62F-1218-C867-9D17-F59E0941D74B}"/>
              </a:ext>
            </a:extLst>
          </p:cNvPr>
          <p:cNvSpPr/>
          <p:nvPr/>
        </p:nvSpPr>
        <p:spPr>
          <a:xfrm>
            <a:off x="7282950" y="4506686"/>
            <a:ext cx="554764" cy="492826"/>
          </a:xfrm>
          <a:custGeom>
            <a:avLst/>
            <a:gdLst>
              <a:gd name="csX0" fmla="*/ 8499 w 554764"/>
              <a:gd name="csY0" fmla="*/ 0 h 492826"/>
              <a:gd name="csX1" fmla="*/ 26312 w 554764"/>
              <a:gd name="csY1" fmla="*/ 118753 h 492826"/>
              <a:gd name="csX2" fmla="*/ 228193 w 554764"/>
              <a:gd name="csY2" fmla="*/ 190005 h 492826"/>
              <a:gd name="csX3" fmla="*/ 501325 w 554764"/>
              <a:gd name="csY3" fmla="*/ 231569 h 492826"/>
              <a:gd name="csX4" fmla="*/ 554764 w 554764"/>
              <a:gd name="csY4" fmla="*/ 492826 h 492826"/>
            </a:gdLst>
            <a:ahLst/>
            <a:cxnLst>
              <a:cxn ang="0">
                <a:pos x="csX0" y="csY0"/>
              </a:cxn>
              <a:cxn ang="0">
                <a:pos x="csX1" y="csY1"/>
              </a:cxn>
              <a:cxn ang="0">
                <a:pos x="csX2" y="csY2"/>
              </a:cxn>
              <a:cxn ang="0">
                <a:pos x="csX3" y="csY3"/>
              </a:cxn>
              <a:cxn ang="0">
                <a:pos x="csX4" y="csY4"/>
              </a:cxn>
            </a:cxnLst>
            <a:rect l="l" t="t" r="r" b="b"/>
            <a:pathLst>
              <a:path w="554764" h="492826">
                <a:moveTo>
                  <a:pt x="8499" y="0"/>
                </a:moveTo>
                <a:cubicBezTo>
                  <a:pt x="-903" y="43543"/>
                  <a:pt x="-10304" y="87086"/>
                  <a:pt x="26312" y="118753"/>
                </a:cubicBezTo>
                <a:cubicBezTo>
                  <a:pt x="62928" y="150420"/>
                  <a:pt x="149024" y="171202"/>
                  <a:pt x="228193" y="190005"/>
                </a:cubicBezTo>
                <a:cubicBezTo>
                  <a:pt x="307362" y="208808"/>
                  <a:pt x="446897" y="181099"/>
                  <a:pt x="501325" y="231569"/>
                </a:cubicBezTo>
                <a:cubicBezTo>
                  <a:pt x="555753" y="282039"/>
                  <a:pt x="541899" y="449283"/>
                  <a:pt x="554764" y="492826"/>
                </a:cubicBezTo>
              </a:path>
            </a:pathLst>
          </a:custGeom>
          <a:noFill/>
          <a:ln w="12700">
            <a:solidFill>
              <a:srgbClr val="FF55C8"/>
            </a:solidFill>
          </a:ln>
          <a:effectLst>
            <a:glow rad="25400">
              <a:srgbClr val="00FFD5">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5" name="TextBox 74">
            <a:extLst>
              <a:ext uri="{FF2B5EF4-FFF2-40B4-BE49-F238E27FC236}">
                <a16:creationId xmlns:a16="http://schemas.microsoft.com/office/drawing/2014/main" id="{2E6F88D7-BE0B-9DDE-9463-912EF2AA1EEC}"/>
              </a:ext>
            </a:extLst>
          </p:cNvPr>
          <p:cNvSpPr txBox="1"/>
          <p:nvPr/>
        </p:nvSpPr>
        <p:spPr>
          <a:xfrm>
            <a:off x="6676778" y="1427842"/>
            <a:ext cx="1425039" cy="369332"/>
          </a:xfrm>
          <a:prstGeom prst="rect">
            <a:avLst/>
          </a:prstGeom>
          <a:noFill/>
        </p:spPr>
        <p:txBody>
          <a:bodyPr wrap="square" rtlCol="0">
            <a:spAutoFit/>
          </a:bodyPr>
          <a:lstStyle/>
          <a:p>
            <a:pPr algn="ctr"/>
            <a:r>
              <a:rPr lang="en-JP">
                <a:solidFill>
                  <a:srgbClr val="A8D5BA"/>
                </a:solidFill>
              </a:rPr>
              <a:t>１通証明</a:t>
            </a:r>
          </a:p>
        </p:txBody>
      </p:sp>
      <p:sp>
        <p:nvSpPr>
          <p:cNvPr id="76" name="TextBox 75">
            <a:extLst>
              <a:ext uri="{FF2B5EF4-FFF2-40B4-BE49-F238E27FC236}">
                <a16:creationId xmlns:a16="http://schemas.microsoft.com/office/drawing/2014/main" id="{FF34FC2E-7612-9671-0F09-66696E68C610}"/>
              </a:ext>
            </a:extLst>
          </p:cNvPr>
          <p:cNvSpPr txBox="1"/>
          <p:nvPr/>
        </p:nvSpPr>
        <p:spPr>
          <a:xfrm>
            <a:off x="8962196" y="1427842"/>
            <a:ext cx="1425039" cy="369332"/>
          </a:xfrm>
          <a:prstGeom prst="rect">
            <a:avLst/>
          </a:prstGeom>
          <a:noFill/>
        </p:spPr>
        <p:txBody>
          <a:bodyPr wrap="square" rtlCol="0">
            <a:spAutoFit/>
          </a:bodyPr>
          <a:lstStyle/>
          <a:p>
            <a:pPr algn="ctr"/>
            <a:r>
              <a:rPr lang="en-JP">
                <a:solidFill>
                  <a:srgbClr val="A8D5BA"/>
                </a:solidFill>
              </a:rPr>
              <a:t>２通証明</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538BB76-764F-464F-97CC-DF3779DFDFBC}"/>
                  </a:ext>
                </a:extLst>
              </p:cNvPr>
              <p:cNvSpPr txBox="1">
                <a:spLocks noChangeAspect="1"/>
              </p:cNvSpPr>
              <p:nvPr/>
            </p:nvSpPr>
            <p:spPr>
              <a:xfrm>
                <a:off x="3023902" y="5183005"/>
                <a:ext cx="31404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JP" sz="2400" i="1" smtClean="0">
                          <a:solidFill>
                            <a:srgbClr val="FF0000"/>
                          </a:solidFill>
                          <a:latin typeface="Cambria Math" panose="02040503050406030204" pitchFamily="18" charset="0"/>
                          <a:ea typeface="Cambria Math" panose="02040503050406030204" pitchFamily="18" charset="0"/>
                        </a:rPr>
                        <m:t>≢</m:t>
                      </m:r>
                    </m:oMath>
                  </m:oMathPara>
                </a14:m>
                <a:endParaRPr lang="en-JP" sz="2400">
                  <a:solidFill>
                    <a:srgbClr val="FF0000"/>
                  </a:solidFill>
                </a:endParaRPr>
              </a:p>
            </p:txBody>
          </p:sp>
        </mc:Choice>
        <mc:Fallback xmlns="">
          <p:sp>
            <p:nvSpPr>
              <p:cNvPr id="4" name="TextBox 3">
                <a:extLst>
                  <a:ext uri="{FF2B5EF4-FFF2-40B4-BE49-F238E27FC236}">
                    <a16:creationId xmlns:a16="http://schemas.microsoft.com/office/drawing/2014/main" id="{4538BB76-764F-464F-97CC-DF3779DFDFBC}"/>
                  </a:ext>
                </a:extLst>
              </p:cNvPr>
              <p:cNvSpPr txBox="1">
                <a:spLocks noRot="1" noChangeAspect="1" noMove="1" noResize="1" noEditPoints="1" noAdjustHandles="1" noChangeArrowheads="1" noChangeShapeType="1" noTextEdit="1"/>
              </p:cNvSpPr>
              <p:nvPr/>
            </p:nvSpPr>
            <p:spPr>
              <a:xfrm>
                <a:off x="3023902" y="5183005"/>
                <a:ext cx="314042" cy="369332"/>
              </a:xfrm>
              <a:prstGeom prst="rect">
                <a:avLst/>
              </a:prstGeom>
              <a:blipFill>
                <a:blip r:embed="rId7"/>
                <a:stretch>
                  <a:fillRect l="-19231" r="-15385" b="-6667"/>
                </a:stretch>
              </a:blipFill>
            </p:spPr>
            <p:txBody>
              <a:bodyPr/>
              <a:lstStyle/>
              <a:p>
                <a:r>
                  <a:rPr lang="en-JP">
                    <a:noFill/>
                  </a:rPr>
                  <a:t> </a:t>
                </a:r>
              </a:p>
            </p:txBody>
          </p:sp>
        </mc:Fallback>
      </mc:AlternateContent>
      <p:sp>
        <p:nvSpPr>
          <p:cNvPr id="5" name="TextBox 4">
            <a:extLst>
              <a:ext uri="{FF2B5EF4-FFF2-40B4-BE49-F238E27FC236}">
                <a16:creationId xmlns:a16="http://schemas.microsoft.com/office/drawing/2014/main" id="{4AF53380-7A16-B44B-FE8E-D5A996DB2BE8}"/>
              </a:ext>
            </a:extLst>
          </p:cNvPr>
          <p:cNvSpPr txBox="1">
            <a:spLocks noChangeAspect="1"/>
          </p:cNvSpPr>
          <p:nvPr/>
        </p:nvSpPr>
        <p:spPr>
          <a:xfrm>
            <a:off x="3023902" y="5183005"/>
            <a:ext cx="314042" cy="369332"/>
          </a:xfrm>
          <a:prstGeom prst="rect">
            <a:avLst/>
          </a:prstGeom>
          <a:noFill/>
        </p:spPr>
        <p:txBody>
          <a:bodyPr wrap="square" lIns="0" tIns="0" rIns="0" bIns="0" rtlCol="0">
            <a:spAutoFit/>
          </a:bodyPr>
          <a:lstStyle/>
          <a:p>
            <a:r>
              <a:rPr lang="en-JP" sz="2400">
                <a:solidFill>
                  <a:srgbClr val="FF55C8"/>
                </a:solidFill>
                <a:effectLst>
                  <a:glow rad="63500">
                    <a:srgbClr val="00FFD5">
                      <a:alpha val="40000"/>
                    </a:srgbClr>
                  </a:glow>
                </a:effectLst>
              </a:rPr>
              <a:t>＜</a:t>
            </a:r>
          </a:p>
        </p:txBody>
      </p:sp>
      <p:sp>
        <p:nvSpPr>
          <p:cNvPr id="6" name="TextBox 5">
            <a:extLst>
              <a:ext uri="{FF2B5EF4-FFF2-40B4-BE49-F238E27FC236}">
                <a16:creationId xmlns:a16="http://schemas.microsoft.com/office/drawing/2014/main" id="{9565A756-0FAA-FE94-DFC5-72B10576A67B}"/>
              </a:ext>
            </a:extLst>
          </p:cNvPr>
          <p:cNvSpPr txBox="1"/>
          <p:nvPr/>
        </p:nvSpPr>
        <p:spPr>
          <a:xfrm>
            <a:off x="2585830" y="5556460"/>
            <a:ext cx="1190185" cy="369332"/>
          </a:xfrm>
          <a:prstGeom prst="rect">
            <a:avLst/>
          </a:prstGeom>
          <a:noFill/>
        </p:spPr>
        <p:txBody>
          <a:bodyPr wrap="square" rtlCol="0">
            <a:spAutoFit/>
          </a:bodyPr>
          <a:lstStyle/>
          <a:p>
            <a:pPr algn="ctr"/>
            <a:r>
              <a:rPr lang="en-JP">
                <a:solidFill>
                  <a:srgbClr val="FF55C8"/>
                </a:solidFill>
                <a:effectLst>
                  <a:glow rad="63500">
                    <a:srgbClr val="00FFD5">
                      <a:alpha val="40000"/>
                    </a:srgbClr>
                  </a:glow>
                </a:effectLst>
              </a:rPr>
              <a:t>（予想）</a:t>
            </a:r>
          </a:p>
        </p:txBody>
      </p:sp>
      <p:cxnSp>
        <p:nvCxnSpPr>
          <p:cNvPr id="7" name="Straight Connector 6">
            <a:extLst>
              <a:ext uri="{FF2B5EF4-FFF2-40B4-BE49-F238E27FC236}">
                <a16:creationId xmlns:a16="http://schemas.microsoft.com/office/drawing/2014/main" id="{A7EBD0A5-D8F2-C155-DEA3-6FBBA0387148}"/>
              </a:ext>
            </a:extLst>
          </p:cNvPr>
          <p:cNvCxnSpPr>
            <a:cxnSpLocks/>
          </p:cNvCxnSpPr>
          <p:nvPr/>
        </p:nvCxnSpPr>
        <p:spPr>
          <a:xfrm>
            <a:off x="8638140" y="6048079"/>
            <a:ext cx="3250404"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pic>
        <p:nvPicPr>
          <p:cNvPr id="8" name="Graphic 7" descr="Document with solid fill">
            <a:extLst>
              <a:ext uri="{FF2B5EF4-FFF2-40B4-BE49-F238E27FC236}">
                <a16:creationId xmlns:a16="http://schemas.microsoft.com/office/drawing/2014/main" id="{511D9BDF-D115-7413-6EC3-B8ACA97DDD8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46330" y="5893819"/>
            <a:ext cx="288001" cy="288001"/>
          </a:xfrm>
          <a:prstGeom prst="rect">
            <a:avLst/>
          </a:prstGeom>
        </p:spPr>
      </p:pic>
      <p:sp>
        <p:nvSpPr>
          <p:cNvPr id="9" name="TextBox 8">
            <a:extLst>
              <a:ext uri="{FF2B5EF4-FFF2-40B4-BE49-F238E27FC236}">
                <a16:creationId xmlns:a16="http://schemas.microsoft.com/office/drawing/2014/main" id="{DCA19CF7-74FB-415E-03DF-8783BB726C6E}"/>
              </a:ext>
            </a:extLst>
          </p:cNvPr>
          <p:cNvSpPr txBox="1">
            <a:spLocks/>
          </p:cNvSpPr>
          <p:nvPr/>
        </p:nvSpPr>
        <p:spPr>
          <a:xfrm>
            <a:off x="8049237" y="6185098"/>
            <a:ext cx="4042358" cy="307777"/>
          </a:xfrm>
          <a:prstGeom prst="rect">
            <a:avLst/>
          </a:prstGeom>
          <a:noFill/>
        </p:spPr>
        <p:txBody>
          <a:bodyPr wrap="square" rtlCol="0" anchor="ctr">
            <a:spAutoFit/>
          </a:bodyPr>
          <a:lstStyle/>
          <a:p>
            <a:r>
              <a:rPr lang="en-JP" sz="1400" dirty="0">
                <a:solidFill>
                  <a:schemeClr val="bg1"/>
                </a:solidFill>
                <a:effectLst>
                  <a:glow rad="63500">
                    <a:schemeClr val="accent4">
                      <a:satMod val="175000"/>
                      <a:alpha val="40000"/>
                    </a:schemeClr>
                  </a:glow>
                </a:effectLst>
              </a:rPr>
              <a:t>[3] </a:t>
            </a:r>
            <a:r>
              <a:rPr lang="en-JP" sz="1400" dirty="0">
                <a:solidFill>
                  <a:schemeClr val="bg1"/>
                </a:solidFill>
              </a:rPr>
              <a:t>Kobayashi, Matsumoto, and Yamakami (2003)</a:t>
            </a:r>
          </a:p>
        </p:txBody>
      </p:sp>
      <p:cxnSp>
        <p:nvCxnSpPr>
          <p:cNvPr id="10" name="Straight Connector 9">
            <a:extLst>
              <a:ext uri="{FF2B5EF4-FFF2-40B4-BE49-F238E27FC236}">
                <a16:creationId xmlns:a16="http://schemas.microsoft.com/office/drawing/2014/main" id="{674CE054-C527-B12D-EEEE-1A83A6F07B69}"/>
              </a:ext>
            </a:extLst>
          </p:cNvPr>
          <p:cNvCxnSpPr>
            <a:cxnSpLocks/>
          </p:cNvCxnSpPr>
          <p:nvPr/>
        </p:nvCxnSpPr>
        <p:spPr>
          <a:xfrm>
            <a:off x="8092269" y="6049210"/>
            <a:ext cx="254061"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4D19375-AE7D-B351-E8BF-CE8909306E52}"/>
              </a:ext>
            </a:extLst>
          </p:cNvPr>
          <p:cNvSpPr txBox="1"/>
          <p:nvPr/>
        </p:nvSpPr>
        <p:spPr>
          <a:xfrm>
            <a:off x="2922301" y="4844093"/>
            <a:ext cx="517242" cy="400110"/>
          </a:xfrm>
          <a:prstGeom prst="rect">
            <a:avLst/>
          </a:prstGeom>
          <a:noFill/>
        </p:spPr>
        <p:txBody>
          <a:bodyPr wrap="square" rtlCol="0">
            <a:spAutoFit/>
          </a:bodyPr>
          <a:lstStyle/>
          <a:p>
            <a:pPr algn="ctr"/>
            <a:r>
              <a:rPr lang="en-JP" sz="2000">
                <a:solidFill>
                  <a:schemeClr val="bg1"/>
                </a:solidFill>
                <a:effectLst>
                  <a:glow rad="63500">
                    <a:schemeClr val="accent4">
                      <a:satMod val="175000"/>
                      <a:alpha val="40000"/>
                    </a:schemeClr>
                  </a:glow>
                </a:effectLst>
              </a:rPr>
              <a:t>[3]</a:t>
            </a:r>
          </a:p>
        </p:txBody>
      </p:sp>
    </p:spTree>
    <p:extLst>
      <p:ext uri="{BB962C8B-B14F-4D97-AF65-F5344CB8AC3E}">
        <p14:creationId xmlns:p14="http://schemas.microsoft.com/office/powerpoint/2010/main" val="310337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7" presetClass="path" presetSubtype="0" accel="50000" decel="50000" fill="hold" nodeType="clickEffect">
                                  <p:stCondLst>
                                    <p:cond delay="0"/>
                                  </p:stCondLst>
                                  <p:childTnLst>
                                    <p:animMotion origin="layout" path="M -4.16667E-6 -4.44444E-6 L -4.16667E-6 -0.02893 C -4.16667E-6 -0.04189 0.01289 -0.05763 0.02357 -0.05763 L 0.04714 -0.05763 " pathEditMode="relative" rAng="0" ptsTypes="AAAA">
                                      <p:cBhvr>
                                        <p:cTn id="6" dur="2000" fill="hold"/>
                                        <p:tgtEl>
                                          <p:spTgt spid="58"/>
                                        </p:tgtEl>
                                        <p:attrNameLst>
                                          <p:attrName>ppt_x</p:attrName>
                                          <p:attrName>ppt_y</p:attrName>
                                        </p:attrNameLst>
                                      </p:cBhvr>
                                      <p:rCtr x="2357" y="-2894"/>
                                    </p:animMotion>
                                  </p:childTnLst>
                                </p:cTn>
                              </p:par>
                              <p:par>
                                <p:cTn id="7" presetID="57" presetClass="path" presetSubtype="0" accel="50000" decel="50000" fill="hold" nodeType="withEffect">
                                  <p:stCondLst>
                                    <p:cond delay="0"/>
                                  </p:stCondLst>
                                  <p:childTnLst>
                                    <p:animMotion origin="layout" path="M -4.16667E-6 0 L -4.16667E-6 -0.02894 C -4.16667E-6 -0.0419 0.01289 -0.05764 0.02357 -0.05764 L 0.04714 -0.05764 " pathEditMode="relative" rAng="0" ptsTypes="AAAA">
                                      <p:cBhvr>
                                        <p:cTn id="8" dur="2000" fill="hold"/>
                                        <p:tgtEl>
                                          <p:spTgt spid="57"/>
                                        </p:tgtEl>
                                        <p:attrNameLst>
                                          <p:attrName>ppt_x</p:attrName>
                                          <p:attrName>ppt_y</p:attrName>
                                        </p:attrNameLst>
                                      </p:cBhvr>
                                      <p:rCtr x="2357" y="-2894"/>
                                    </p:animMotion>
                                  </p:childTnLst>
                                </p:cTn>
                              </p:par>
                              <p:par>
                                <p:cTn id="9" presetID="43" presetClass="path" presetSubtype="0" accel="50000" decel="50000" fill="hold" nodeType="withEffect">
                                  <p:stCondLst>
                                    <p:cond delay="0"/>
                                  </p:stCondLst>
                                  <p:childTnLst>
                                    <p:animMotion origin="layout" path="M -0.04727 0.05903 L -0.0237 0.05903 C -0.01316 0.05903 4.79167E-6 0.0426 4.79167E-6 0.0294 L 4.79167E-6 -4.44444E-6 " pathEditMode="relative" rAng="0" ptsTypes="AAAA">
                                      <p:cBhvr>
                                        <p:cTn id="10" dur="2000" spd="-100000" fill="hold"/>
                                        <p:tgtEl>
                                          <p:spTgt spid="51"/>
                                        </p:tgtEl>
                                        <p:attrNameLst>
                                          <p:attrName>ppt_x</p:attrName>
                                          <p:attrName>ppt_y</p:attrName>
                                        </p:attrNameLst>
                                      </p:cBhvr>
                                      <p:rCtr x="2357" y="-2963"/>
                                    </p:animMotion>
                                  </p:childTnLst>
                                </p:cTn>
                              </p:par>
                              <p:par>
                                <p:cTn id="11" presetID="43" presetClass="path" presetSubtype="0" accel="50000" decel="50000" fill="hold" nodeType="withEffect">
                                  <p:stCondLst>
                                    <p:cond delay="0"/>
                                  </p:stCondLst>
                                  <p:childTnLst>
                                    <p:animMotion origin="layout" path="M -0.04727 0.05926 L -0.0237 0.05926 C -0.01316 0.05926 4.79167E-6 0.0426 4.79167E-6 0.0294 L 4.79167E-6 -4.44444E-6 " pathEditMode="relative" rAng="0" ptsTypes="AAAA">
                                      <p:cBhvr>
                                        <p:cTn id="12" dur="2000" spd="-100000" fill="hold"/>
                                        <p:tgtEl>
                                          <p:spTgt spid="52"/>
                                        </p:tgtEl>
                                        <p:attrNameLst>
                                          <p:attrName>ppt_x</p:attrName>
                                          <p:attrName>ppt_y</p:attrName>
                                        </p:attrNameLst>
                                      </p:cBhvr>
                                      <p:rCtr x="2357" y="-2963"/>
                                    </p:animMotion>
                                  </p:childTnLst>
                                </p:cTn>
                              </p:par>
                            </p:childTnLst>
                          </p:cTn>
                        </p:par>
                        <p:par>
                          <p:cTn id="13" fill="hold">
                            <p:stCondLst>
                              <p:cond delay="2000"/>
                            </p:stCondLst>
                            <p:childTnLst>
                              <p:par>
                                <p:cTn id="14" presetID="22" presetClass="entr" presetSubtype="4" fill="hold" grpId="0" nodeType="after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wipe(down)">
                                      <p:cBhvr>
                                        <p:cTn id="16" dur="500"/>
                                        <p:tgtEl>
                                          <p:spTgt spid="48"/>
                                        </p:tgtEl>
                                      </p:cBhvr>
                                    </p:animEffect>
                                  </p:childTnLst>
                                </p:cTn>
                              </p:par>
                              <p:par>
                                <p:cTn id="17" presetID="2" presetClass="entr" presetSubtype="8"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up)">
                                      <p:cBhvr>
                                        <p:cTn id="25" dur="500"/>
                                        <p:tgtEl>
                                          <p:spTgt spid="12"/>
                                        </p:tgtEl>
                                      </p:cBhvr>
                                    </p:animEffect>
                                  </p:childTnLst>
                                </p:cTn>
                              </p:par>
                              <p:par>
                                <p:cTn id="26" presetID="22" presetClass="entr" presetSubtype="1"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up)">
                                      <p:cBhvr>
                                        <p:cTn id="28" dur="500"/>
                                        <p:tgtEl>
                                          <p:spTgt spid="13"/>
                                        </p:tgtEl>
                                      </p:cBhvr>
                                    </p:animEffect>
                                  </p:childTnLst>
                                </p:cTn>
                              </p:par>
                              <p:par>
                                <p:cTn id="29" presetID="22" presetClass="entr" presetSubtype="1"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up)">
                                      <p:cBhvr>
                                        <p:cTn id="31" dur="500"/>
                                        <p:tgtEl>
                                          <p:spTgt spid="19"/>
                                        </p:tgtEl>
                                      </p:cBhvr>
                                    </p:animEffect>
                                  </p:childTnLst>
                                </p:cTn>
                              </p:par>
                              <p:par>
                                <p:cTn id="32" presetID="22" presetClass="entr" presetSubtype="1"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wipe(up)">
                                      <p:cBhvr>
                                        <p:cTn id="37" dur="500"/>
                                        <p:tgtEl>
                                          <p:spTgt spid="70"/>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71"/>
                                        </p:tgtEl>
                                        <p:attrNameLst>
                                          <p:attrName>style.visibility</p:attrName>
                                        </p:attrNameLst>
                                      </p:cBhvr>
                                      <p:to>
                                        <p:strVal val="visible"/>
                                      </p:to>
                                    </p:set>
                                    <p:animEffect transition="in" filter="wipe(up)">
                                      <p:cBhvr>
                                        <p:cTn id="40" dur="500"/>
                                        <p:tgtEl>
                                          <p:spTgt spid="71"/>
                                        </p:tgtEl>
                                      </p:cBhvr>
                                    </p:animEffect>
                                  </p:childTnLst>
                                </p:cTn>
                              </p:par>
                              <p:par>
                                <p:cTn id="41" presetID="2" presetClass="entr" presetSubtype="8" fill="hold"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anim calcmode="lin" valueType="num">
                                      <p:cBhvr additive="base">
                                        <p:cTn id="43" dur="500" fill="hold"/>
                                        <p:tgtEl>
                                          <p:spTgt spid="49">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9">
                                            <p:txEl>
                                              <p:pRg st="0" end="0"/>
                                            </p:txEl>
                                          </p:spTgt>
                                        </p:tgtEl>
                                        <p:attrNameLst>
                                          <p:attrName>ppt_y</p:attrName>
                                        </p:attrNameLst>
                                      </p:cBhvr>
                                      <p:tavLst>
                                        <p:tav tm="0">
                                          <p:val>
                                            <p:strVal val="#ppt_y"/>
                                          </p:val>
                                        </p:tav>
                                        <p:tav tm="100000">
                                          <p:val>
                                            <p:strVal val="#ppt_y"/>
                                          </p:val>
                                        </p:tav>
                                      </p:tavLst>
                                    </p:anim>
                                  </p:childTnLst>
                                </p:cTn>
                              </p:par>
                              <p:par>
                                <p:cTn id="45" presetID="22" presetClass="entr" presetSubtype="1"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up)">
                                      <p:cBhvr>
                                        <p:cTn id="47" dur="500"/>
                                        <p:tgtEl>
                                          <p:spTgt spid="40"/>
                                        </p:tgtEl>
                                      </p:cBhvr>
                                    </p:animEffect>
                                  </p:childTnLst>
                                </p:cTn>
                              </p:par>
                              <p:par>
                                <p:cTn id="48" presetID="22" presetClass="entr" presetSubtype="1"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up)">
                                      <p:cBhvr>
                                        <p:cTn id="50" dur="500"/>
                                        <p:tgtEl>
                                          <p:spTgt spid="32"/>
                                        </p:tgtEl>
                                      </p:cBhvr>
                                    </p:animEffect>
                                  </p:childTnLst>
                                </p:cTn>
                              </p:par>
                              <p:par>
                                <p:cTn id="51" presetID="22" presetClass="entr" presetSubtype="1"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2" presetClass="entr" presetSubtype="1" fill="hold"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up)">
                                      <p:cBhvr>
                                        <p:cTn id="56" dur="500"/>
                                        <p:tgtEl>
                                          <p:spTgt spid="26"/>
                                        </p:tgtEl>
                                      </p:cBhvr>
                                    </p:animEffect>
                                  </p:childTnLst>
                                </p:cTn>
                              </p:par>
                              <p:par>
                                <p:cTn id="57" presetID="22" presetClass="entr" presetSubtype="1" fill="hold" grpId="1" nodeType="withEffect">
                                  <p:stCondLst>
                                    <p:cond delay="0"/>
                                  </p:stCondLst>
                                  <p:childTnLst>
                                    <p:set>
                                      <p:cBhvr>
                                        <p:cTn id="58" dur="1" fill="hold">
                                          <p:stCondLst>
                                            <p:cond delay="0"/>
                                          </p:stCondLst>
                                        </p:cTn>
                                        <p:tgtEl>
                                          <p:spTgt spid="69"/>
                                        </p:tgtEl>
                                        <p:attrNameLst>
                                          <p:attrName>style.visibility</p:attrName>
                                        </p:attrNameLst>
                                      </p:cBhvr>
                                      <p:to>
                                        <p:strVal val="visible"/>
                                      </p:to>
                                    </p:set>
                                    <p:animEffect transition="in" filter="wipe(up)">
                                      <p:cBhvr>
                                        <p:cTn id="59" dur="500"/>
                                        <p:tgtEl>
                                          <p:spTgt spid="69"/>
                                        </p:tgtEl>
                                      </p:cBhvr>
                                    </p:animEffect>
                                  </p:childTnLst>
                                </p:cTn>
                              </p:par>
                              <p:par>
                                <p:cTn id="60" presetID="22" presetClass="entr" presetSubtype="1" fill="hold" grpId="1" nodeType="withEffect">
                                  <p:stCondLst>
                                    <p:cond delay="0"/>
                                  </p:stCondLst>
                                  <p:childTnLst>
                                    <p:set>
                                      <p:cBhvr>
                                        <p:cTn id="61" dur="1" fill="hold">
                                          <p:stCondLst>
                                            <p:cond delay="0"/>
                                          </p:stCondLst>
                                        </p:cTn>
                                        <p:tgtEl>
                                          <p:spTgt spid="68"/>
                                        </p:tgtEl>
                                        <p:attrNameLst>
                                          <p:attrName>style.visibility</p:attrName>
                                        </p:attrNameLst>
                                      </p:cBhvr>
                                      <p:to>
                                        <p:strVal val="visible"/>
                                      </p:to>
                                    </p:set>
                                    <p:animEffect transition="in" filter="wipe(up)">
                                      <p:cBhvr>
                                        <p:cTn id="62" dur="500"/>
                                        <p:tgtEl>
                                          <p:spTgt spid="68"/>
                                        </p:tgtEl>
                                      </p:cBhvr>
                                    </p:animEffect>
                                  </p:childTnLst>
                                </p:cTn>
                              </p:par>
                            </p:childTnLst>
                          </p:cTn>
                        </p:par>
                      </p:childTnLst>
                    </p:cTn>
                  </p:par>
                  <p:par>
                    <p:cTn id="63" fill="hold">
                      <p:stCondLst>
                        <p:cond delay="indefinite"/>
                      </p:stCondLst>
                      <p:childTnLst>
                        <p:par>
                          <p:cTn id="64" fill="hold">
                            <p:stCondLst>
                              <p:cond delay="0"/>
                            </p:stCondLst>
                            <p:childTnLst>
                              <p:par>
                                <p:cTn id="65" presetID="57" presetClass="path" presetSubtype="0" accel="50000" decel="50000" fill="hold" nodeType="clickEffect">
                                  <p:stCondLst>
                                    <p:cond delay="0"/>
                                  </p:stCondLst>
                                  <p:childTnLst>
                                    <p:animMotion origin="layout" path="M -4.16667E-7 4.44444E-6 L -4.16667E-7 -0.02894 C -4.16667E-7 -0.0419 0.01289 -0.05764 0.02357 -0.05764 L 0.04714 -0.05764 " pathEditMode="relative" rAng="0" ptsTypes="AAAA">
                                      <p:cBhvr>
                                        <p:cTn id="66" dur="2000" fill="hold"/>
                                        <p:tgtEl>
                                          <p:spTgt spid="40"/>
                                        </p:tgtEl>
                                        <p:attrNameLst>
                                          <p:attrName>ppt_x</p:attrName>
                                          <p:attrName>ppt_y</p:attrName>
                                        </p:attrNameLst>
                                      </p:cBhvr>
                                      <p:rCtr x="2357" y="-2894"/>
                                    </p:animMotion>
                                  </p:childTnLst>
                                </p:cTn>
                              </p:par>
                              <p:par>
                                <p:cTn id="67" presetID="57" presetClass="path" presetSubtype="0" accel="50000" decel="50000" fill="hold" nodeType="withEffect">
                                  <p:stCondLst>
                                    <p:cond delay="0"/>
                                  </p:stCondLst>
                                  <p:childTnLst>
                                    <p:animMotion origin="layout" path="M -2.08333E-7 -1.11111E-6 L -2.08333E-7 -0.02893 C -2.08333E-7 -0.0419 0.01289 -0.05764 0.02357 -0.05764 L 0.04714 -0.05764 " pathEditMode="relative" rAng="0" ptsTypes="AAAA">
                                      <p:cBhvr>
                                        <p:cTn id="68" dur="2000" fill="hold"/>
                                        <p:tgtEl>
                                          <p:spTgt spid="32"/>
                                        </p:tgtEl>
                                        <p:attrNameLst>
                                          <p:attrName>ppt_x</p:attrName>
                                          <p:attrName>ppt_y</p:attrName>
                                        </p:attrNameLst>
                                      </p:cBhvr>
                                      <p:rCtr x="2357" y="-2894"/>
                                    </p:animMotion>
                                  </p:childTnLst>
                                </p:cTn>
                              </p:par>
                              <p:par>
                                <p:cTn id="69" presetID="43" presetClass="path" presetSubtype="0" accel="50000" decel="50000" fill="hold" nodeType="withEffect">
                                  <p:stCondLst>
                                    <p:cond delay="0"/>
                                  </p:stCondLst>
                                  <p:childTnLst>
                                    <p:animMotion origin="layout" path="M -0.04726 0.05903 L -0.0237 0.05903 C -0.01315 0.05903 -1.45833E-6 0.04259 -1.45833E-6 0.0294 L -1.45833E-6 -1.11111E-6 " pathEditMode="relative" rAng="0" ptsTypes="AAAA">
                                      <p:cBhvr>
                                        <p:cTn id="70" dur="2000" spd="-100000" fill="hold"/>
                                        <p:tgtEl>
                                          <p:spTgt spid="26"/>
                                        </p:tgtEl>
                                        <p:attrNameLst>
                                          <p:attrName>ppt_x</p:attrName>
                                          <p:attrName>ppt_y</p:attrName>
                                        </p:attrNameLst>
                                      </p:cBhvr>
                                      <p:rCtr x="2357" y="-2963"/>
                                    </p:animMotion>
                                  </p:childTnLst>
                                </p:cTn>
                              </p:par>
                              <p:par>
                                <p:cTn id="71" presetID="43" presetClass="path" presetSubtype="0" accel="50000" decel="50000" fill="hold" nodeType="withEffect">
                                  <p:stCondLst>
                                    <p:cond delay="0"/>
                                  </p:stCondLst>
                                  <p:childTnLst>
                                    <p:animMotion origin="layout" path="M -0.04726 0.05925 L -0.0237 0.05925 C -0.01315 0.05925 -1.45833E-6 0.04259 -1.45833E-6 0.02939 L -1.45833E-6 4.44444E-6 " pathEditMode="relative" rAng="0" ptsTypes="AAAA">
                                      <p:cBhvr>
                                        <p:cTn id="72" dur="2000" spd="-100000" fill="hold"/>
                                        <p:tgtEl>
                                          <p:spTgt spid="27"/>
                                        </p:tgtEl>
                                        <p:attrNameLst>
                                          <p:attrName>ppt_x</p:attrName>
                                          <p:attrName>ppt_y</p:attrName>
                                        </p:attrNameLst>
                                      </p:cBhvr>
                                      <p:rCtr x="2357" y="-2963"/>
                                    </p:animMotion>
                                  </p:childTnLst>
                                </p:cTn>
                              </p:par>
                              <p:par>
                                <p:cTn id="73" presetID="57" presetClass="path" presetSubtype="0" accel="50000" decel="50000" fill="hold" grpId="0" nodeType="withEffect">
                                  <p:stCondLst>
                                    <p:cond delay="0"/>
                                  </p:stCondLst>
                                  <p:childTnLst>
                                    <p:animMotion origin="layout" path="M -2.08333E-7 -4.07407E-6 L -2.08333E-7 -0.03009 C -2.08333E-7 -0.04328 0.01289 -0.05902 0.02344 -0.05902 L 0.04701 -0.05902 " pathEditMode="relative" rAng="0" ptsTypes="AAAA">
                                      <p:cBhvr>
                                        <p:cTn id="74" dur="2000" fill="hold"/>
                                        <p:tgtEl>
                                          <p:spTgt spid="68"/>
                                        </p:tgtEl>
                                        <p:attrNameLst>
                                          <p:attrName>ppt_x</p:attrName>
                                          <p:attrName>ppt_y</p:attrName>
                                        </p:attrNameLst>
                                      </p:cBhvr>
                                      <p:rCtr x="2344" y="-2963"/>
                                    </p:animMotion>
                                  </p:childTnLst>
                                </p:cTn>
                              </p:par>
                              <p:par>
                                <p:cTn id="75" presetID="43" presetClass="path" presetSubtype="0" accel="50000" decel="50000" fill="hold" grpId="0" nodeType="withEffect">
                                  <p:stCondLst>
                                    <p:cond delay="0"/>
                                  </p:stCondLst>
                                  <p:childTnLst>
                                    <p:animMotion origin="layout" path="M -0.04739 0.05949 L -0.0237 0.05949 C -0.01315 0.05949 -1.25E-6 0.04283 -1.25E-6 0.0294 L -1.25E-6 -4.07407E-6 " pathEditMode="relative" rAng="0" ptsTypes="AAAA">
                                      <p:cBhvr>
                                        <p:cTn id="76" dur="2000" spd="-100000" fill="hold"/>
                                        <p:tgtEl>
                                          <p:spTgt spid="69"/>
                                        </p:tgtEl>
                                        <p:attrNameLst>
                                          <p:attrName>ppt_x</p:attrName>
                                          <p:attrName>ppt_y</p:attrName>
                                        </p:attrNameLst>
                                      </p:cBhvr>
                                      <p:rCtr x="2370" y="-2986"/>
                                    </p:animMotion>
                                  </p:childTnLst>
                                </p:cTn>
                              </p:par>
                            </p:childTnLst>
                          </p:cTn>
                        </p:par>
                        <p:par>
                          <p:cTn id="77" fill="hold">
                            <p:stCondLst>
                              <p:cond delay="2000"/>
                            </p:stCondLst>
                            <p:childTnLst>
                              <p:par>
                                <p:cTn id="78" presetID="22" presetClass="entr" presetSubtype="1" fill="hold" grpId="0" nodeType="afterEffect">
                                  <p:stCondLst>
                                    <p:cond delay="0"/>
                                  </p:stCondLst>
                                  <p:childTnLst>
                                    <p:set>
                                      <p:cBhvr>
                                        <p:cTn id="79" dur="1" fill="hold">
                                          <p:stCondLst>
                                            <p:cond delay="0"/>
                                          </p:stCondLst>
                                        </p:cTn>
                                        <p:tgtEl>
                                          <p:spTgt spid="72"/>
                                        </p:tgtEl>
                                        <p:attrNameLst>
                                          <p:attrName>style.visibility</p:attrName>
                                        </p:attrNameLst>
                                      </p:cBhvr>
                                      <p:to>
                                        <p:strVal val="visible"/>
                                      </p:to>
                                    </p:set>
                                    <p:animEffect transition="in" filter="wipe(up)">
                                      <p:cBhvr>
                                        <p:cTn id="80" dur="500"/>
                                        <p:tgtEl>
                                          <p:spTgt spid="72"/>
                                        </p:tgtEl>
                                      </p:cBhvr>
                                    </p:animEffect>
                                  </p:childTnLst>
                                </p:cTn>
                              </p:par>
                            </p:childTnLst>
                          </p:cTn>
                        </p:par>
                        <p:par>
                          <p:cTn id="81" fill="hold">
                            <p:stCondLst>
                              <p:cond delay="2500"/>
                            </p:stCondLst>
                            <p:childTnLst>
                              <p:par>
                                <p:cTn id="82" presetID="22" presetClass="entr" presetSubtype="1" fill="hold" grpId="0" nodeType="afterEffect">
                                  <p:stCondLst>
                                    <p:cond delay="0"/>
                                  </p:stCondLst>
                                  <p:childTnLst>
                                    <p:set>
                                      <p:cBhvr>
                                        <p:cTn id="83" dur="1" fill="hold">
                                          <p:stCondLst>
                                            <p:cond delay="0"/>
                                          </p:stCondLst>
                                        </p:cTn>
                                        <p:tgtEl>
                                          <p:spTgt spid="73"/>
                                        </p:tgtEl>
                                        <p:attrNameLst>
                                          <p:attrName>style.visibility</p:attrName>
                                        </p:attrNameLst>
                                      </p:cBhvr>
                                      <p:to>
                                        <p:strVal val="visible"/>
                                      </p:to>
                                    </p:set>
                                    <p:animEffect transition="in" filter="wipe(up)">
                                      <p:cBhvr>
                                        <p:cTn id="84" dur="500"/>
                                        <p:tgtEl>
                                          <p:spTgt spid="73"/>
                                        </p:tgtEl>
                                      </p:cBhvr>
                                    </p:animEffect>
                                  </p:childTnLst>
                                </p:cTn>
                              </p:par>
                            </p:childTnLst>
                          </p:cTn>
                        </p:par>
                        <p:par>
                          <p:cTn id="85" fill="hold">
                            <p:stCondLst>
                              <p:cond delay="3000"/>
                            </p:stCondLst>
                            <p:childTnLst>
                              <p:par>
                                <p:cTn id="86" presetID="22" presetClass="entr" presetSubtype="1" fill="hold" grpId="0" nodeType="after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wipe(up)">
                                      <p:cBhvr>
                                        <p:cTn id="88" dur="500"/>
                                        <p:tgtEl>
                                          <p:spTgt spid="74"/>
                                        </p:tgtEl>
                                      </p:cBhvr>
                                    </p:animEffect>
                                  </p:childTnLst>
                                </p:cTn>
                              </p:par>
                              <p:par>
                                <p:cTn id="89" presetID="2" presetClass="entr" presetSubtype="8" fill="hold" nodeType="withEffect">
                                  <p:stCondLst>
                                    <p:cond delay="0"/>
                                  </p:stCondLst>
                                  <p:childTnLst>
                                    <p:set>
                                      <p:cBhvr>
                                        <p:cTn id="90" dur="1" fill="hold">
                                          <p:stCondLst>
                                            <p:cond delay="0"/>
                                          </p:stCondLst>
                                        </p:cTn>
                                        <p:tgtEl>
                                          <p:spTgt spid="49">
                                            <p:txEl>
                                              <p:pRg st="1" end="1"/>
                                            </p:txEl>
                                          </p:spTgt>
                                        </p:tgtEl>
                                        <p:attrNameLst>
                                          <p:attrName>style.visibility</p:attrName>
                                        </p:attrNameLst>
                                      </p:cBhvr>
                                      <p:to>
                                        <p:strVal val="visible"/>
                                      </p:to>
                                    </p:set>
                                    <p:anim calcmode="lin" valueType="num">
                                      <p:cBhvr additive="base">
                                        <p:cTn id="91" dur="500" fill="hold"/>
                                        <p:tgtEl>
                                          <p:spTgt spid="49">
                                            <p:txEl>
                                              <p:pRg st="1" end="1"/>
                                            </p:tx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49">
                                            <p:txEl>
                                              <p:pRg st="1" end="1"/>
                                            </p:txEl>
                                          </p:spTgt>
                                        </p:tgtEl>
                                        <p:attrNameLst>
                                          <p:attrName>ppt_y</p:attrName>
                                        </p:attrNameLst>
                                      </p:cBhvr>
                                      <p:tavLst>
                                        <p:tav tm="0">
                                          <p:val>
                                            <p:strVal val="#ppt_y"/>
                                          </p:val>
                                        </p:tav>
                                        <p:tav tm="100000">
                                          <p:val>
                                            <p:strVal val="#ppt_y"/>
                                          </p:val>
                                        </p:tav>
                                      </p:tavLst>
                                    </p:anim>
                                  </p:childTnLst>
                                </p:cTn>
                              </p:par>
                            </p:childTnLst>
                          </p:cTn>
                        </p:par>
                        <p:par>
                          <p:cTn id="93" fill="hold">
                            <p:stCondLst>
                              <p:cond delay="3500"/>
                            </p:stCondLst>
                            <p:childTnLst>
                              <p:par>
                                <p:cTn id="94" presetID="22" presetClass="entr" presetSubtype="4" fill="hold" grpId="0" nodeType="after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wipe(down)">
                                      <p:cBhvr>
                                        <p:cTn id="96" dur="500"/>
                                        <p:tgtEl>
                                          <p:spTgt spid="25"/>
                                        </p:tgtEl>
                                      </p:cBhvr>
                                    </p:animEffect>
                                  </p:childTnLst>
                                </p:cTn>
                              </p:par>
                              <p:par>
                                <p:cTn id="97" presetID="2" presetClass="entr" presetSubtype="8" fill="hold" nodeType="withEffect">
                                  <p:stCondLst>
                                    <p:cond delay="0"/>
                                  </p:stCondLst>
                                  <p:childTnLst>
                                    <p:set>
                                      <p:cBhvr>
                                        <p:cTn id="98" dur="1" fill="hold">
                                          <p:stCondLst>
                                            <p:cond delay="0"/>
                                          </p:stCondLst>
                                        </p:cTn>
                                        <p:tgtEl>
                                          <p:spTgt spid="49">
                                            <p:txEl>
                                              <p:pRg st="2" end="2"/>
                                            </p:txEl>
                                          </p:spTgt>
                                        </p:tgtEl>
                                        <p:attrNameLst>
                                          <p:attrName>style.visibility</p:attrName>
                                        </p:attrNameLst>
                                      </p:cBhvr>
                                      <p:to>
                                        <p:strVal val="visible"/>
                                      </p:to>
                                    </p:set>
                                    <p:anim calcmode="lin" valueType="num">
                                      <p:cBhvr additive="base">
                                        <p:cTn id="99" dur="500" fill="hold"/>
                                        <p:tgtEl>
                                          <p:spTgt spid="49">
                                            <p:txEl>
                                              <p:pRg st="2" end="2"/>
                                            </p:txEl>
                                          </p:spTgt>
                                        </p:tgtEl>
                                        <p:attrNameLst>
                                          <p:attrName>ppt_x</p:attrName>
                                        </p:attrNameLst>
                                      </p:cBhvr>
                                      <p:tavLst>
                                        <p:tav tm="0">
                                          <p:val>
                                            <p:strVal val="0-#ppt_w/2"/>
                                          </p:val>
                                        </p:tav>
                                        <p:tav tm="100000">
                                          <p:val>
                                            <p:strVal val="#ppt_x"/>
                                          </p:val>
                                        </p:tav>
                                      </p:tavLst>
                                    </p:anim>
                                    <p:anim calcmode="lin" valueType="num">
                                      <p:cBhvr additive="base">
                                        <p:cTn id="100" dur="500" fill="hold"/>
                                        <p:tgtEl>
                                          <p:spTgt spid="49">
                                            <p:txEl>
                                              <p:pRg st="2" end="2"/>
                                            </p:txEl>
                                          </p:spTgt>
                                        </p:tgtEl>
                                        <p:attrNameLst>
                                          <p:attrName>ppt_y</p:attrName>
                                        </p:attrNameLst>
                                      </p:cBhvr>
                                      <p:tavLst>
                                        <p:tav tm="0">
                                          <p:val>
                                            <p:strVal val="#ppt_y"/>
                                          </p:val>
                                        </p:tav>
                                        <p:tav tm="100000">
                                          <p:val>
                                            <p:strVal val="#ppt_y"/>
                                          </p:val>
                                        </p:tav>
                                      </p:tavLst>
                                    </p:anim>
                                  </p:childTnLst>
                                </p:cTn>
                              </p:par>
                              <p:par>
                                <p:cTn id="101" presetID="2" presetClass="entr" presetSubtype="8" fill="hold" grpId="0" nodeType="withEffect">
                                  <p:stCondLst>
                                    <p:cond delay="0"/>
                                  </p:stCondLst>
                                  <p:childTnLst>
                                    <p:set>
                                      <p:cBhvr>
                                        <p:cTn id="102" dur="1" fill="hold">
                                          <p:stCondLst>
                                            <p:cond delay="0"/>
                                          </p:stCondLst>
                                        </p:cTn>
                                        <p:tgtEl>
                                          <p:spTgt spid="4"/>
                                        </p:tgtEl>
                                        <p:attrNameLst>
                                          <p:attrName>style.visibility</p:attrName>
                                        </p:attrNameLst>
                                      </p:cBhvr>
                                      <p:to>
                                        <p:strVal val="visible"/>
                                      </p:to>
                                    </p:set>
                                    <p:anim calcmode="lin" valueType="num">
                                      <p:cBhvr additive="base">
                                        <p:cTn id="103" dur="500" fill="hold"/>
                                        <p:tgtEl>
                                          <p:spTgt spid="4"/>
                                        </p:tgtEl>
                                        <p:attrNameLst>
                                          <p:attrName>ppt_x</p:attrName>
                                        </p:attrNameLst>
                                      </p:cBhvr>
                                      <p:tavLst>
                                        <p:tav tm="0">
                                          <p:val>
                                            <p:strVal val="0-#ppt_w/2"/>
                                          </p:val>
                                        </p:tav>
                                        <p:tav tm="100000">
                                          <p:val>
                                            <p:strVal val="#ppt_x"/>
                                          </p:val>
                                        </p:tav>
                                      </p:tavLst>
                                    </p:anim>
                                    <p:anim calcmode="lin" valueType="num">
                                      <p:cBhvr additive="base">
                                        <p:cTn id="10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xit" presetSubtype="1" fill="hold" grpId="1" nodeType="clickEffect">
                                  <p:stCondLst>
                                    <p:cond delay="0"/>
                                  </p:stCondLst>
                                  <p:childTnLst>
                                    <p:animEffect transition="out" filter="wipe(up)">
                                      <p:cBhvr>
                                        <p:cTn id="108" dur="500"/>
                                        <p:tgtEl>
                                          <p:spTgt spid="4"/>
                                        </p:tgtEl>
                                      </p:cBhvr>
                                    </p:animEffect>
                                    <p:set>
                                      <p:cBhvr>
                                        <p:cTn id="109" dur="1" fill="hold">
                                          <p:stCondLst>
                                            <p:cond delay="499"/>
                                          </p:stCondLst>
                                        </p:cTn>
                                        <p:tgtEl>
                                          <p:spTgt spid="4"/>
                                        </p:tgtEl>
                                        <p:attrNameLst>
                                          <p:attrName>style.visibility</p:attrName>
                                        </p:attrNameLst>
                                      </p:cBhvr>
                                      <p:to>
                                        <p:strVal val="hidden"/>
                                      </p:to>
                                    </p:set>
                                  </p:childTnLst>
                                </p:cTn>
                              </p:par>
                            </p:childTnLst>
                          </p:cTn>
                        </p:par>
                        <p:par>
                          <p:cTn id="110" fill="hold">
                            <p:stCondLst>
                              <p:cond delay="500"/>
                            </p:stCondLst>
                            <p:childTnLst>
                              <p:par>
                                <p:cTn id="111" presetID="22" presetClass="entr" presetSubtype="1" fill="hold" grpId="0" nodeType="afterEffect">
                                  <p:stCondLst>
                                    <p:cond delay="0"/>
                                  </p:stCondLst>
                                  <p:childTnLst>
                                    <p:set>
                                      <p:cBhvr>
                                        <p:cTn id="112" dur="1" fill="hold">
                                          <p:stCondLst>
                                            <p:cond delay="0"/>
                                          </p:stCondLst>
                                        </p:cTn>
                                        <p:tgtEl>
                                          <p:spTgt spid="5"/>
                                        </p:tgtEl>
                                        <p:attrNameLst>
                                          <p:attrName>style.visibility</p:attrName>
                                        </p:attrNameLst>
                                      </p:cBhvr>
                                      <p:to>
                                        <p:strVal val="visible"/>
                                      </p:to>
                                    </p:set>
                                    <p:animEffect transition="in" filter="wipe(up)">
                                      <p:cBhvr>
                                        <p:cTn id="113" dur="500"/>
                                        <p:tgtEl>
                                          <p:spTgt spid="5"/>
                                        </p:tgtEl>
                                      </p:cBhvr>
                                    </p:animEffect>
                                  </p:childTnLst>
                                </p:cTn>
                              </p:par>
                              <p:par>
                                <p:cTn id="114" presetID="22" presetClass="entr" presetSubtype="1" fill="hold" grpId="0" nodeType="withEffect">
                                  <p:stCondLst>
                                    <p:cond delay="0"/>
                                  </p:stCondLst>
                                  <p:childTnLst>
                                    <p:set>
                                      <p:cBhvr>
                                        <p:cTn id="115" dur="1" fill="hold">
                                          <p:stCondLst>
                                            <p:cond delay="0"/>
                                          </p:stCondLst>
                                        </p:cTn>
                                        <p:tgtEl>
                                          <p:spTgt spid="6"/>
                                        </p:tgtEl>
                                        <p:attrNameLst>
                                          <p:attrName>style.visibility</p:attrName>
                                        </p:attrNameLst>
                                      </p:cBhvr>
                                      <p:to>
                                        <p:strVal val="visible"/>
                                      </p:to>
                                    </p:set>
                                    <p:animEffect transition="in" filter="wipe(up)">
                                      <p:cBhvr>
                                        <p:cTn id="116" dur="500"/>
                                        <p:tgtEl>
                                          <p:spTgt spid="6"/>
                                        </p:tgtEl>
                                      </p:cBhvr>
                                    </p:animEffect>
                                  </p:childTnLst>
                                </p:cTn>
                              </p:par>
                              <p:par>
                                <p:cTn id="117" presetID="22" presetClass="entr" presetSubtype="8" fill="hold" nodeType="withEffect">
                                  <p:stCondLst>
                                    <p:cond delay="0"/>
                                  </p:stCondLst>
                                  <p:childTnLst>
                                    <p:set>
                                      <p:cBhvr>
                                        <p:cTn id="118" dur="1" fill="hold">
                                          <p:stCondLst>
                                            <p:cond delay="0"/>
                                          </p:stCondLst>
                                        </p:cTn>
                                        <p:tgtEl>
                                          <p:spTgt spid="7"/>
                                        </p:tgtEl>
                                        <p:attrNameLst>
                                          <p:attrName>style.visibility</p:attrName>
                                        </p:attrNameLst>
                                      </p:cBhvr>
                                      <p:to>
                                        <p:strVal val="visible"/>
                                      </p:to>
                                    </p:set>
                                    <p:animEffect transition="in" filter="wipe(left)">
                                      <p:cBhvr>
                                        <p:cTn id="119" dur="1000"/>
                                        <p:tgtEl>
                                          <p:spTgt spid="7"/>
                                        </p:tgtEl>
                                      </p:cBhvr>
                                    </p:animEffect>
                                  </p:childTnLst>
                                </p:cTn>
                              </p:par>
                              <p:par>
                                <p:cTn id="120" presetID="22" presetClass="entr" presetSubtype="8" fill="hold" nodeType="withEffect">
                                  <p:stCondLst>
                                    <p:cond delay="0"/>
                                  </p:stCondLst>
                                  <p:childTnLst>
                                    <p:set>
                                      <p:cBhvr>
                                        <p:cTn id="121" dur="1" fill="hold">
                                          <p:stCondLst>
                                            <p:cond delay="0"/>
                                          </p:stCondLst>
                                        </p:cTn>
                                        <p:tgtEl>
                                          <p:spTgt spid="8"/>
                                        </p:tgtEl>
                                        <p:attrNameLst>
                                          <p:attrName>style.visibility</p:attrName>
                                        </p:attrNameLst>
                                      </p:cBhvr>
                                      <p:to>
                                        <p:strVal val="visible"/>
                                      </p:to>
                                    </p:set>
                                    <p:animEffect transition="in" filter="wipe(left)">
                                      <p:cBhvr>
                                        <p:cTn id="122" dur="1000"/>
                                        <p:tgtEl>
                                          <p:spTgt spid="8"/>
                                        </p:tgtEl>
                                      </p:cBhvr>
                                    </p:animEffect>
                                  </p:childTnLst>
                                </p:cTn>
                              </p:par>
                              <p:par>
                                <p:cTn id="123" presetID="22" presetClass="entr" presetSubtype="8" fill="hold" grpId="0" nodeType="withEffect">
                                  <p:stCondLst>
                                    <p:cond delay="0"/>
                                  </p:stCondLst>
                                  <p:childTnLst>
                                    <p:set>
                                      <p:cBhvr>
                                        <p:cTn id="124" dur="1" fill="hold">
                                          <p:stCondLst>
                                            <p:cond delay="0"/>
                                          </p:stCondLst>
                                        </p:cTn>
                                        <p:tgtEl>
                                          <p:spTgt spid="9"/>
                                        </p:tgtEl>
                                        <p:attrNameLst>
                                          <p:attrName>style.visibility</p:attrName>
                                        </p:attrNameLst>
                                      </p:cBhvr>
                                      <p:to>
                                        <p:strVal val="visible"/>
                                      </p:to>
                                    </p:set>
                                    <p:animEffect transition="in" filter="wipe(left)">
                                      <p:cBhvr>
                                        <p:cTn id="125" dur="1000"/>
                                        <p:tgtEl>
                                          <p:spTgt spid="9"/>
                                        </p:tgtEl>
                                      </p:cBhvr>
                                    </p:animEffect>
                                  </p:childTnLst>
                                </p:cTn>
                              </p:par>
                              <p:par>
                                <p:cTn id="126" presetID="22" presetClass="entr" presetSubtype="8" fill="hold" nodeType="withEffect">
                                  <p:stCondLst>
                                    <p:cond delay="0"/>
                                  </p:stCondLst>
                                  <p:childTnLst>
                                    <p:set>
                                      <p:cBhvr>
                                        <p:cTn id="127" dur="1" fill="hold">
                                          <p:stCondLst>
                                            <p:cond delay="0"/>
                                          </p:stCondLst>
                                        </p:cTn>
                                        <p:tgtEl>
                                          <p:spTgt spid="10"/>
                                        </p:tgtEl>
                                        <p:attrNameLst>
                                          <p:attrName>style.visibility</p:attrName>
                                        </p:attrNameLst>
                                      </p:cBhvr>
                                      <p:to>
                                        <p:strVal val="visible"/>
                                      </p:to>
                                    </p:set>
                                    <p:animEffect transition="in" filter="wipe(left)">
                                      <p:cBhvr>
                                        <p:cTn id="128" dur="1000"/>
                                        <p:tgtEl>
                                          <p:spTgt spid="10"/>
                                        </p:tgtEl>
                                      </p:cBhvr>
                                    </p:animEffect>
                                  </p:childTnLst>
                                </p:cTn>
                              </p:par>
                              <p:par>
                                <p:cTn id="129" presetID="22" presetClass="entr" presetSubtype="8" fill="hold" grpId="0" nodeType="withEffect">
                                  <p:stCondLst>
                                    <p:cond delay="0"/>
                                  </p:stCondLst>
                                  <p:childTnLst>
                                    <p:set>
                                      <p:cBhvr>
                                        <p:cTn id="130" dur="1" fill="hold">
                                          <p:stCondLst>
                                            <p:cond delay="0"/>
                                          </p:stCondLst>
                                        </p:cTn>
                                        <p:tgtEl>
                                          <p:spTgt spid="11"/>
                                        </p:tgtEl>
                                        <p:attrNameLst>
                                          <p:attrName>style.visibility</p:attrName>
                                        </p:attrNameLst>
                                      </p:cBhvr>
                                      <p:to>
                                        <p:strVal val="visible"/>
                                      </p:to>
                                    </p:set>
                                    <p:animEffect transition="in" filter="wipe(left)">
                                      <p:cBhvr>
                                        <p:cTn id="131"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1" grpId="0" animBg="1"/>
      <p:bldP spid="68" grpId="0" animBg="1"/>
      <p:bldP spid="68" grpId="1" animBg="1"/>
      <p:bldP spid="69" grpId="0" animBg="1"/>
      <p:bldP spid="69" grpId="1" animBg="1"/>
      <p:bldP spid="48" grpId="0"/>
      <p:bldP spid="25" grpId="0"/>
      <p:bldP spid="72" grpId="0" animBg="1"/>
      <p:bldP spid="73" grpId="0" animBg="1"/>
      <p:bldP spid="74" grpId="0" animBg="1"/>
      <p:bldP spid="4" grpId="0"/>
      <p:bldP spid="4" grpId="1"/>
      <p:bldP spid="5" grpId="0"/>
      <p:bldP spid="6" grpId="0"/>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a:extLst>
            <a:ext uri="{FF2B5EF4-FFF2-40B4-BE49-F238E27FC236}">
              <a16:creationId xmlns:a16="http://schemas.microsoft.com/office/drawing/2014/main" id="{37C95386-BD9B-D2B6-4687-86351A680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99D55-0940-6B9A-0134-2973473064A5}"/>
              </a:ext>
            </a:extLst>
          </p:cNvPr>
          <p:cNvSpPr>
            <a:spLocks noGrp="1"/>
          </p:cNvSpPr>
          <p:nvPr>
            <p:ph type="title"/>
          </p:nvPr>
        </p:nvSpPr>
        <p:spPr>
          <a:ln w="28575">
            <a:noFill/>
          </a:ln>
        </p:spPr>
        <p:txBody>
          <a:bodyPr>
            <a:normAutofit/>
          </a:bodyPr>
          <a:lstStyle/>
          <a:p>
            <a:r>
              <a:rPr lang="ja-JP" altLang="en-US" b="1">
                <a:solidFill>
                  <a:schemeClr val="bg1"/>
                </a:solidFill>
                <a:effectLst/>
              </a:rPr>
              <a:t>本研究の貢献</a:t>
            </a:r>
            <a:endParaRPr lang="en-JP">
              <a:solidFill>
                <a:schemeClr val="bg1"/>
              </a:solidFill>
              <a:effectLst/>
            </a:endParaRPr>
          </a:p>
        </p:txBody>
      </p:sp>
      <p:sp>
        <p:nvSpPr>
          <p:cNvPr id="15" name="Subtitle 2">
            <a:extLst>
              <a:ext uri="{FF2B5EF4-FFF2-40B4-BE49-F238E27FC236}">
                <a16:creationId xmlns:a16="http://schemas.microsoft.com/office/drawing/2014/main" id="{04B5C16A-6E5B-995D-2C2D-6B328739D260}"/>
              </a:ext>
            </a:extLst>
          </p:cNvPr>
          <p:cNvSpPr txBox="1">
            <a:spLocks/>
          </p:cNvSpPr>
          <p:nvPr/>
        </p:nvSpPr>
        <p:spPr>
          <a:xfrm>
            <a:off x="838200" y="1302638"/>
            <a:ext cx="9144000" cy="3958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sz="2000">
                <a:solidFill>
                  <a:srgbClr val="A8D5BA"/>
                </a:solidFill>
              </a:rPr>
              <a:t>Our contributions</a:t>
            </a:r>
          </a:p>
        </p:txBody>
      </p:sp>
      <p:sp>
        <p:nvSpPr>
          <p:cNvPr id="7" name="Content Placeholder 2">
            <a:extLst>
              <a:ext uri="{FF2B5EF4-FFF2-40B4-BE49-F238E27FC236}">
                <a16:creationId xmlns:a16="http://schemas.microsoft.com/office/drawing/2014/main" id="{553AA32E-5DAD-9079-039A-7A7A4A27938D}"/>
              </a:ext>
            </a:extLst>
          </p:cNvPr>
          <p:cNvSpPr txBox="1">
            <a:spLocks/>
          </p:cNvSpPr>
          <p:nvPr/>
        </p:nvSpPr>
        <p:spPr>
          <a:xfrm>
            <a:off x="838199" y="1857601"/>
            <a:ext cx="10287001" cy="1571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b="1">
                <a:solidFill>
                  <a:srgbClr val="FF55C8"/>
                </a:solidFill>
                <a:effectLst>
                  <a:glow rad="63500">
                    <a:srgbClr val="00FFD5">
                      <a:alpha val="40000"/>
                    </a:srgbClr>
                  </a:glow>
                </a:effectLst>
              </a:rPr>
              <a:t>量子</a:t>
            </a:r>
            <a:r>
              <a:rPr lang="en-JP" b="1">
                <a:solidFill>
                  <a:srgbClr val="E0E0E0"/>
                </a:solidFill>
              </a:rPr>
              <a:t>証明（非分散）</a:t>
            </a:r>
            <a:endParaRPr lang="en-JP" sz="2400" b="1">
              <a:solidFill>
                <a:srgbClr val="E0E0E0"/>
              </a:solidFill>
            </a:endParaRPr>
          </a:p>
          <a:p>
            <a:pPr marL="0" indent="0">
              <a:lnSpc>
                <a:spcPct val="150000"/>
              </a:lnSpc>
              <a:buClr>
                <a:schemeClr val="bg1"/>
              </a:buClr>
              <a:buNone/>
            </a:pPr>
            <a:r>
              <a:rPr lang="en-JP" sz="2400" b="1">
                <a:solidFill>
                  <a:srgbClr val="E0E0E0"/>
                </a:solidFill>
              </a:rPr>
              <a:t>    １通の量子証明</a:t>
            </a:r>
            <a:r>
              <a:rPr lang="ja-JP" altLang="en-US" sz="2400" b="1">
                <a:solidFill>
                  <a:srgbClr val="E0E0E0"/>
                </a:solidFill>
              </a:rPr>
              <a:t>　　２</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JP" b="1">
              <a:solidFill>
                <a:srgbClr val="E0E0E0"/>
              </a:solidFill>
            </a:endParaRPr>
          </a:p>
        </p:txBody>
      </p:sp>
      <p:grpSp>
        <p:nvGrpSpPr>
          <p:cNvPr id="104" name="Group 103">
            <a:extLst>
              <a:ext uri="{FF2B5EF4-FFF2-40B4-BE49-F238E27FC236}">
                <a16:creationId xmlns:a16="http://schemas.microsoft.com/office/drawing/2014/main" id="{430E9F8A-317E-493D-8DD7-E11E5B73F704}"/>
              </a:ext>
            </a:extLst>
          </p:cNvPr>
          <p:cNvGrpSpPr/>
          <p:nvPr/>
        </p:nvGrpSpPr>
        <p:grpSpPr>
          <a:xfrm>
            <a:off x="3029827" y="2568513"/>
            <a:ext cx="1190185" cy="736643"/>
            <a:chOff x="3029827" y="2568513"/>
            <a:chExt cx="1190185" cy="736643"/>
          </a:xfrm>
        </p:grpSpPr>
        <p:sp>
          <p:nvSpPr>
            <p:cNvPr id="8" name="TextBox 7">
              <a:extLst>
                <a:ext uri="{FF2B5EF4-FFF2-40B4-BE49-F238E27FC236}">
                  <a16:creationId xmlns:a16="http://schemas.microsoft.com/office/drawing/2014/main" id="{85AB370E-EC48-3D6E-CE04-E14F53D33B43}"/>
                </a:ext>
              </a:extLst>
            </p:cNvPr>
            <p:cNvSpPr txBox="1">
              <a:spLocks noChangeAspect="1"/>
            </p:cNvSpPr>
            <p:nvPr/>
          </p:nvSpPr>
          <p:spPr>
            <a:xfrm>
              <a:off x="3467898" y="2568513"/>
              <a:ext cx="314042" cy="369332"/>
            </a:xfrm>
            <a:prstGeom prst="rect">
              <a:avLst/>
            </a:prstGeom>
            <a:noFill/>
          </p:spPr>
          <p:txBody>
            <a:bodyPr wrap="square" lIns="0" tIns="0" rIns="0" bIns="0" rtlCol="0">
              <a:spAutoFit/>
            </a:bodyPr>
            <a:lstStyle/>
            <a:p>
              <a:r>
                <a:rPr lang="en-JP" sz="2400">
                  <a:solidFill>
                    <a:srgbClr val="FF55C8"/>
                  </a:solidFill>
                  <a:effectLst>
                    <a:glow rad="63500">
                      <a:srgbClr val="00FFD5">
                        <a:alpha val="40000"/>
                      </a:srgbClr>
                    </a:glow>
                  </a:effectLst>
                </a:rPr>
                <a:t>＜</a:t>
              </a:r>
            </a:p>
          </p:txBody>
        </p:sp>
        <p:sp>
          <p:nvSpPr>
            <p:cNvPr id="9" name="TextBox 8">
              <a:extLst>
                <a:ext uri="{FF2B5EF4-FFF2-40B4-BE49-F238E27FC236}">
                  <a16:creationId xmlns:a16="http://schemas.microsoft.com/office/drawing/2014/main" id="{9F93B9C3-5ED2-E743-C70A-0089B454F709}"/>
                </a:ext>
              </a:extLst>
            </p:cNvPr>
            <p:cNvSpPr txBox="1"/>
            <p:nvPr/>
          </p:nvSpPr>
          <p:spPr>
            <a:xfrm>
              <a:off x="3029827" y="2935824"/>
              <a:ext cx="1190185" cy="369332"/>
            </a:xfrm>
            <a:prstGeom prst="rect">
              <a:avLst/>
            </a:prstGeom>
            <a:noFill/>
          </p:spPr>
          <p:txBody>
            <a:bodyPr wrap="square" rtlCol="0">
              <a:spAutoFit/>
            </a:bodyPr>
            <a:lstStyle/>
            <a:p>
              <a:pPr algn="ctr"/>
              <a:r>
                <a:rPr lang="en-JP">
                  <a:solidFill>
                    <a:srgbClr val="FF55C8"/>
                  </a:solidFill>
                  <a:effectLst>
                    <a:glow rad="63500">
                      <a:srgbClr val="00FFD5">
                        <a:alpha val="40000"/>
                      </a:srgbClr>
                    </a:glow>
                  </a:effectLst>
                </a:rPr>
                <a:t>（予想）</a:t>
              </a:r>
            </a:p>
          </p:txBody>
        </p:sp>
      </p:grpSp>
      <p:sp>
        <p:nvSpPr>
          <p:cNvPr id="77" name="TextBox 76">
            <a:extLst>
              <a:ext uri="{FF2B5EF4-FFF2-40B4-BE49-F238E27FC236}">
                <a16:creationId xmlns:a16="http://schemas.microsoft.com/office/drawing/2014/main" id="{3A76B5D6-78E9-BF8F-B5EB-BE9CEB11AE07}"/>
              </a:ext>
            </a:extLst>
          </p:cNvPr>
          <p:cNvSpPr txBox="1">
            <a:spLocks/>
          </p:cNvSpPr>
          <p:nvPr/>
        </p:nvSpPr>
        <p:spPr>
          <a:xfrm>
            <a:off x="8092269" y="6185098"/>
            <a:ext cx="3902403" cy="307777"/>
          </a:xfrm>
          <a:prstGeom prst="rect">
            <a:avLst/>
          </a:prstGeom>
          <a:noFill/>
        </p:spPr>
        <p:txBody>
          <a:bodyPr wrap="square" rtlCol="0" anchor="ctr">
            <a:spAutoFit/>
          </a:bodyPr>
          <a:lstStyle/>
          <a:p>
            <a:r>
              <a:rPr lang="en-JP" sz="1400">
                <a:solidFill>
                  <a:schemeClr val="bg1"/>
                </a:solidFill>
                <a:effectLst>
                  <a:glow rad="63500">
                    <a:schemeClr val="accent4">
                      <a:satMod val="175000"/>
                      <a:alpha val="40000"/>
                    </a:schemeClr>
                  </a:glow>
                </a:effectLst>
              </a:rPr>
              <a:t>[4] </a:t>
            </a:r>
            <a:r>
              <a:rPr lang="en-JP" sz="1400">
                <a:solidFill>
                  <a:schemeClr val="bg1"/>
                </a:solidFill>
              </a:rPr>
              <a:t>Harrow, Montanaro (2013)</a:t>
            </a:r>
          </a:p>
        </p:txBody>
      </p:sp>
      <p:grpSp>
        <p:nvGrpSpPr>
          <p:cNvPr id="81" name="Group 80">
            <a:extLst>
              <a:ext uri="{FF2B5EF4-FFF2-40B4-BE49-F238E27FC236}">
                <a16:creationId xmlns:a16="http://schemas.microsoft.com/office/drawing/2014/main" id="{8DCCA3A9-7E6A-9BDB-0B2A-A63D54C98960}"/>
              </a:ext>
            </a:extLst>
          </p:cNvPr>
          <p:cNvGrpSpPr/>
          <p:nvPr/>
        </p:nvGrpSpPr>
        <p:grpSpPr>
          <a:xfrm>
            <a:off x="8092269" y="5893819"/>
            <a:ext cx="3796275" cy="288001"/>
            <a:chOff x="8092269" y="5893819"/>
            <a:chExt cx="3796275" cy="288001"/>
          </a:xfrm>
        </p:grpSpPr>
        <p:cxnSp>
          <p:nvCxnSpPr>
            <p:cNvPr id="66" name="Straight Connector 65">
              <a:extLst>
                <a:ext uri="{FF2B5EF4-FFF2-40B4-BE49-F238E27FC236}">
                  <a16:creationId xmlns:a16="http://schemas.microsoft.com/office/drawing/2014/main" id="{BE7A653D-4D1D-F6E2-C0C1-7EDEBC1B165E}"/>
                </a:ext>
              </a:extLst>
            </p:cNvPr>
            <p:cNvCxnSpPr>
              <a:cxnSpLocks/>
            </p:cNvCxnSpPr>
            <p:nvPr/>
          </p:nvCxnSpPr>
          <p:spPr>
            <a:xfrm>
              <a:off x="8638140" y="6048079"/>
              <a:ext cx="3250404"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pic>
          <p:nvPicPr>
            <p:cNvPr id="67" name="Graphic 66" descr="Document with solid fill">
              <a:extLst>
                <a:ext uri="{FF2B5EF4-FFF2-40B4-BE49-F238E27FC236}">
                  <a16:creationId xmlns:a16="http://schemas.microsoft.com/office/drawing/2014/main" id="{BF6B5366-30B1-EBFE-DE5E-DA5984BD3F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46330" y="5893819"/>
              <a:ext cx="288001" cy="288001"/>
            </a:xfrm>
            <a:prstGeom prst="rect">
              <a:avLst/>
            </a:prstGeom>
          </p:spPr>
        </p:pic>
        <p:cxnSp>
          <p:nvCxnSpPr>
            <p:cNvPr id="78" name="Straight Connector 77">
              <a:extLst>
                <a:ext uri="{FF2B5EF4-FFF2-40B4-BE49-F238E27FC236}">
                  <a16:creationId xmlns:a16="http://schemas.microsoft.com/office/drawing/2014/main" id="{0E47A4E8-E103-E71C-F503-04A5ADD9672C}"/>
                </a:ext>
              </a:extLst>
            </p:cNvPr>
            <p:cNvCxnSpPr>
              <a:cxnSpLocks/>
            </p:cNvCxnSpPr>
            <p:nvPr/>
          </p:nvCxnSpPr>
          <p:spPr>
            <a:xfrm>
              <a:off x="8092269" y="6049210"/>
              <a:ext cx="254061"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grpSp>
      <p:grpSp>
        <p:nvGrpSpPr>
          <p:cNvPr id="82" name="Group 81">
            <a:extLst>
              <a:ext uri="{FF2B5EF4-FFF2-40B4-BE49-F238E27FC236}">
                <a16:creationId xmlns:a16="http://schemas.microsoft.com/office/drawing/2014/main" id="{20BC9A55-BBCF-3BA7-50B5-0D5BA19E448A}"/>
              </a:ext>
            </a:extLst>
          </p:cNvPr>
          <p:cNvGrpSpPr/>
          <p:nvPr/>
        </p:nvGrpSpPr>
        <p:grpSpPr>
          <a:xfrm>
            <a:off x="6153018" y="2029904"/>
            <a:ext cx="3919227" cy="984885"/>
            <a:chOff x="6153018" y="2029904"/>
            <a:chExt cx="3919227" cy="984885"/>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36D29FB-DA60-8442-E2EA-4A5683A60042}"/>
                    </a:ext>
                  </a:extLst>
                </p:cNvPr>
                <p:cNvSpPr txBox="1"/>
                <p:nvPr/>
              </p:nvSpPr>
              <p:spPr>
                <a:xfrm>
                  <a:off x="6153018" y="2491569"/>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chemeClr val="bg1"/>
                            </a:solidFill>
                            <a:effectLst>
                              <a:glow rad="63500">
                                <a:schemeClr val="accent4">
                                  <a:satMod val="175000"/>
                                  <a:alpha val="40000"/>
                                </a:schemeClr>
                              </a:glow>
                            </a:effectLst>
                            <a:latin typeface="Cambria Math" panose="02040503050406030204" pitchFamily="18" charset="0"/>
                            <a:ea typeface="Cambria Math" panose="02040503050406030204" pitchFamily="18" charset="0"/>
                          </a:rPr>
                          <m:t>≡</m:t>
                        </m:r>
                      </m:oMath>
                    </m:oMathPara>
                  </a14:m>
                  <a:endParaRPr lang="en-JP" sz="2000">
                    <a:solidFill>
                      <a:schemeClr val="bg1"/>
                    </a:solidFill>
                    <a:effectLst>
                      <a:glow rad="63500">
                        <a:schemeClr val="accent4">
                          <a:satMod val="175000"/>
                          <a:alpha val="40000"/>
                        </a:schemeClr>
                      </a:glow>
                    </a:effectLst>
                  </a:endParaRPr>
                </a:p>
              </p:txBody>
            </p:sp>
          </mc:Choice>
          <mc:Fallback xmlns="">
            <p:sp>
              <p:nvSpPr>
                <p:cNvPr id="10" name="TextBox 9">
                  <a:extLst>
                    <a:ext uri="{FF2B5EF4-FFF2-40B4-BE49-F238E27FC236}">
                      <a16:creationId xmlns:a16="http://schemas.microsoft.com/office/drawing/2014/main" id="{F36D29FB-DA60-8442-E2EA-4A5683A60042}"/>
                    </a:ext>
                  </a:extLst>
                </p:cNvPr>
                <p:cNvSpPr txBox="1">
                  <a:spLocks noRot="1" noChangeAspect="1" noMove="1" noResize="1" noEditPoints="1" noAdjustHandles="1" noChangeArrowheads="1" noChangeShapeType="1" noTextEdit="1"/>
                </p:cNvSpPr>
                <p:nvPr/>
              </p:nvSpPr>
              <p:spPr>
                <a:xfrm>
                  <a:off x="6153018" y="2491569"/>
                  <a:ext cx="517242" cy="523220"/>
                </a:xfrm>
                <a:prstGeom prst="rect">
                  <a:avLst/>
                </a:prstGeom>
                <a:blipFill>
                  <a:blip r:embed="rId4"/>
                  <a:stretch>
                    <a:fillRect l="-2381" r="-2381"/>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F560251-DF85-50E6-1E93-DA782CC7DACC}"/>
                    </a:ext>
                  </a:extLst>
                </p:cNvPr>
                <p:cNvSpPr txBox="1"/>
                <p:nvPr/>
              </p:nvSpPr>
              <p:spPr>
                <a:xfrm>
                  <a:off x="9041338" y="2491569"/>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chemeClr val="bg1"/>
                            </a:solidFill>
                            <a:effectLst>
                              <a:glow rad="63500">
                                <a:schemeClr val="accent4">
                                  <a:satMod val="175000"/>
                                  <a:alpha val="40000"/>
                                </a:schemeClr>
                              </a:glow>
                            </a:effectLst>
                            <a:latin typeface="Cambria Math" panose="02040503050406030204" pitchFamily="18" charset="0"/>
                            <a:ea typeface="Cambria Math" panose="02040503050406030204" pitchFamily="18" charset="0"/>
                          </a:rPr>
                          <m:t>≡</m:t>
                        </m:r>
                      </m:oMath>
                    </m:oMathPara>
                  </a14:m>
                  <a:endParaRPr lang="en-JP" sz="2000">
                    <a:solidFill>
                      <a:schemeClr val="bg1"/>
                    </a:solidFill>
                    <a:effectLst>
                      <a:glow rad="63500">
                        <a:schemeClr val="accent4">
                          <a:satMod val="175000"/>
                          <a:alpha val="40000"/>
                        </a:schemeClr>
                      </a:glow>
                    </a:effectLst>
                  </a:endParaRPr>
                </a:p>
              </p:txBody>
            </p:sp>
          </mc:Choice>
          <mc:Fallback xmlns="">
            <p:sp>
              <p:nvSpPr>
                <p:cNvPr id="11" name="TextBox 10">
                  <a:extLst>
                    <a:ext uri="{FF2B5EF4-FFF2-40B4-BE49-F238E27FC236}">
                      <a16:creationId xmlns:a16="http://schemas.microsoft.com/office/drawing/2014/main" id="{AF560251-DF85-50E6-1E93-DA782CC7DACC}"/>
                    </a:ext>
                  </a:extLst>
                </p:cNvPr>
                <p:cNvSpPr txBox="1">
                  <a:spLocks noRot="1" noChangeAspect="1" noMove="1" noResize="1" noEditPoints="1" noAdjustHandles="1" noChangeArrowheads="1" noChangeShapeType="1" noTextEdit="1"/>
                </p:cNvSpPr>
                <p:nvPr/>
              </p:nvSpPr>
              <p:spPr>
                <a:xfrm>
                  <a:off x="9041338" y="2491569"/>
                  <a:ext cx="517242" cy="523220"/>
                </a:xfrm>
                <a:prstGeom prst="rect">
                  <a:avLst/>
                </a:prstGeom>
                <a:blipFill>
                  <a:blip r:embed="rId5"/>
                  <a:stretch>
                    <a:fillRect r="-2381"/>
                  </a:stretch>
                </a:blipFill>
              </p:spPr>
              <p:txBody>
                <a:bodyPr/>
                <a:lstStyle/>
                <a:p>
                  <a:r>
                    <a:rPr lang="en-JP">
                      <a:noFill/>
                    </a:rPr>
                    <a:t> </a:t>
                  </a:r>
                </a:p>
              </p:txBody>
            </p:sp>
          </mc:Fallback>
        </mc:AlternateContent>
        <p:sp>
          <p:nvSpPr>
            <p:cNvPr id="47" name="TextBox 46">
              <a:extLst>
                <a:ext uri="{FF2B5EF4-FFF2-40B4-BE49-F238E27FC236}">
                  <a16:creationId xmlns:a16="http://schemas.microsoft.com/office/drawing/2014/main" id="{EDFFA5C4-D61D-C2B8-2ECB-74FA597F2AD8}"/>
                </a:ext>
              </a:extLst>
            </p:cNvPr>
            <p:cNvSpPr txBox="1"/>
            <p:nvPr/>
          </p:nvSpPr>
          <p:spPr>
            <a:xfrm>
              <a:off x="6550180" y="2553124"/>
              <a:ext cx="2507674" cy="461665"/>
            </a:xfrm>
            <a:prstGeom prst="rect">
              <a:avLst/>
            </a:prstGeom>
            <a:noFill/>
          </p:spPr>
          <p:txBody>
            <a:bodyPr wrap="square" rtlCol="0">
              <a:spAutoFit/>
            </a:bodyPr>
            <a:lstStyle/>
            <a:p>
              <a:pPr algn="ctr"/>
              <a:r>
                <a:rPr lang="ja-JP" altLang="en-US" sz="2400" b="1">
                  <a:solidFill>
                    <a:srgbClr val="E0E0E0"/>
                  </a:solidFill>
                </a:rPr>
                <a:t>３</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JP" sz="2400" b="1">
                <a:solidFill>
                  <a:schemeClr val="bg1"/>
                </a:solidFill>
              </a:endParaRPr>
            </a:p>
          </p:txBody>
        </p:sp>
        <p:sp>
          <p:nvSpPr>
            <p:cNvPr id="64" name="TextBox 63">
              <a:extLst>
                <a:ext uri="{FF2B5EF4-FFF2-40B4-BE49-F238E27FC236}">
                  <a16:creationId xmlns:a16="http://schemas.microsoft.com/office/drawing/2014/main" id="{297CADBC-261F-5DEE-D10B-6C9770FEF3AE}"/>
                </a:ext>
              </a:extLst>
            </p:cNvPr>
            <p:cNvSpPr txBox="1"/>
            <p:nvPr/>
          </p:nvSpPr>
          <p:spPr>
            <a:xfrm>
              <a:off x="9455718" y="2478047"/>
              <a:ext cx="616527" cy="461665"/>
            </a:xfrm>
            <a:prstGeom prst="rect">
              <a:avLst/>
            </a:prstGeom>
            <a:noFill/>
          </p:spPr>
          <p:txBody>
            <a:bodyPr wrap="square" rtlCol="0">
              <a:spAutoFit/>
            </a:bodyPr>
            <a:lstStyle/>
            <a:p>
              <a:pPr algn="ctr"/>
              <a:r>
                <a:rPr lang="en-JP" sz="2400" b="1">
                  <a:solidFill>
                    <a:schemeClr val="bg1"/>
                  </a:solidFill>
                </a:rPr>
                <a:t>…</a:t>
              </a:r>
            </a:p>
          </p:txBody>
        </p:sp>
        <p:sp>
          <p:nvSpPr>
            <p:cNvPr id="79" name="TextBox 78">
              <a:extLst>
                <a:ext uri="{FF2B5EF4-FFF2-40B4-BE49-F238E27FC236}">
                  <a16:creationId xmlns:a16="http://schemas.microsoft.com/office/drawing/2014/main" id="{90BAD85F-B02F-CC50-19AF-37EB68DD0CCB}"/>
                </a:ext>
              </a:extLst>
            </p:cNvPr>
            <p:cNvSpPr txBox="1"/>
            <p:nvPr/>
          </p:nvSpPr>
          <p:spPr>
            <a:xfrm>
              <a:off x="6153018" y="2029904"/>
              <a:ext cx="517242" cy="400110"/>
            </a:xfrm>
            <a:prstGeom prst="rect">
              <a:avLst/>
            </a:prstGeom>
            <a:noFill/>
          </p:spPr>
          <p:txBody>
            <a:bodyPr wrap="square" rtlCol="0">
              <a:spAutoFit/>
            </a:bodyPr>
            <a:lstStyle/>
            <a:p>
              <a:pPr algn="ctr"/>
              <a:r>
                <a:rPr lang="en-JP" sz="2000">
                  <a:solidFill>
                    <a:schemeClr val="bg1"/>
                  </a:solidFill>
                  <a:effectLst>
                    <a:glow rad="63500">
                      <a:schemeClr val="accent4">
                        <a:satMod val="175000"/>
                        <a:alpha val="40000"/>
                      </a:schemeClr>
                    </a:glow>
                  </a:effectLst>
                </a:rPr>
                <a:t>[4]</a:t>
              </a:r>
            </a:p>
          </p:txBody>
        </p:sp>
        <p:sp>
          <p:nvSpPr>
            <p:cNvPr id="80" name="TextBox 79">
              <a:extLst>
                <a:ext uri="{FF2B5EF4-FFF2-40B4-BE49-F238E27FC236}">
                  <a16:creationId xmlns:a16="http://schemas.microsoft.com/office/drawing/2014/main" id="{821B2243-00FA-E112-99B3-FEA0D94A7AA6}"/>
                </a:ext>
              </a:extLst>
            </p:cNvPr>
            <p:cNvSpPr txBox="1"/>
            <p:nvPr/>
          </p:nvSpPr>
          <p:spPr>
            <a:xfrm>
              <a:off x="9041338" y="2029904"/>
              <a:ext cx="517242" cy="400110"/>
            </a:xfrm>
            <a:prstGeom prst="rect">
              <a:avLst/>
            </a:prstGeom>
            <a:noFill/>
          </p:spPr>
          <p:txBody>
            <a:bodyPr wrap="square" rtlCol="0">
              <a:spAutoFit/>
            </a:bodyPr>
            <a:lstStyle/>
            <a:p>
              <a:pPr algn="ctr"/>
              <a:r>
                <a:rPr lang="en-JP" sz="2000">
                  <a:solidFill>
                    <a:schemeClr val="bg1"/>
                  </a:solidFill>
                  <a:effectLst>
                    <a:glow rad="63500">
                      <a:schemeClr val="accent4">
                        <a:satMod val="175000"/>
                        <a:alpha val="40000"/>
                      </a:schemeClr>
                    </a:glow>
                  </a:effectLst>
                </a:rPr>
                <a:t>[4]</a:t>
              </a:r>
            </a:p>
          </p:txBody>
        </p:sp>
      </p:grpSp>
      <p:grpSp>
        <p:nvGrpSpPr>
          <p:cNvPr id="13" name="Group 12">
            <a:extLst>
              <a:ext uri="{FF2B5EF4-FFF2-40B4-BE49-F238E27FC236}">
                <a16:creationId xmlns:a16="http://schemas.microsoft.com/office/drawing/2014/main" id="{53577AC5-C144-F175-435A-806AE611B4D3}"/>
              </a:ext>
            </a:extLst>
          </p:cNvPr>
          <p:cNvGrpSpPr/>
          <p:nvPr/>
        </p:nvGrpSpPr>
        <p:grpSpPr>
          <a:xfrm>
            <a:off x="836544" y="3438897"/>
            <a:ext cx="10287001" cy="1451514"/>
            <a:chOff x="836544" y="3438897"/>
            <a:chExt cx="10287001" cy="1451514"/>
          </a:xfrm>
        </p:grpSpPr>
        <p:sp>
          <p:nvSpPr>
            <p:cNvPr id="5" name="Content Placeholder 2">
              <a:extLst>
                <a:ext uri="{FF2B5EF4-FFF2-40B4-BE49-F238E27FC236}">
                  <a16:creationId xmlns:a16="http://schemas.microsoft.com/office/drawing/2014/main" id="{AAED0157-B983-B52F-175F-D28CCB40BCC8}"/>
                </a:ext>
              </a:extLst>
            </p:cNvPr>
            <p:cNvSpPr txBox="1">
              <a:spLocks/>
            </p:cNvSpPr>
            <p:nvPr/>
          </p:nvSpPr>
          <p:spPr>
            <a:xfrm>
              <a:off x="836544" y="3438897"/>
              <a:ext cx="10287001" cy="13255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b="1">
                  <a:solidFill>
                    <a:srgbClr val="FF55C8"/>
                  </a:solidFill>
                  <a:effectLst>
                    <a:glow rad="63500">
                      <a:srgbClr val="00FFD5">
                        <a:alpha val="40000"/>
                      </a:srgbClr>
                    </a:glow>
                  </a:effectLst>
                </a:rPr>
                <a:t>量子</a:t>
              </a:r>
              <a:r>
                <a:rPr lang="en-JP" b="1">
                  <a:solidFill>
                    <a:srgbClr val="E0E0E0"/>
                  </a:solidFill>
                </a:rPr>
                <a:t>証明（分散）</a:t>
              </a:r>
              <a:endParaRPr lang="en-JP" sz="2400" b="1">
                <a:solidFill>
                  <a:srgbClr val="E0E0E0"/>
                </a:solidFill>
              </a:endParaRPr>
            </a:p>
            <a:p>
              <a:pPr marL="0" indent="0">
                <a:lnSpc>
                  <a:spcPct val="150000"/>
                </a:lnSpc>
                <a:buClr>
                  <a:schemeClr val="bg1"/>
                </a:buClr>
                <a:buNone/>
              </a:pPr>
              <a:r>
                <a:rPr lang="en-JP" sz="2400" b="1">
                  <a:solidFill>
                    <a:srgbClr val="E0E0E0"/>
                  </a:solidFill>
                </a:rPr>
                <a:t>    １通の量子証明</a:t>
              </a:r>
              <a:r>
                <a:rPr lang="ja-JP" altLang="en-US" sz="2400" b="1">
                  <a:solidFill>
                    <a:srgbClr val="E0E0E0"/>
                  </a:solidFill>
                </a:rPr>
                <a:t>　　２</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US" altLang="ja-JP" sz="2400" b="1" dirty="0">
                <a:solidFill>
                  <a:srgbClr val="E0E0E0"/>
                </a:solidFill>
              </a:endParaRPr>
            </a:p>
          </p:txBody>
        </p:sp>
        <p:grpSp>
          <p:nvGrpSpPr>
            <p:cNvPr id="106" name="Group 105">
              <a:extLst>
                <a:ext uri="{FF2B5EF4-FFF2-40B4-BE49-F238E27FC236}">
                  <a16:creationId xmlns:a16="http://schemas.microsoft.com/office/drawing/2014/main" id="{77F34011-8EF9-F9B4-E7B2-E5A53F17B2DB}"/>
                </a:ext>
              </a:extLst>
            </p:cNvPr>
            <p:cNvGrpSpPr/>
            <p:nvPr/>
          </p:nvGrpSpPr>
          <p:grpSpPr>
            <a:xfrm>
              <a:off x="3029826" y="4153768"/>
              <a:ext cx="1190185" cy="736643"/>
              <a:chOff x="3029827" y="2568513"/>
              <a:chExt cx="1190185" cy="736643"/>
            </a:xfrm>
          </p:grpSpPr>
          <p:sp>
            <p:nvSpPr>
              <p:cNvPr id="107" name="TextBox 106">
                <a:extLst>
                  <a:ext uri="{FF2B5EF4-FFF2-40B4-BE49-F238E27FC236}">
                    <a16:creationId xmlns:a16="http://schemas.microsoft.com/office/drawing/2014/main" id="{2F5A2F8C-D0A6-832F-1BE3-28F0A388E8AD}"/>
                  </a:ext>
                </a:extLst>
              </p:cNvPr>
              <p:cNvSpPr txBox="1">
                <a:spLocks noChangeAspect="1"/>
              </p:cNvSpPr>
              <p:nvPr/>
            </p:nvSpPr>
            <p:spPr>
              <a:xfrm>
                <a:off x="3467898" y="2568513"/>
                <a:ext cx="314042" cy="369332"/>
              </a:xfrm>
              <a:prstGeom prst="rect">
                <a:avLst/>
              </a:prstGeom>
              <a:noFill/>
            </p:spPr>
            <p:txBody>
              <a:bodyPr wrap="square" lIns="0" tIns="0" rIns="0" bIns="0" rtlCol="0">
                <a:spAutoFit/>
              </a:bodyPr>
              <a:lstStyle/>
              <a:p>
                <a:r>
                  <a:rPr lang="en-JP" sz="2400">
                    <a:solidFill>
                      <a:srgbClr val="FF55C8"/>
                    </a:solidFill>
                    <a:effectLst>
                      <a:glow rad="63500">
                        <a:srgbClr val="00FFD5">
                          <a:alpha val="40000"/>
                        </a:srgbClr>
                      </a:glow>
                    </a:effectLst>
                  </a:rPr>
                  <a:t>＜</a:t>
                </a:r>
              </a:p>
            </p:txBody>
          </p:sp>
          <p:sp>
            <p:nvSpPr>
              <p:cNvPr id="108" name="TextBox 107">
                <a:extLst>
                  <a:ext uri="{FF2B5EF4-FFF2-40B4-BE49-F238E27FC236}">
                    <a16:creationId xmlns:a16="http://schemas.microsoft.com/office/drawing/2014/main" id="{34ED9417-5663-9AF6-6274-D4835E107404}"/>
                  </a:ext>
                </a:extLst>
              </p:cNvPr>
              <p:cNvSpPr txBox="1"/>
              <p:nvPr/>
            </p:nvSpPr>
            <p:spPr>
              <a:xfrm>
                <a:off x="3029827" y="2935824"/>
                <a:ext cx="1190185" cy="369332"/>
              </a:xfrm>
              <a:prstGeom prst="rect">
                <a:avLst/>
              </a:prstGeom>
              <a:noFill/>
            </p:spPr>
            <p:txBody>
              <a:bodyPr wrap="square" rtlCol="0">
                <a:spAutoFit/>
              </a:bodyPr>
              <a:lstStyle/>
              <a:p>
                <a:pPr algn="ctr"/>
                <a:r>
                  <a:rPr lang="en-JP">
                    <a:solidFill>
                      <a:srgbClr val="FF55C8"/>
                    </a:solidFill>
                    <a:effectLst>
                      <a:glow rad="63500">
                        <a:srgbClr val="00FFD5">
                          <a:alpha val="40000"/>
                        </a:srgbClr>
                      </a:glow>
                    </a:effectLst>
                  </a:rPr>
                  <a:t>（予想）</a:t>
                </a:r>
              </a:p>
            </p:txBody>
          </p:sp>
        </p:grpSp>
        <p:sp>
          <p:nvSpPr>
            <p:cNvPr id="110" name="TextBox 109">
              <a:extLst>
                <a:ext uri="{FF2B5EF4-FFF2-40B4-BE49-F238E27FC236}">
                  <a16:creationId xmlns:a16="http://schemas.microsoft.com/office/drawing/2014/main" id="{39F0AA44-3A86-C05A-AB06-F65AA0195EAD}"/>
                </a:ext>
              </a:extLst>
            </p:cNvPr>
            <p:cNvSpPr txBox="1"/>
            <p:nvPr/>
          </p:nvSpPr>
          <p:spPr>
            <a:xfrm>
              <a:off x="6548400" y="4122615"/>
              <a:ext cx="2507674" cy="461665"/>
            </a:xfrm>
            <a:prstGeom prst="rect">
              <a:avLst/>
            </a:prstGeom>
            <a:noFill/>
          </p:spPr>
          <p:txBody>
            <a:bodyPr wrap="square" rtlCol="0">
              <a:spAutoFit/>
            </a:bodyPr>
            <a:lstStyle/>
            <a:p>
              <a:pPr algn="ctr"/>
              <a:r>
                <a:rPr lang="ja-JP" altLang="en-US" sz="2400" b="1">
                  <a:solidFill>
                    <a:srgbClr val="E0E0E0"/>
                  </a:solidFill>
                </a:rPr>
                <a:t>３</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JP" sz="2400" b="1">
                <a:solidFill>
                  <a:schemeClr val="bg1"/>
                </a:solidFill>
              </a:endParaRPr>
            </a:p>
          </p:txBody>
        </p:sp>
        <p:pic>
          <p:nvPicPr>
            <p:cNvPr id="113" name="Graphic 112" descr="Question Mark with solid fill">
              <a:extLst>
                <a:ext uri="{FF2B5EF4-FFF2-40B4-BE49-F238E27FC236}">
                  <a16:creationId xmlns:a16="http://schemas.microsoft.com/office/drawing/2014/main" id="{32F09302-D317-798B-2999-8242331AB0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4903" y="4160474"/>
              <a:ext cx="365760" cy="365760"/>
            </a:xfrm>
            <a:prstGeom prst="rect">
              <a:avLst/>
            </a:prstGeom>
            <a:effectLst>
              <a:glow rad="63500">
                <a:schemeClr val="accent4">
                  <a:satMod val="175000"/>
                  <a:alpha val="40000"/>
                </a:schemeClr>
              </a:glow>
            </a:effectLst>
          </p:spPr>
        </p:pic>
        <p:pic>
          <p:nvPicPr>
            <p:cNvPr id="114" name="Graphic 113" descr="Question Mark with solid fill">
              <a:extLst>
                <a:ext uri="{FF2B5EF4-FFF2-40B4-BE49-F238E27FC236}">
                  <a16:creationId xmlns:a16="http://schemas.microsoft.com/office/drawing/2014/main" id="{4A46E876-DB76-E5EB-D843-FD3503FA78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89958" y="4153768"/>
              <a:ext cx="365760" cy="365760"/>
            </a:xfrm>
            <a:prstGeom prst="rect">
              <a:avLst/>
            </a:prstGeom>
            <a:effectLst>
              <a:glow rad="63500">
                <a:schemeClr val="accent4">
                  <a:satMod val="175000"/>
                  <a:alpha val="40000"/>
                </a:schemeClr>
              </a:glow>
            </a:effectLst>
          </p:spPr>
        </p:pic>
        <p:sp>
          <p:nvSpPr>
            <p:cNvPr id="115" name="TextBox 114">
              <a:extLst>
                <a:ext uri="{FF2B5EF4-FFF2-40B4-BE49-F238E27FC236}">
                  <a16:creationId xmlns:a16="http://schemas.microsoft.com/office/drawing/2014/main" id="{F38A4D36-F87B-4B31-05FD-FE3A46C0C36A}"/>
                </a:ext>
              </a:extLst>
            </p:cNvPr>
            <p:cNvSpPr txBox="1"/>
            <p:nvPr/>
          </p:nvSpPr>
          <p:spPr>
            <a:xfrm>
              <a:off x="9455717" y="4057863"/>
              <a:ext cx="616527" cy="461665"/>
            </a:xfrm>
            <a:prstGeom prst="rect">
              <a:avLst/>
            </a:prstGeom>
            <a:noFill/>
          </p:spPr>
          <p:txBody>
            <a:bodyPr wrap="square" rtlCol="0">
              <a:spAutoFit/>
            </a:bodyPr>
            <a:lstStyle/>
            <a:p>
              <a:pPr algn="ctr"/>
              <a:r>
                <a:rPr lang="en-JP" sz="2400" b="1">
                  <a:solidFill>
                    <a:schemeClr val="bg1"/>
                  </a:solidFill>
                </a:rPr>
                <a:t>…</a:t>
              </a:r>
            </a:p>
          </p:txBody>
        </p:sp>
        <p:sp>
          <p:nvSpPr>
            <p:cNvPr id="116" name="TextBox 115">
              <a:extLst>
                <a:ext uri="{FF2B5EF4-FFF2-40B4-BE49-F238E27FC236}">
                  <a16:creationId xmlns:a16="http://schemas.microsoft.com/office/drawing/2014/main" id="{18FC74AF-55CA-2655-CC52-B9AC3D813429}"/>
                </a:ext>
              </a:extLst>
            </p:cNvPr>
            <p:cNvSpPr txBox="1"/>
            <p:nvPr/>
          </p:nvSpPr>
          <p:spPr>
            <a:xfrm>
              <a:off x="4937865" y="3616440"/>
              <a:ext cx="2919835" cy="461665"/>
            </a:xfrm>
            <a:prstGeom prst="rect">
              <a:avLst/>
            </a:prstGeom>
            <a:noFill/>
          </p:spPr>
          <p:txBody>
            <a:bodyPr wrap="square" rtlCol="0">
              <a:spAutoFit/>
            </a:bodyPr>
            <a:lstStyle/>
            <a:p>
              <a:pPr algn="ctr"/>
              <a:r>
                <a:rPr lang="en-JP" sz="2400">
                  <a:solidFill>
                    <a:schemeClr val="bg1"/>
                  </a:solidFill>
                  <a:effectLst>
                    <a:glow rad="63500">
                      <a:schemeClr val="accent4">
                        <a:satMod val="175000"/>
                        <a:alpha val="40000"/>
                      </a:schemeClr>
                    </a:glow>
                  </a:effectLst>
                </a:rPr>
                <a:t>難題</a:t>
              </a:r>
              <a:endParaRPr lang="en-JP">
                <a:solidFill>
                  <a:schemeClr val="bg1"/>
                </a:solidFill>
                <a:effectLst>
                  <a:glow rad="63500">
                    <a:schemeClr val="accent4">
                      <a:satMod val="175000"/>
                      <a:alpha val="40000"/>
                    </a:schemeClr>
                  </a:glow>
                </a:effectLst>
              </a:endParaRPr>
            </a:p>
          </p:txBody>
        </p:sp>
        <p:sp>
          <p:nvSpPr>
            <p:cNvPr id="117" name="TextBox 116">
              <a:extLst>
                <a:ext uri="{FF2B5EF4-FFF2-40B4-BE49-F238E27FC236}">
                  <a16:creationId xmlns:a16="http://schemas.microsoft.com/office/drawing/2014/main" id="{578182CC-BCFB-7022-496E-388EE8D817D9}"/>
                </a:ext>
              </a:extLst>
            </p:cNvPr>
            <p:cNvSpPr txBox="1"/>
            <p:nvPr/>
          </p:nvSpPr>
          <p:spPr>
            <a:xfrm>
              <a:off x="7802237" y="3616440"/>
              <a:ext cx="2919835" cy="461665"/>
            </a:xfrm>
            <a:prstGeom prst="rect">
              <a:avLst/>
            </a:prstGeom>
            <a:noFill/>
          </p:spPr>
          <p:txBody>
            <a:bodyPr wrap="square" rtlCol="0">
              <a:spAutoFit/>
            </a:bodyPr>
            <a:lstStyle/>
            <a:p>
              <a:pPr algn="ctr"/>
              <a:r>
                <a:rPr lang="en-JP" sz="2400">
                  <a:solidFill>
                    <a:schemeClr val="bg1"/>
                  </a:solidFill>
                  <a:effectLst>
                    <a:glow rad="63500">
                      <a:schemeClr val="accent4">
                        <a:satMod val="175000"/>
                        <a:alpha val="40000"/>
                      </a:schemeClr>
                    </a:glow>
                  </a:effectLst>
                </a:rPr>
                <a:t>難題</a:t>
              </a:r>
              <a:endParaRPr lang="en-JP">
                <a:solidFill>
                  <a:schemeClr val="bg1"/>
                </a:solidFill>
                <a:effectLst>
                  <a:glow rad="63500">
                    <a:schemeClr val="accent4">
                      <a:satMod val="175000"/>
                      <a:alpha val="40000"/>
                    </a:schemeClr>
                  </a:glow>
                </a:effectLst>
              </a:endParaRPr>
            </a:p>
          </p:txBody>
        </p:sp>
      </p:grpSp>
      <p:sp>
        <p:nvSpPr>
          <p:cNvPr id="121" name="Rectangle 120">
            <a:extLst>
              <a:ext uri="{FF2B5EF4-FFF2-40B4-BE49-F238E27FC236}">
                <a16:creationId xmlns:a16="http://schemas.microsoft.com/office/drawing/2014/main" id="{1EE9FB78-C00D-D175-FFFF-A6D088B4A510}"/>
              </a:ext>
            </a:extLst>
          </p:cNvPr>
          <p:cNvSpPr/>
          <p:nvPr/>
        </p:nvSpPr>
        <p:spPr>
          <a:xfrm>
            <a:off x="1122218" y="2478047"/>
            <a:ext cx="5092685" cy="827109"/>
          </a:xfrm>
          <a:prstGeom prst="rect">
            <a:avLst/>
          </a:prstGeom>
          <a:noFill/>
          <a:ln>
            <a:solidFill>
              <a:schemeClr val="bg1"/>
            </a:solidFill>
          </a:ln>
          <a:effectLst>
            <a:glow rad="762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139700">
                  <a:schemeClr val="accent4">
                    <a:satMod val="175000"/>
                    <a:alpha val="40000"/>
                  </a:schemeClr>
                </a:glow>
              </a:effectLst>
            </a:endParaRPr>
          </a:p>
        </p:txBody>
      </p:sp>
      <p:grpSp>
        <p:nvGrpSpPr>
          <p:cNvPr id="14" name="Group 13">
            <a:extLst>
              <a:ext uri="{FF2B5EF4-FFF2-40B4-BE49-F238E27FC236}">
                <a16:creationId xmlns:a16="http://schemas.microsoft.com/office/drawing/2014/main" id="{859CC462-6A66-2B11-FCF8-B43AD5B4FE7E}"/>
              </a:ext>
            </a:extLst>
          </p:cNvPr>
          <p:cNvGrpSpPr/>
          <p:nvPr/>
        </p:nvGrpSpPr>
        <p:grpSpPr>
          <a:xfrm>
            <a:off x="838198" y="4686054"/>
            <a:ext cx="10515601" cy="1365303"/>
            <a:chOff x="838198" y="4686054"/>
            <a:chExt cx="10515601" cy="1365303"/>
          </a:xfrm>
        </p:grpSpPr>
        <mc:AlternateContent xmlns:mc="http://schemas.openxmlformats.org/markup-compatibility/2006" xmlns:a14="http://schemas.microsoft.com/office/drawing/2010/main">
          <mc:Choice Requires="a14">
            <p:sp>
              <p:nvSpPr>
                <p:cNvPr id="101" name="Content Placeholder 2">
                  <a:extLst>
                    <a:ext uri="{FF2B5EF4-FFF2-40B4-BE49-F238E27FC236}">
                      <a16:creationId xmlns:a16="http://schemas.microsoft.com/office/drawing/2014/main" id="{967DC680-F72C-AB7C-8550-B2C6C0D2758E}"/>
                    </a:ext>
                  </a:extLst>
                </p:cNvPr>
                <p:cNvSpPr txBox="1">
                  <a:spLocks/>
                </p:cNvSpPr>
                <p:nvPr/>
              </p:nvSpPr>
              <p:spPr>
                <a:xfrm>
                  <a:off x="838198" y="4686054"/>
                  <a:ext cx="10287001" cy="13653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300000"/>
                    </a:lnSpc>
                    <a:buClr>
                      <a:schemeClr val="bg1"/>
                    </a:buClr>
                  </a:pPr>
                  <a:r>
                    <a:rPr lang="en-US" sz="2400" dirty="0">
                      <a:solidFill>
                        <a:srgbClr val="E0E0E0"/>
                      </a:solidFill>
                    </a:rPr>
                    <a:t>（分散）</a:t>
                  </a:r>
                  <a:r>
                    <a:rPr lang="en-JP" sz="2400" dirty="0">
                      <a:solidFill>
                        <a:schemeClr val="bg1"/>
                      </a:solidFill>
                    </a:rPr>
                    <a:t>２</a:t>
                  </a:r>
                  <a:r>
                    <a:rPr lang="en-US" sz="2400" dirty="0">
                      <a:solidFill>
                        <a:srgbClr val="E0E0E0"/>
                      </a:solidFill>
                    </a:rPr>
                    <a:t>通対 </a:t>
                  </a:r>
                  <a14:m>
                    <m:oMath xmlns:m="http://schemas.openxmlformats.org/officeDocument/2006/math">
                      <m:r>
                        <a:rPr lang="en-US" sz="2400" b="0" i="1" smtClean="0">
                          <a:solidFill>
                            <a:srgbClr val="E0E0E0"/>
                          </a:solidFill>
                          <a:latin typeface="Cambria Math" panose="02040503050406030204" pitchFamily="18" charset="0"/>
                        </a:rPr>
                        <m:t>𝑘</m:t>
                      </m:r>
                    </m:oMath>
                  </a14:m>
                  <a:r>
                    <a:rPr lang="en-US" sz="2400" dirty="0">
                      <a:solidFill>
                        <a:srgbClr val="E0E0E0"/>
                      </a:solidFill>
                    </a:rPr>
                    <a:t> 通の解決</a:t>
                  </a:r>
                </a:p>
              </p:txBody>
            </p:sp>
          </mc:Choice>
          <mc:Fallback xmlns="">
            <p:sp>
              <p:nvSpPr>
                <p:cNvPr id="101" name="Content Placeholder 2">
                  <a:extLst>
                    <a:ext uri="{FF2B5EF4-FFF2-40B4-BE49-F238E27FC236}">
                      <a16:creationId xmlns:a16="http://schemas.microsoft.com/office/drawing/2014/main" id="{967DC680-F72C-AB7C-8550-B2C6C0D2758E}"/>
                    </a:ext>
                  </a:extLst>
                </p:cNvPr>
                <p:cNvSpPr txBox="1">
                  <a:spLocks noRot="1" noChangeAspect="1" noMove="1" noResize="1" noEditPoints="1" noAdjustHandles="1" noChangeArrowheads="1" noChangeShapeType="1" noTextEdit="1"/>
                </p:cNvSpPr>
                <p:nvPr/>
              </p:nvSpPr>
              <p:spPr>
                <a:xfrm>
                  <a:off x="838198" y="4686054"/>
                  <a:ext cx="10287001" cy="1365303"/>
                </a:xfrm>
                <a:prstGeom prst="rect">
                  <a:avLst/>
                </a:prstGeom>
                <a:blipFill>
                  <a:blip r:embed="rId7"/>
                  <a:stretch>
                    <a:fillRect l="-739"/>
                  </a:stretch>
                </a:blipFill>
              </p:spPr>
              <p:txBody>
                <a:bodyPr/>
                <a:lstStyle/>
                <a:p>
                  <a:r>
                    <a:rPr lang="en-JP">
                      <a:noFill/>
                    </a:rPr>
                    <a:t> </a:t>
                  </a:r>
                </a:p>
              </p:txBody>
            </p:sp>
          </mc:Fallback>
        </mc:AlternateContent>
        <p:pic>
          <p:nvPicPr>
            <p:cNvPr id="119" name="Graphic 118" descr="Chevron arrows with solid fill">
              <a:extLst>
                <a:ext uri="{FF2B5EF4-FFF2-40B4-BE49-F238E27FC236}">
                  <a16:creationId xmlns:a16="http://schemas.microsoft.com/office/drawing/2014/main" id="{E36DA5DB-91C1-0457-0486-D7233418419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64739" y="5193056"/>
              <a:ext cx="469242" cy="469242"/>
            </a:xfrm>
            <a:prstGeom prst="rect">
              <a:avLst/>
            </a:prstGeom>
          </p:spPr>
        </p:pic>
        <p:sp>
          <p:nvSpPr>
            <p:cNvPr id="120" name="TextBox 119">
              <a:extLst>
                <a:ext uri="{FF2B5EF4-FFF2-40B4-BE49-F238E27FC236}">
                  <a16:creationId xmlns:a16="http://schemas.microsoft.com/office/drawing/2014/main" id="{5F4B7573-6AB8-8BBC-C285-CEFE341C4C1E}"/>
                </a:ext>
              </a:extLst>
            </p:cNvPr>
            <p:cNvSpPr txBox="1"/>
            <p:nvPr/>
          </p:nvSpPr>
          <p:spPr>
            <a:xfrm>
              <a:off x="5454977" y="5195301"/>
              <a:ext cx="4694519" cy="461665"/>
            </a:xfrm>
            <a:prstGeom prst="rect">
              <a:avLst/>
            </a:prstGeom>
            <a:noFill/>
          </p:spPr>
          <p:txBody>
            <a:bodyPr wrap="square" rtlCol="0">
              <a:spAutoFit/>
            </a:bodyPr>
            <a:lstStyle/>
            <a:p>
              <a:r>
                <a:rPr lang="en-JP" sz="2400" dirty="0">
                  <a:solidFill>
                    <a:schemeClr val="bg1"/>
                  </a:solidFill>
                </a:rPr>
                <a:t>（非分散） ２</a:t>
              </a:r>
              <a:r>
                <a:rPr lang="en-US" sz="2400" dirty="0">
                  <a:solidFill>
                    <a:srgbClr val="E0E0E0"/>
                  </a:solidFill>
                </a:rPr>
                <a:t>通対 １通の解決</a:t>
              </a:r>
              <a:endParaRPr lang="en-JP" sz="2400" dirty="0">
                <a:solidFill>
                  <a:schemeClr val="bg1"/>
                </a:solidFill>
              </a:endParaRPr>
            </a:p>
          </p:txBody>
        </p:sp>
        <p:pic>
          <p:nvPicPr>
            <p:cNvPr id="123" name="Graphic 122" descr="Chevron arrows with solid fill">
              <a:extLst>
                <a:ext uri="{FF2B5EF4-FFF2-40B4-BE49-F238E27FC236}">
                  <a16:creationId xmlns:a16="http://schemas.microsoft.com/office/drawing/2014/main" id="{5BB8896C-16D9-F4B6-BADE-8B33747C513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7623" y="5193210"/>
              <a:ext cx="469242" cy="469242"/>
            </a:xfrm>
            <a:prstGeom prst="rect">
              <a:avLst/>
            </a:prstGeom>
          </p:spPr>
        </p:pic>
        <p:sp>
          <p:nvSpPr>
            <p:cNvPr id="124" name="TextBox 123">
              <a:extLst>
                <a:ext uri="{FF2B5EF4-FFF2-40B4-BE49-F238E27FC236}">
                  <a16:creationId xmlns:a16="http://schemas.microsoft.com/office/drawing/2014/main" id="{2C22A52E-6D67-C668-F2C1-8ADE8FA31AE7}"/>
                </a:ext>
              </a:extLst>
            </p:cNvPr>
            <p:cNvSpPr txBox="1"/>
            <p:nvPr/>
          </p:nvSpPr>
          <p:spPr>
            <a:xfrm>
              <a:off x="10306864" y="5195301"/>
              <a:ext cx="1046935" cy="461665"/>
            </a:xfrm>
            <a:prstGeom prst="rect">
              <a:avLst/>
            </a:prstGeom>
            <a:noFill/>
          </p:spPr>
          <p:txBody>
            <a:bodyPr wrap="square" rtlCol="0">
              <a:spAutoFit/>
            </a:bodyPr>
            <a:lstStyle/>
            <a:p>
              <a:pPr algn="ctr"/>
              <a:r>
                <a:rPr lang="en-JP" sz="2400">
                  <a:solidFill>
                    <a:schemeClr val="bg1"/>
                  </a:solidFill>
                  <a:effectLst>
                    <a:glow rad="63500">
                      <a:schemeClr val="accent4">
                        <a:satMod val="175000"/>
                        <a:alpha val="40000"/>
                      </a:schemeClr>
                    </a:glow>
                  </a:effectLst>
                </a:rPr>
                <a:t>難題</a:t>
              </a:r>
              <a:endParaRPr lang="en-JP">
                <a:solidFill>
                  <a:schemeClr val="bg1"/>
                </a:solidFill>
                <a:effectLst>
                  <a:glow rad="63500">
                    <a:schemeClr val="accent4">
                      <a:satMod val="175000"/>
                      <a:alpha val="40000"/>
                    </a:schemeClr>
                  </a:glow>
                </a:effectLst>
              </a:endParaRPr>
            </a:p>
          </p:txBody>
        </p:sp>
        <p:pic>
          <p:nvPicPr>
            <p:cNvPr id="130" name="Graphic 129" descr="Anger Symbol with solid fill">
              <a:extLst>
                <a:ext uri="{FF2B5EF4-FFF2-40B4-BE49-F238E27FC236}">
                  <a16:creationId xmlns:a16="http://schemas.microsoft.com/office/drawing/2014/main" id="{C6859D07-68FA-31A4-2ED6-AF611F18F42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004819" y="4943681"/>
              <a:ext cx="348980" cy="348980"/>
            </a:xfrm>
            <a:prstGeom prst="rect">
              <a:avLst/>
            </a:prstGeom>
          </p:spPr>
        </p:pic>
      </p:grpSp>
      <p:pic>
        <p:nvPicPr>
          <p:cNvPr id="3" name="Graphic 2" descr="Balloons with solid fill">
            <a:extLst>
              <a:ext uri="{FF2B5EF4-FFF2-40B4-BE49-F238E27FC236}">
                <a16:creationId xmlns:a16="http://schemas.microsoft.com/office/drawing/2014/main" id="{942F0BAC-872D-9B9F-1118-C19480907A4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53339" y="520701"/>
            <a:ext cx="914400" cy="914400"/>
          </a:xfrm>
          <a:prstGeom prst="rect">
            <a:avLst/>
          </a:prstGeom>
        </p:spPr>
      </p:pic>
    </p:spTree>
    <p:extLst>
      <p:ext uri="{BB962C8B-B14F-4D97-AF65-F5344CB8AC3E}">
        <p14:creationId xmlns:p14="http://schemas.microsoft.com/office/powerpoint/2010/main" val="3318759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2000"/>
                                        <p:tgtEl>
                                          <p:spTgt spid="8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wipe(left)">
                                      <p:cBhvr>
                                        <p:cTn id="10" dur="1000"/>
                                        <p:tgtEl>
                                          <p:spTgt spid="77"/>
                                        </p:tgtEl>
                                      </p:cBhvr>
                                    </p:animEffect>
                                  </p:childTnLst>
                                </p:cTn>
                              </p:par>
                              <p:par>
                                <p:cTn id="11" presetID="22" presetClass="entr" presetSubtype="8" fill="hold"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wipe(left)">
                                      <p:cBhvr>
                                        <p:cTn id="13" dur="2000"/>
                                        <p:tgtEl>
                                          <p:spTgt spid="8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2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2000"/>
                                        <p:tgtEl>
                                          <p:spTgt spid="14"/>
                                        </p:tgtEl>
                                      </p:cBhvr>
                                    </p:animEffect>
                                  </p:childTnLst>
                                </p:cTn>
                              </p:par>
                            </p:childTnLst>
                          </p:cTn>
                        </p:par>
                        <p:par>
                          <p:cTn id="24" fill="hold">
                            <p:stCondLst>
                              <p:cond delay="2000"/>
                            </p:stCondLst>
                            <p:childTnLst>
                              <p:par>
                                <p:cTn id="25" presetID="10" presetClass="entr" presetSubtype="0" fill="hold" grpId="0" nodeType="afterEffect">
                                  <p:stCondLst>
                                    <p:cond delay="500"/>
                                  </p:stCondLst>
                                  <p:childTnLst>
                                    <p:set>
                                      <p:cBhvr>
                                        <p:cTn id="26" dur="1" fill="hold">
                                          <p:stCondLst>
                                            <p:cond delay="0"/>
                                          </p:stCondLst>
                                        </p:cTn>
                                        <p:tgtEl>
                                          <p:spTgt spid="121"/>
                                        </p:tgtEl>
                                        <p:attrNameLst>
                                          <p:attrName>style.visibility</p:attrName>
                                        </p:attrNameLst>
                                      </p:cBhvr>
                                      <p:to>
                                        <p:strVal val="visible"/>
                                      </p:to>
                                    </p:set>
                                    <p:animEffect transition="in" filter="fade">
                                      <p:cBhvr>
                                        <p:cTn id="27"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1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a:extLst>
            <a:ext uri="{FF2B5EF4-FFF2-40B4-BE49-F238E27FC236}">
              <a16:creationId xmlns:a16="http://schemas.microsoft.com/office/drawing/2014/main" id="{DF897E77-9357-C761-74C4-1AB2A2F5B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F9BE6-65F4-67EB-A67F-2C2CAE56993E}"/>
              </a:ext>
            </a:extLst>
          </p:cNvPr>
          <p:cNvSpPr>
            <a:spLocks noGrp="1"/>
          </p:cNvSpPr>
          <p:nvPr>
            <p:ph type="title"/>
          </p:nvPr>
        </p:nvSpPr>
        <p:spPr>
          <a:ln w="28575">
            <a:noFill/>
          </a:ln>
        </p:spPr>
        <p:txBody>
          <a:bodyPr>
            <a:normAutofit/>
          </a:bodyPr>
          <a:lstStyle/>
          <a:p>
            <a:r>
              <a:rPr lang="ja-JP" altLang="en-US" b="1">
                <a:solidFill>
                  <a:schemeClr val="bg1"/>
                </a:solidFill>
                <a:effectLst/>
              </a:rPr>
              <a:t>本研究の貢献</a:t>
            </a:r>
            <a:endParaRPr lang="en-JP">
              <a:solidFill>
                <a:schemeClr val="bg1"/>
              </a:solidFill>
              <a:effectLst/>
            </a:endParaRPr>
          </a:p>
        </p:txBody>
      </p:sp>
      <p:sp>
        <p:nvSpPr>
          <p:cNvPr id="15" name="Subtitle 2">
            <a:extLst>
              <a:ext uri="{FF2B5EF4-FFF2-40B4-BE49-F238E27FC236}">
                <a16:creationId xmlns:a16="http://schemas.microsoft.com/office/drawing/2014/main" id="{BC9EF096-62AC-9114-85B1-24C073B8D329}"/>
              </a:ext>
            </a:extLst>
          </p:cNvPr>
          <p:cNvSpPr txBox="1">
            <a:spLocks/>
          </p:cNvSpPr>
          <p:nvPr/>
        </p:nvSpPr>
        <p:spPr>
          <a:xfrm>
            <a:off x="838200" y="1302638"/>
            <a:ext cx="9144000" cy="3958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sz="2000">
                <a:solidFill>
                  <a:srgbClr val="A8D5BA"/>
                </a:solidFill>
              </a:rPr>
              <a:t>Our contributions</a:t>
            </a:r>
          </a:p>
        </p:txBody>
      </p:sp>
      <p:sp>
        <p:nvSpPr>
          <p:cNvPr id="7" name="Content Placeholder 2">
            <a:extLst>
              <a:ext uri="{FF2B5EF4-FFF2-40B4-BE49-F238E27FC236}">
                <a16:creationId xmlns:a16="http://schemas.microsoft.com/office/drawing/2014/main" id="{687939D0-82BB-5FCE-1E02-2E769B9EF477}"/>
              </a:ext>
            </a:extLst>
          </p:cNvPr>
          <p:cNvSpPr txBox="1">
            <a:spLocks/>
          </p:cNvSpPr>
          <p:nvPr/>
        </p:nvSpPr>
        <p:spPr>
          <a:xfrm>
            <a:off x="838199" y="1857601"/>
            <a:ext cx="10287001" cy="1571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b="1">
                <a:solidFill>
                  <a:srgbClr val="FF55C8"/>
                </a:solidFill>
                <a:effectLst>
                  <a:glow rad="63500">
                    <a:srgbClr val="00FFD5">
                      <a:alpha val="40000"/>
                    </a:srgbClr>
                  </a:glow>
                </a:effectLst>
              </a:rPr>
              <a:t>量子</a:t>
            </a:r>
            <a:r>
              <a:rPr lang="en-JP" b="1">
                <a:solidFill>
                  <a:srgbClr val="E0E0E0"/>
                </a:solidFill>
              </a:rPr>
              <a:t>証明（非分散）</a:t>
            </a:r>
            <a:endParaRPr lang="en-JP" sz="2400" b="1">
              <a:solidFill>
                <a:srgbClr val="E0E0E0"/>
              </a:solidFill>
            </a:endParaRPr>
          </a:p>
          <a:p>
            <a:pPr marL="0" indent="0">
              <a:lnSpc>
                <a:spcPct val="150000"/>
              </a:lnSpc>
              <a:buClr>
                <a:schemeClr val="bg1"/>
              </a:buClr>
              <a:buNone/>
            </a:pPr>
            <a:r>
              <a:rPr lang="en-JP" sz="2400" b="1">
                <a:solidFill>
                  <a:srgbClr val="E0E0E0"/>
                </a:solidFill>
              </a:rPr>
              <a:t>    １通の量子証明</a:t>
            </a:r>
            <a:r>
              <a:rPr lang="ja-JP" altLang="en-US" sz="2400" b="1">
                <a:solidFill>
                  <a:srgbClr val="E0E0E0"/>
                </a:solidFill>
              </a:rPr>
              <a:t>　　２</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JP" b="1">
              <a:solidFill>
                <a:srgbClr val="E0E0E0"/>
              </a:solidFill>
            </a:endParaRPr>
          </a:p>
        </p:txBody>
      </p:sp>
      <p:grpSp>
        <p:nvGrpSpPr>
          <p:cNvPr id="104" name="Group 103">
            <a:extLst>
              <a:ext uri="{FF2B5EF4-FFF2-40B4-BE49-F238E27FC236}">
                <a16:creationId xmlns:a16="http://schemas.microsoft.com/office/drawing/2014/main" id="{7A5DF9A4-56D3-5D45-6A6E-C4D99D6014AA}"/>
              </a:ext>
            </a:extLst>
          </p:cNvPr>
          <p:cNvGrpSpPr/>
          <p:nvPr/>
        </p:nvGrpSpPr>
        <p:grpSpPr>
          <a:xfrm>
            <a:off x="3029827" y="2568513"/>
            <a:ext cx="1190185" cy="736643"/>
            <a:chOff x="3029827" y="2568513"/>
            <a:chExt cx="1190185" cy="736643"/>
          </a:xfrm>
        </p:grpSpPr>
        <p:sp>
          <p:nvSpPr>
            <p:cNvPr id="8" name="TextBox 7">
              <a:extLst>
                <a:ext uri="{FF2B5EF4-FFF2-40B4-BE49-F238E27FC236}">
                  <a16:creationId xmlns:a16="http://schemas.microsoft.com/office/drawing/2014/main" id="{A7BF2490-9AEF-7C74-A07E-76D5E79536B7}"/>
                </a:ext>
              </a:extLst>
            </p:cNvPr>
            <p:cNvSpPr txBox="1">
              <a:spLocks noChangeAspect="1"/>
            </p:cNvSpPr>
            <p:nvPr/>
          </p:nvSpPr>
          <p:spPr>
            <a:xfrm>
              <a:off x="3467898" y="2568513"/>
              <a:ext cx="314042" cy="369332"/>
            </a:xfrm>
            <a:prstGeom prst="rect">
              <a:avLst/>
            </a:prstGeom>
            <a:noFill/>
          </p:spPr>
          <p:txBody>
            <a:bodyPr wrap="square" lIns="0" tIns="0" rIns="0" bIns="0" rtlCol="0">
              <a:spAutoFit/>
            </a:bodyPr>
            <a:lstStyle/>
            <a:p>
              <a:r>
                <a:rPr lang="en-JP" sz="2400">
                  <a:solidFill>
                    <a:srgbClr val="FF55C8"/>
                  </a:solidFill>
                  <a:effectLst>
                    <a:glow rad="63500">
                      <a:srgbClr val="00FFD5">
                        <a:alpha val="40000"/>
                      </a:srgbClr>
                    </a:glow>
                  </a:effectLst>
                </a:rPr>
                <a:t>＜</a:t>
              </a:r>
            </a:p>
          </p:txBody>
        </p:sp>
        <p:sp>
          <p:nvSpPr>
            <p:cNvPr id="9" name="TextBox 8">
              <a:extLst>
                <a:ext uri="{FF2B5EF4-FFF2-40B4-BE49-F238E27FC236}">
                  <a16:creationId xmlns:a16="http://schemas.microsoft.com/office/drawing/2014/main" id="{9F40CACE-08EB-DAB3-34E8-BEF18F27F35C}"/>
                </a:ext>
              </a:extLst>
            </p:cNvPr>
            <p:cNvSpPr txBox="1"/>
            <p:nvPr/>
          </p:nvSpPr>
          <p:spPr>
            <a:xfrm>
              <a:off x="3029827" y="2935824"/>
              <a:ext cx="1190185" cy="369332"/>
            </a:xfrm>
            <a:prstGeom prst="rect">
              <a:avLst/>
            </a:prstGeom>
            <a:noFill/>
          </p:spPr>
          <p:txBody>
            <a:bodyPr wrap="square" rtlCol="0">
              <a:spAutoFit/>
            </a:bodyPr>
            <a:lstStyle/>
            <a:p>
              <a:pPr algn="ctr"/>
              <a:r>
                <a:rPr lang="en-JP">
                  <a:solidFill>
                    <a:srgbClr val="FF55C8"/>
                  </a:solidFill>
                  <a:effectLst>
                    <a:glow rad="63500">
                      <a:srgbClr val="00FFD5">
                        <a:alpha val="40000"/>
                      </a:srgbClr>
                    </a:glow>
                  </a:effectLst>
                </a:rPr>
                <a:t>（予想）</a:t>
              </a:r>
            </a:p>
          </p:txBody>
        </p:sp>
      </p:grpSp>
      <p:sp>
        <p:nvSpPr>
          <p:cNvPr id="77" name="TextBox 76">
            <a:extLst>
              <a:ext uri="{FF2B5EF4-FFF2-40B4-BE49-F238E27FC236}">
                <a16:creationId xmlns:a16="http://schemas.microsoft.com/office/drawing/2014/main" id="{32E6486A-1CC4-C54D-3BCC-364174B44390}"/>
              </a:ext>
            </a:extLst>
          </p:cNvPr>
          <p:cNvSpPr txBox="1">
            <a:spLocks/>
          </p:cNvSpPr>
          <p:nvPr/>
        </p:nvSpPr>
        <p:spPr>
          <a:xfrm>
            <a:off x="8092269" y="6185098"/>
            <a:ext cx="3902403" cy="307777"/>
          </a:xfrm>
          <a:prstGeom prst="rect">
            <a:avLst/>
          </a:prstGeom>
          <a:noFill/>
        </p:spPr>
        <p:txBody>
          <a:bodyPr wrap="square" rtlCol="0" anchor="ctr">
            <a:spAutoFit/>
          </a:bodyPr>
          <a:lstStyle/>
          <a:p>
            <a:r>
              <a:rPr lang="en-JP" sz="1400">
                <a:solidFill>
                  <a:schemeClr val="bg1"/>
                </a:solidFill>
                <a:effectLst>
                  <a:glow rad="63500">
                    <a:schemeClr val="accent4">
                      <a:satMod val="175000"/>
                      <a:alpha val="40000"/>
                    </a:schemeClr>
                  </a:glow>
                </a:effectLst>
              </a:rPr>
              <a:t>[4]</a:t>
            </a:r>
            <a:r>
              <a:rPr lang="en-JP" sz="1400">
                <a:solidFill>
                  <a:srgbClr val="A8D5BA"/>
                </a:solidFill>
                <a:effectLst>
                  <a:glow rad="63500">
                    <a:schemeClr val="accent4">
                      <a:satMod val="175000"/>
                      <a:alpha val="40000"/>
                    </a:schemeClr>
                  </a:glow>
                </a:effectLst>
              </a:rPr>
              <a:t> </a:t>
            </a:r>
            <a:r>
              <a:rPr lang="en-JP" sz="1400">
                <a:solidFill>
                  <a:schemeClr val="bg1"/>
                </a:solidFill>
              </a:rPr>
              <a:t>Harrow, Montanaro (2013)</a:t>
            </a:r>
          </a:p>
        </p:txBody>
      </p:sp>
      <p:grpSp>
        <p:nvGrpSpPr>
          <p:cNvPr id="81" name="Group 80">
            <a:extLst>
              <a:ext uri="{FF2B5EF4-FFF2-40B4-BE49-F238E27FC236}">
                <a16:creationId xmlns:a16="http://schemas.microsoft.com/office/drawing/2014/main" id="{093436C4-D135-E022-9594-9C964DBBF0A5}"/>
              </a:ext>
            </a:extLst>
          </p:cNvPr>
          <p:cNvGrpSpPr/>
          <p:nvPr/>
        </p:nvGrpSpPr>
        <p:grpSpPr>
          <a:xfrm>
            <a:off x="8092269" y="5893819"/>
            <a:ext cx="3796275" cy="288001"/>
            <a:chOff x="8092269" y="5893819"/>
            <a:chExt cx="3796275" cy="288001"/>
          </a:xfrm>
        </p:grpSpPr>
        <p:cxnSp>
          <p:nvCxnSpPr>
            <p:cNvPr id="66" name="Straight Connector 65">
              <a:extLst>
                <a:ext uri="{FF2B5EF4-FFF2-40B4-BE49-F238E27FC236}">
                  <a16:creationId xmlns:a16="http://schemas.microsoft.com/office/drawing/2014/main" id="{82575ABD-B2C6-DFC9-ABEC-48D55D00E03F}"/>
                </a:ext>
              </a:extLst>
            </p:cNvPr>
            <p:cNvCxnSpPr>
              <a:cxnSpLocks/>
            </p:cNvCxnSpPr>
            <p:nvPr/>
          </p:nvCxnSpPr>
          <p:spPr>
            <a:xfrm>
              <a:off x="8638140" y="6048079"/>
              <a:ext cx="3250404"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pic>
          <p:nvPicPr>
            <p:cNvPr id="67" name="Graphic 66" descr="Document with solid fill">
              <a:extLst>
                <a:ext uri="{FF2B5EF4-FFF2-40B4-BE49-F238E27FC236}">
                  <a16:creationId xmlns:a16="http://schemas.microsoft.com/office/drawing/2014/main" id="{2462625D-74A9-ED22-C8D6-6FA2C3E42D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46330" y="5893819"/>
              <a:ext cx="288001" cy="288001"/>
            </a:xfrm>
            <a:prstGeom prst="rect">
              <a:avLst/>
            </a:prstGeom>
          </p:spPr>
        </p:pic>
        <p:cxnSp>
          <p:nvCxnSpPr>
            <p:cNvPr id="78" name="Straight Connector 77">
              <a:extLst>
                <a:ext uri="{FF2B5EF4-FFF2-40B4-BE49-F238E27FC236}">
                  <a16:creationId xmlns:a16="http://schemas.microsoft.com/office/drawing/2014/main" id="{3074EF04-94E4-7A87-9EB4-FE644517B8F1}"/>
                </a:ext>
              </a:extLst>
            </p:cNvPr>
            <p:cNvCxnSpPr>
              <a:cxnSpLocks/>
            </p:cNvCxnSpPr>
            <p:nvPr/>
          </p:nvCxnSpPr>
          <p:spPr>
            <a:xfrm>
              <a:off x="8092269" y="6049210"/>
              <a:ext cx="254061" cy="0"/>
            </a:xfrm>
            <a:prstGeom prst="line">
              <a:avLst/>
            </a:prstGeom>
            <a:ln w="15875">
              <a:solidFill>
                <a:srgbClr val="A8D5BA"/>
              </a:solidFill>
            </a:ln>
          </p:spPr>
          <p:style>
            <a:lnRef idx="2">
              <a:schemeClr val="accent1"/>
            </a:lnRef>
            <a:fillRef idx="0">
              <a:schemeClr val="accent1"/>
            </a:fillRef>
            <a:effectRef idx="1">
              <a:schemeClr val="accent1"/>
            </a:effectRef>
            <a:fontRef idx="minor">
              <a:schemeClr val="tx1"/>
            </a:fontRef>
          </p:style>
        </p:cxnSp>
      </p:grpSp>
      <p:grpSp>
        <p:nvGrpSpPr>
          <p:cNvPr id="82" name="Group 81">
            <a:extLst>
              <a:ext uri="{FF2B5EF4-FFF2-40B4-BE49-F238E27FC236}">
                <a16:creationId xmlns:a16="http://schemas.microsoft.com/office/drawing/2014/main" id="{C9FB8FD8-FB5E-C96D-C0A0-F2DFFF9554F2}"/>
              </a:ext>
            </a:extLst>
          </p:cNvPr>
          <p:cNvGrpSpPr/>
          <p:nvPr/>
        </p:nvGrpSpPr>
        <p:grpSpPr>
          <a:xfrm>
            <a:off x="6153018" y="2029904"/>
            <a:ext cx="3919227" cy="984885"/>
            <a:chOff x="6153018" y="2029904"/>
            <a:chExt cx="3919227" cy="984885"/>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E93D27F-0E0D-45A7-E24B-E0E8B6B4A9DA}"/>
                    </a:ext>
                  </a:extLst>
                </p:cNvPr>
                <p:cNvSpPr txBox="1"/>
                <p:nvPr/>
              </p:nvSpPr>
              <p:spPr>
                <a:xfrm>
                  <a:off x="6153018" y="2491569"/>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A8D5BA"/>
                            </a:solidFill>
                            <a:effectLst>
                              <a:glow rad="63500">
                                <a:schemeClr val="accent4">
                                  <a:satMod val="175000"/>
                                  <a:alpha val="40000"/>
                                </a:schemeClr>
                              </a:glow>
                            </a:effectLst>
                            <a:latin typeface="Cambria Math" panose="02040503050406030204" pitchFamily="18" charset="0"/>
                            <a:ea typeface="Cambria Math" panose="02040503050406030204" pitchFamily="18" charset="0"/>
                          </a:rPr>
                          <m:t>≡</m:t>
                        </m:r>
                      </m:oMath>
                    </m:oMathPara>
                  </a14:m>
                  <a:endParaRPr lang="en-JP" sz="2000">
                    <a:solidFill>
                      <a:srgbClr val="A8D5BA"/>
                    </a:solidFill>
                    <a:effectLst>
                      <a:glow rad="63500">
                        <a:schemeClr val="accent4">
                          <a:satMod val="175000"/>
                          <a:alpha val="40000"/>
                        </a:schemeClr>
                      </a:glow>
                    </a:effectLst>
                  </a:endParaRPr>
                </a:p>
              </p:txBody>
            </p:sp>
          </mc:Choice>
          <mc:Fallback xmlns="">
            <p:sp>
              <p:nvSpPr>
                <p:cNvPr id="10" name="TextBox 9">
                  <a:extLst>
                    <a:ext uri="{FF2B5EF4-FFF2-40B4-BE49-F238E27FC236}">
                      <a16:creationId xmlns:a16="http://schemas.microsoft.com/office/drawing/2014/main" id="{5E93D27F-0E0D-45A7-E24B-E0E8B6B4A9DA}"/>
                    </a:ext>
                  </a:extLst>
                </p:cNvPr>
                <p:cNvSpPr txBox="1">
                  <a:spLocks noRot="1" noChangeAspect="1" noMove="1" noResize="1" noEditPoints="1" noAdjustHandles="1" noChangeArrowheads="1" noChangeShapeType="1" noTextEdit="1"/>
                </p:cNvSpPr>
                <p:nvPr/>
              </p:nvSpPr>
              <p:spPr>
                <a:xfrm>
                  <a:off x="6153018" y="2491569"/>
                  <a:ext cx="517242" cy="523220"/>
                </a:xfrm>
                <a:prstGeom prst="rect">
                  <a:avLst/>
                </a:prstGeom>
                <a:blipFill>
                  <a:blip r:embed="rId4"/>
                  <a:stretch>
                    <a:fillRect l="-2381" r="-2381"/>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EED0F6A-C477-80DE-6708-4E6C2BFDEBCA}"/>
                    </a:ext>
                  </a:extLst>
                </p:cNvPr>
                <p:cNvSpPr txBox="1"/>
                <p:nvPr/>
              </p:nvSpPr>
              <p:spPr>
                <a:xfrm>
                  <a:off x="9041338" y="2491569"/>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A8D5BA"/>
                            </a:solidFill>
                            <a:effectLst>
                              <a:glow rad="63500">
                                <a:schemeClr val="accent4">
                                  <a:satMod val="175000"/>
                                  <a:alpha val="40000"/>
                                </a:schemeClr>
                              </a:glow>
                            </a:effectLst>
                            <a:latin typeface="Cambria Math" panose="02040503050406030204" pitchFamily="18" charset="0"/>
                            <a:ea typeface="Cambria Math" panose="02040503050406030204" pitchFamily="18" charset="0"/>
                          </a:rPr>
                          <m:t>≡</m:t>
                        </m:r>
                      </m:oMath>
                    </m:oMathPara>
                  </a14:m>
                  <a:endParaRPr lang="en-JP" sz="2000">
                    <a:solidFill>
                      <a:srgbClr val="A8D5BA"/>
                    </a:solidFill>
                    <a:effectLst>
                      <a:glow rad="63500">
                        <a:schemeClr val="accent4">
                          <a:satMod val="175000"/>
                          <a:alpha val="40000"/>
                        </a:schemeClr>
                      </a:glow>
                    </a:effectLst>
                  </a:endParaRPr>
                </a:p>
              </p:txBody>
            </p:sp>
          </mc:Choice>
          <mc:Fallback xmlns="">
            <p:sp>
              <p:nvSpPr>
                <p:cNvPr id="11" name="TextBox 10">
                  <a:extLst>
                    <a:ext uri="{FF2B5EF4-FFF2-40B4-BE49-F238E27FC236}">
                      <a16:creationId xmlns:a16="http://schemas.microsoft.com/office/drawing/2014/main" id="{DEED0F6A-C477-80DE-6708-4E6C2BFDEBCA}"/>
                    </a:ext>
                  </a:extLst>
                </p:cNvPr>
                <p:cNvSpPr txBox="1">
                  <a:spLocks noRot="1" noChangeAspect="1" noMove="1" noResize="1" noEditPoints="1" noAdjustHandles="1" noChangeArrowheads="1" noChangeShapeType="1" noTextEdit="1"/>
                </p:cNvSpPr>
                <p:nvPr/>
              </p:nvSpPr>
              <p:spPr>
                <a:xfrm>
                  <a:off x="9041338" y="2491569"/>
                  <a:ext cx="517242" cy="523220"/>
                </a:xfrm>
                <a:prstGeom prst="rect">
                  <a:avLst/>
                </a:prstGeom>
                <a:blipFill>
                  <a:blip r:embed="rId5"/>
                  <a:stretch>
                    <a:fillRect r="-2381"/>
                  </a:stretch>
                </a:blipFill>
              </p:spPr>
              <p:txBody>
                <a:bodyPr/>
                <a:lstStyle/>
                <a:p>
                  <a:r>
                    <a:rPr lang="en-JP">
                      <a:noFill/>
                    </a:rPr>
                    <a:t> </a:t>
                  </a:r>
                </a:p>
              </p:txBody>
            </p:sp>
          </mc:Fallback>
        </mc:AlternateContent>
        <p:sp>
          <p:nvSpPr>
            <p:cNvPr id="47" name="TextBox 46">
              <a:extLst>
                <a:ext uri="{FF2B5EF4-FFF2-40B4-BE49-F238E27FC236}">
                  <a16:creationId xmlns:a16="http://schemas.microsoft.com/office/drawing/2014/main" id="{EB2884E4-31C8-BDC3-9907-96AF08CDC136}"/>
                </a:ext>
              </a:extLst>
            </p:cNvPr>
            <p:cNvSpPr txBox="1"/>
            <p:nvPr/>
          </p:nvSpPr>
          <p:spPr>
            <a:xfrm>
              <a:off x="6550180" y="2553124"/>
              <a:ext cx="2507674" cy="461665"/>
            </a:xfrm>
            <a:prstGeom prst="rect">
              <a:avLst/>
            </a:prstGeom>
            <a:noFill/>
          </p:spPr>
          <p:txBody>
            <a:bodyPr wrap="square" rtlCol="0">
              <a:spAutoFit/>
            </a:bodyPr>
            <a:lstStyle/>
            <a:p>
              <a:pPr algn="ctr"/>
              <a:r>
                <a:rPr lang="ja-JP" altLang="en-US" sz="2400" b="1">
                  <a:solidFill>
                    <a:srgbClr val="E0E0E0"/>
                  </a:solidFill>
                </a:rPr>
                <a:t>３</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JP" sz="2400" b="1">
                <a:solidFill>
                  <a:schemeClr val="bg1"/>
                </a:solidFill>
              </a:endParaRPr>
            </a:p>
          </p:txBody>
        </p:sp>
        <p:sp>
          <p:nvSpPr>
            <p:cNvPr id="64" name="TextBox 63">
              <a:extLst>
                <a:ext uri="{FF2B5EF4-FFF2-40B4-BE49-F238E27FC236}">
                  <a16:creationId xmlns:a16="http://schemas.microsoft.com/office/drawing/2014/main" id="{C53D4155-21F4-4D80-4349-CE6461377863}"/>
                </a:ext>
              </a:extLst>
            </p:cNvPr>
            <p:cNvSpPr txBox="1"/>
            <p:nvPr/>
          </p:nvSpPr>
          <p:spPr>
            <a:xfrm>
              <a:off x="9455718" y="2478047"/>
              <a:ext cx="616527" cy="461665"/>
            </a:xfrm>
            <a:prstGeom prst="rect">
              <a:avLst/>
            </a:prstGeom>
            <a:noFill/>
          </p:spPr>
          <p:txBody>
            <a:bodyPr wrap="square" rtlCol="0">
              <a:spAutoFit/>
            </a:bodyPr>
            <a:lstStyle/>
            <a:p>
              <a:pPr algn="ctr"/>
              <a:r>
                <a:rPr lang="en-JP" sz="2400" b="1">
                  <a:solidFill>
                    <a:schemeClr val="bg1"/>
                  </a:solidFill>
                </a:rPr>
                <a:t>…</a:t>
              </a:r>
            </a:p>
          </p:txBody>
        </p:sp>
        <p:sp>
          <p:nvSpPr>
            <p:cNvPr id="79" name="TextBox 78">
              <a:extLst>
                <a:ext uri="{FF2B5EF4-FFF2-40B4-BE49-F238E27FC236}">
                  <a16:creationId xmlns:a16="http://schemas.microsoft.com/office/drawing/2014/main" id="{BB112389-49C7-5CA0-0A17-51D284C32693}"/>
                </a:ext>
              </a:extLst>
            </p:cNvPr>
            <p:cNvSpPr txBox="1"/>
            <p:nvPr/>
          </p:nvSpPr>
          <p:spPr>
            <a:xfrm>
              <a:off x="6153018" y="2029904"/>
              <a:ext cx="517242" cy="400110"/>
            </a:xfrm>
            <a:prstGeom prst="rect">
              <a:avLst/>
            </a:prstGeom>
            <a:noFill/>
          </p:spPr>
          <p:txBody>
            <a:bodyPr wrap="square" rtlCol="0">
              <a:spAutoFit/>
            </a:bodyPr>
            <a:lstStyle/>
            <a:p>
              <a:pPr algn="ctr"/>
              <a:r>
                <a:rPr lang="en-JP" sz="2000">
                  <a:solidFill>
                    <a:srgbClr val="A8D5BA"/>
                  </a:solidFill>
                  <a:effectLst>
                    <a:glow rad="63500">
                      <a:schemeClr val="accent4">
                        <a:satMod val="175000"/>
                        <a:alpha val="40000"/>
                      </a:schemeClr>
                    </a:glow>
                  </a:effectLst>
                </a:rPr>
                <a:t>[3]</a:t>
              </a:r>
            </a:p>
          </p:txBody>
        </p:sp>
        <p:sp>
          <p:nvSpPr>
            <p:cNvPr id="80" name="TextBox 79">
              <a:extLst>
                <a:ext uri="{FF2B5EF4-FFF2-40B4-BE49-F238E27FC236}">
                  <a16:creationId xmlns:a16="http://schemas.microsoft.com/office/drawing/2014/main" id="{2D0F51D6-CD7B-FBA1-CB50-7E4599825894}"/>
                </a:ext>
              </a:extLst>
            </p:cNvPr>
            <p:cNvSpPr txBox="1"/>
            <p:nvPr/>
          </p:nvSpPr>
          <p:spPr>
            <a:xfrm>
              <a:off x="9041338" y="2029904"/>
              <a:ext cx="517242" cy="400110"/>
            </a:xfrm>
            <a:prstGeom prst="rect">
              <a:avLst/>
            </a:prstGeom>
            <a:noFill/>
          </p:spPr>
          <p:txBody>
            <a:bodyPr wrap="square" rtlCol="0">
              <a:spAutoFit/>
            </a:bodyPr>
            <a:lstStyle/>
            <a:p>
              <a:pPr algn="ctr"/>
              <a:r>
                <a:rPr lang="en-JP" sz="2000">
                  <a:solidFill>
                    <a:srgbClr val="A8D5BA"/>
                  </a:solidFill>
                  <a:effectLst>
                    <a:glow rad="63500">
                      <a:schemeClr val="accent4">
                        <a:satMod val="175000"/>
                        <a:alpha val="40000"/>
                      </a:schemeClr>
                    </a:glow>
                  </a:effectLst>
                </a:rPr>
                <a:t>[3]</a:t>
              </a:r>
            </a:p>
          </p:txBody>
        </p:sp>
      </p:grpSp>
      <p:sp>
        <p:nvSpPr>
          <p:cNvPr id="101" name="Content Placeholder 2">
            <a:extLst>
              <a:ext uri="{FF2B5EF4-FFF2-40B4-BE49-F238E27FC236}">
                <a16:creationId xmlns:a16="http://schemas.microsoft.com/office/drawing/2014/main" id="{3E32C056-A371-1173-DB26-1026B95E3BDD}"/>
              </a:ext>
            </a:extLst>
          </p:cNvPr>
          <p:cNvSpPr txBox="1">
            <a:spLocks/>
          </p:cNvSpPr>
          <p:nvPr/>
        </p:nvSpPr>
        <p:spPr>
          <a:xfrm>
            <a:off x="838198" y="3441042"/>
            <a:ext cx="10287001" cy="26103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b="1">
                <a:solidFill>
                  <a:srgbClr val="FF55C8"/>
                </a:solidFill>
                <a:effectLst>
                  <a:glow rad="63500">
                    <a:srgbClr val="00FFD5">
                      <a:alpha val="40000"/>
                    </a:srgbClr>
                  </a:glow>
                </a:effectLst>
              </a:rPr>
              <a:t>量子</a:t>
            </a:r>
            <a:r>
              <a:rPr lang="en-JP" b="1">
                <a:solidFill>
                  <a:srgbClr val="E0E0E0"/>
                </a:solidFill>
              </a:rPr>
              <a:t>証明（分散・</a:t>
            </a:r>
            <a:r>
              <a:rPr lang="en-JP" b="1" u="sng">
                <a:solidFill>
                  <a:srgbClr val="00FFD5"/>
                </a:solidFill>
                <a:effectLst>
                  <a:glow rad="63500">
                    <a:srgbClr val="FF55C8">
                      <a:alpha val="40000"/>
                    </a:srgbClr>
                  </a:glow>
                </a:effectLst>
              </a:rPr>
              <a:t>可分証明</a:t>
            </a:r>
            <a:r>
              <a:rPr lang="en-JP" b="1">
                <a:solidFill>
                  <a:srgbClr val="E0E0E0"/>
                </a:solidFill>
              </a:rPr>
              <a:t>）</a:t>
            </a:r>
            <a:endParaRPr lang="en-JP" sz="2400" b="1">
              <a:solidFill>
                <a:srgbClr val="E0E0E0"/>
              </a:solidFill>
            </a:endParaRPr>
          </a:p>
          <a:p>
            <a:pPr marL="0" indent="0">
              <a:lnSpc>
                <a:spcPct val="150000"/>
              </a:lnSpc>
              <a:buClr>
                <a:schemeClr val="bg1"/>
              </a:buClr>
              <a:buNone/>
            </a:pPr>
            <a:r>
              <a:rPr lang="en-JP" sz="2400" b="1">
                <a:solidFill>
                  <a:srgbClr val="E0E0E0"/>
                </a:solidFill>
              </a:rPr>
              <a:t>    １通の量子証明</a:t>
            </a:r>
            <a:r>
              <a:rPr lang="ja-JP" altLang="en-US" sz="2400" b="1">
                <a:solidFill>
                  <a:srgbClr val="E0E0E0"/>
                </a:solidFill>
              </a:rPr>
              <a:t>　　２</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US" altLang="ja-JP" sz="2400" b="1" dirty="0">
              <a:solidFill>
                <a:srgbClr val="E0E0E0"/>
              </a:solidFill>
            </a:endParaRPr>
          </a:p>
          <a:p>
            <a:pPr>
              <a:lnSpc>
                <a:spcPct val="300000"/>
              </a:lnSpc>
              <a:buClr>
                <a:schemeClr val="bg1"/>
              </a:buClr>
            </a:pPr>
            <a:r>
              <a:rPr lang="ja-JP" altLang="en-US" sz="2400" b="1">
                <a:solidFill>
                  <a:srgbClr val="E0E0E0"/>
                </a:solidFill>
              </a:rPr>
              <a:t>そして、</a:t>
            </a:r>
            <a:r>
              <a:rPr lang="ja-JP" altLang="en-US" sz="2400" b="1">
                <a:solidFill>
                  <a:srgbClr val="00FFD5"/>
                </a:solidFill>
                <a:effectLst>
                  <a:glow rad="63500">
                    <a:srgbClr val="FF55C8">
                      <a:alpha val="40000"/>
                    </a:srgbClr>
                  </a:glow>
                </a:effectLst>
              </a:rPr>
              <a:t>通信オーバヘッド</a:t>
            </a:r>
            <a:r>
              <a:rPr lang="ja-JP" altLang="en-US" sz="2400" b="1">
                <a:solidFill>
                  <a:srgbClr val="E0E0E0"/>
                </a:solidFill>
              </a:rPr>
              <a:t>を許容する場合は</a:t>
            </a:r>
            <a:r>
              <a:rPr lang="en-US" altLang="ja-JP" sz="2400" b="1" dirty="0">
                <a:solidFill>
                  <a:srgbClr val="E0E0E0"/>
                </a:solidFill>
              </a:rPr>
              <a:t>…</a:t>
            </a:r>
          </a:p>
        </p:txBody>
      </p:sp>
      <p:grpSp>
        <p:nvGrpSpPr>
          <p:cNvPr id="106" name="Group 105">
            <a:extLst>
              <a:ext uri="{FF2B5EF4-FFF2-40B4-BE49-F238E27FC236}">
                <a16:creationId xmlns:a16="http://schemas.microsoft.com/office/drawing/2014/main" id="{F4961CBC-66C2-3BEC-BF10-5BF7FC2D7601}"/>
              </a:ext>
            </a:extLst>
          </p:cNvPr>
          <p:cNvGrpSpPr/>
          <p:nvPr/>
        </p:nvGrpSpPr>
        <p:grpSpPr>
          <a:xfrm>
            <a:off x="3029826" y="4153768"/>
            <a:ext cx="1190185" cy="736643"/>
            <a:chOff x="3029827" y="2568513"/>
            <a:chExt cx="1190185" cy="736643"/>
          </a:xfrm>
        </p:grpSpPr>
        <p:sp>
          <p:nvSpPr>
            <p:cNvPr id="107" name="TextBox 106">
              <a:extLst>
                <a:ext uri="{FF2B5EF4-FFF2-40B4-BE49-F238E27FC236}">
                  <a16:creationId xmlns:a16="http://schemas.microsoft.com/office/drawing/2014/main" id="{0A900E60-B6B5-47D6-844A-95516A8B52EC}"/>
                </a:ext>
              </a:extLst>
            </p:cNvPr>
            <p:cNvSpPr txBox="1">
              <a:spLocks noChangeAspect="1"/>
            </p:cNvSpPr>
            <p:nvPr/>
          </p:nvSpPr>
          <p:spPr>
            <a:xfrm>
              <a:off x="3467898" y="2568513"/>
              <a:ext cx="314042" cy="369332"/>
            </a:xfrm>
            <a:prstGeom prst="rect">
              <a:avLst/>
            </a:prstGeom>
            <a:noFill/>
          </p:spPr>
          <p:txBody>
            <a:bodyPr wrap="square" lIns="0" tIns="0" rIns="0" bIns="0" rtlCol="0">
              <a:spAutoFit/>
            </a:bodyPr>
            <a:lstStyle/>
            <a:p>
              <a:r>
                <a:rPr lang="en-JP" sz="2400">
                  <a:solidFill>
                    <a:srgbClr val="FF55C8"/>
                  </a:solidFill>
                  <a:effectLst>
                    <a:glow rad="63500">
                      <a:srgbClr val="00FFD5">
                        <a:alpha val="40000"/>
                      </a:srgbClr>
                    </a:glow>
                  </a:effectLst>
                </a:rPr>
                <a:t>＜</a:t>
              </a:r>
            </a:p>
          </p:txBody>
        </p:sp>
        <p:sp>
          <p:nvSpPr>
            <p:cNvPr id="108" name="TextBox 107">
              <a:extLst>
                <a:ext uri="{FF2B5EF4-FFF2-40B4-BE49-F238E27FC236}">
                  <a16:creationId xmlns:a16="http://schemas.microsoft.com/office/drawing/2014/main" id="{297302E9-59CA-40A0-169C-C83C637B830D}"/>
                </a:ext>
              </a:extLst>
            </p:cNvPr>
            <p:cNvSpPr txBox="1"/>
            <p:nvPr/>
          </p:nvSpPr>
          <p:spPr>
            <a:xfrm>
              <a:off x="3029827" y="2935824"/>
              <a:ext cx="1190185" cy="369332"/>
            </a:xfrm>
            <a:prstGeom prst="rect">
              <a:avLst/>
            </a:prstGeom>
            <a:noFill/>
          </p:spPr>
          <p:txBody>
            <a:bodyPr wrap="square" rtlCol="0">
              <a:spAutoFit/>
            </a:bodyPr>
            <a:lstStyle/>
            <a:p>
              <a:pPr algn="ctr"/>
              <a:r>
                <a:rPr lang="en-JP">
                  <a:solidFill>
                    <a:srgbClr val="FF55C8"/>
                  </a:solidFill>
                  <a:effectLst>
                    <a:glow rad="63500">
                      <a:srgbClr val="00FFD5">
                        <a:alpha val="40000"/>
                      </a:srgbClr>
                    </a:glow>
                  </a:effectLst>
                </a:rPr>
                <a:t>（予想）</a:t>
              </a:r>
            </a:p>
          </p:txBody>
        </p:sp>
      </p:grpSp>
      <p:sp>
        <p:nvSpPr>
          <p:cNvPr id="110" name="TextBox 109">
            <a:extLst>
              <a:ext uri="{FF2B5EF4-FFF2-40B4-BE49-F238E27FC236}">
                <a16:creationId xmlns:a16="http://schemas.microsoft.com/office/drawing/2014/main" id="{14CB0DC2-4DAB-FFB6-0ED7-18512E1E9E9B}"/>
              </a:ext>
            </a:extLst>
          </p:cNvPr>
          <p:cNvSpPr txBox="1"/>
          <p:nvPr/>
        </p:nvSpPr>
        <p:spPr>
          <a:xfrm>
            <a:off x="6548400" y="4122615"/>
            <a:ext cx="2507674" cy="461665"/>
          </a:xfrm>
          <a:prstGeom prst="rect">
            <a:avLst/>
          </a:prstGeom>
          <a:noFill/>
        </p:spPr>
        <p:txBody>
          <a:bodyPr wrap="square" rtlCol="0">
            <a:spAutoFit/>
          </a:bodyPr>
          <a:lstStyle/>
          <a:p>
            <a:pPr algn="ctr"/>
            <a:r>
              <a:rPr lang="ja-JP" altLang="en-US" sz="2400" b="1">
                <a:solidFill>
                  <a:srgbClr val="E0E0E0"/>
                </a:solidFill>
              </a:rPr>
              <a:t>３</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JP" sz="2400" b="1">
              <a:solidFill>
                <a:schemeClr val="bg1"/>
              </a:solidFill>
            </a:endParaRPr>
          </a:p>
        </p:txBody>
      </p:sp>
      <p:pic>
        <p:nvPicPr>
          <p:cNvPr id="113" name="Graphic 112" descr="Question Mark with solid fill">
            <a:extLst>
              <a:ext uri="{FF2B5EF4-FFF2-40B4-BE49-F238E27FC236}">
                <a16:creationId xmlns:a16="http://schemas.microsoft.com/office/drawing/2014/main" id="{9B9D515C-8679-A880-FCBA-8B7B95CDB57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4903" y="4160474"/>
            <a:ext cx="365760" cy="365760"/>
          </a:xfrm>
          <a:prstGeom prst="rect">
            <a:avLst/>
          </a:prstGeom>
          <a:effectLst>
            <a:glow rad="63500">
              <a:schemeClr val="accent4">
                <a:satMod val="175000"/>
                <a:alpha val="40000"/>
              </a:schemeClr>
            </a:glow>
          </a:effectLst>
        </p:spPr>
      </p:pic>
      <p:pic>
        <p:nvPicPr>
          <p:cNvPr id="114" name="Graphic 113" descr="Question Mark with solid fill">
            <a:extLst>
              <a:ext uri="{FF2B5EF4-FFF2-40B4-BE49-F238E27FC236}">
                <a16:creationId xmlns:a16="http://schemas.microsoft.com/office/drawing/2014/main" id="{812A88DF-5469-09BF-7496-DC4E62C2F9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89958" y="4153768"/>
            <a:ext cx="365760" cy="365760"/>
          </a:xfrm>
          <a:prstGeom prst="rect">
            <a:avLst/>
          </a:prstGeom>
          <a:effectLst>
            <a:glow rad="63500">
              <a:schemeClr val="accent4">
                <a:satMod val="175000"/>
                <a:alpha val="40000"/>
              </a:schemeClr>
            </a:glow>
          </a:effectLst>
        </p:spPr>
      </p:pic>
      <p:sp>
        <p:nvSpPr>
          <p:cNvPr id="115" name="TextBox 114">
            <a:extLst>
              <a:ext uri="{FF2B5EF4-FFF2-40B4-BE49-F238E27FC236}">
                <a16:creationId xmlns:a16="http://schemas.microsoft.com/office/drawing/2014/main" id="{0EA37AFF-F708-DE46-BFF4-F2BC3EF137B0}"/>
              </a:ext>
            </a:extLst>
          </p:cNvPr>
          <p:cNvSpPr txBox="1"/>
          <p:nvPr/>
        </p:nvSpPr>
        <p:spPr>
          <a:xfrm>
            <a:off x="9455717" y="4057863"/>
            <a:ext cx="616527" cy="461665"/>
          </a:xfrm>
          <a:prstGeom prst="rect">
            <a:avLst/>
          </a:prstGeom>
          <a:noFill/>
        </p:spPr>
        <p:txBody>
          <a:bodyPr wrap="square" rtlCol="0">
            <a:spAutoFit/>
          </a:bodyPr>
          <a:lstStyle/>
          <a:p>
            <a:pPr algn="ctr"/>
            <a:r>
              <a:rPr lang="en-JP" sz="2400" b="1">
                <a:solidFill>
                  <a:schemeClr val="bg1"/>
                </a:solidFill>
              </a:rPr>
              <a:t>…</a:t>
            </a:r>
          </a:p>
        </p:txBody>
      </p:sp>
      <p:sp>
        <p:nvSpPr>
          <p:cNvPr id="121" name="Rectangle 120">
            <a:extLst>
              <a:ext uri="{FF2B5EF4-FFF2-40B4-BE49-F238E27FC236}">
                <a16:creationId xmlns:a16="http://schemas.microsoft.com/office/drawing/2014/main" id="{BF968DCC-A9EF-5569-75EE-10B590A66917}"/>
              </a:ext>
            </a:extLst>
          </p:cNvPr>
          <p:cNvSpPr/>
          <p:nvPr/>
        </p:nvSpPr>
        <p:spPr>
          <a:xfrm>
            <a:off x="1122218" y="2478047"/>
            <a:ext cx="5092685" cy="827109"/>
          </a:xfrm>
          <a:prstGeom prst="rect">
            <a:avLst/>
          </a:prstGeom>
          <a:noFill/>
          <a:ln>
            <a:solidFill>
              <a:schemeClr val="bg1"/>
            </a:solidFill>
          </a:ln>
          <a:effectLst>
            <a:glow rad="762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effectLst>
                <a:glow rad="139700">
                  <a:schemeClr val="accent4">
                    <a:satMod val="175000"/>
                    <a:alpha val="40000"/>
                  </a:schemeClr>
                </a:glow>
              </a:effectLs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75A1481-F9C2-C4EB-8C8E-A147B159703E}"/>
                  </a:ext>
                </a:extLst>
              </p:cNvPr>
              <p:cNvSpPr txBox="1"/>
              <p:nvPr/>
            </p:nvSpPr>
            <p:spPr>
              <a:xfrm>
                <a:off x="6148757" y="4071600"/>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00FFD5"/>
                          </a:solidFill>
                          <a:effectLst>
                            <a:glow rad="63500">
                              <a:srgbClr val="FF55C8">
                                <a:alpha val="40000"/>
                              </a:srgbClr>
                            </a:glow>
                          </a:effectLst>
                          <a:latin typeface="Cambria Math" panose="02040503050406030204" pitchFamily="18" charset="0"/>
                          <a:ea typeface="Cambria Math" panose="02040503050406030204" pitchFamily="18" charset="0"/>
                        </a:rPr>
                        <m:t>≡</m:t>
                      </m:r>
                    </m:oMath>
                  </m:oMathPara>
                </a14:m>
                <a:endParaRPr lang="en-JP" sz="2000">
                  <a:solidFill>
                    <a:srgbClr val="00FFD5"/>
                  </a:solidFill>
                  <a:effectLst>
                    <a:glow rad="63500">
                      <a:schemeClr val="accent4">
                        <a:satMod val="175000"/>
                        <a:alpha val="40000"/>
                      </a:schemeClr>
                    </a:glow>
                  </a:effectLst>
                </a:endParaRPr>
              </a:p>
            </p:txBody>
          </p:sp>
        </mc:Choice>
        <mc:Fallback xmlns="">
          <p:sp>
            <p:nvSpPr>
              <p:cNvPr id="4" name="TextBox 3">
                <a:extLst>
                  <a:ext uri="{FF2B5EF4-FFF2-40B4-BE49-F238E27FC236}">
                    <a16:creationId xmlns:a16="http://schemas.microsoft.com/office/drawing/2014/main" id="{775A1481-F9C2-C4EB-8C8E-A147B159703E}"/>
                  </a:ext>
                </a:extLst>
              </p:cNvPr>
              <p:cNvSpPr txBox="1">
                <a:spLocks noRot="1" noChangeAspect="1" noMove="1" noResize="1" noEditPoints="1" noAdjustHandles="1" noChangeArrowheads="1" noChangeShapeType="1" noTextEdit="1"/>
              </p:cNvSpPr>
              <p:nvPr/>
            </p:nvSpPr>
            <p:spPr>
              <a:xfrm>
                <a:off x="6148757" y="4071600"/>
                <a:ext cx="517242" cy="523220"/>
              </a:xfrm>
              <a:prstGeom prst="rect">
                <a:avLst/>
              </a:prstGeom>
              <a:blipFill>
                <a:blip r:embed="rId7"/>
                <a:stretch>
                  <a:fillRect l="-2381"/>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3EFD281-96F1-A611-5D78-11BB50EE8086}"/>
                  </a:ext>
                </a:extLst>
              </p:cNvPr>
              <p:cNvSpPr txBox="1"/>
              <p:nvPr/>
            </p:nvSpPr>
            <p:spPr>
              <a:xfrm>
                <a:off x="9019720" y="4070109"/>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00FFD5"/>
                          </a:solidFill>
                          <a:effectLst>
                            <a:glow rad="63500">
                              <a:srgbClr val="FF55C8">
                                <a:alpha val="40000"/>
                              </a:srgbClr>
                            </a:glow>
                          </a:effectLst>
                          <a:latin typeface="Cambria Math" panose="02040503050406030204" pitchFamily="18" charset="0"/>
                          <a:ea typeface="Cambria Math" panose="02040503050406030204" pitchFamily="18" charset="0"/>
                        </a:rPr>
                        <m:t>≡</m:t>
                      </m:r>
                    </m:oMath>
                  </m:oMathPara>
                </a14:m>
                <a:endParaRPr lang="en-JP" sz="2000">
                  <a:solidFill>
                    <a:srgbClr val="00FFD5"/>
                  </a:solidFill>
                  <a:effectLst>
                    <a:glow rad="63500">
                      <a:schemeClr val="accent4">
                        <a:satMod val="175000"/>
                        <a:alpha val="40000"/>
                      </a:schemeClr>
                    </a:glow>
                  </a:effectLst>
                </a:endParaRPr>
              </a:p>
            </p:txBody>
          </p:sp>
        </mc:Choice>
        <mc:Fallback xmlns="">
          <p:sp>
            <p:nvSpPr>
              <p:cNvPr id="5" name="TextBox 4">
                <a:extLst>
                  <a:ext uri="{FF2B5EF4-FFF2-40B4-BE49-F238E27FC236}">
                    <a16:creationId xmlns:a16="http://schemas.microsoft.com/office/drawing/2014/main" id="{C3EFD281-96F1-A611-5D78-11BB50EE8086}"/>
                  </a:ext>
                </a:extLst>
              </p:cNvPr>
              <p:cNvSpPr txBox="1">
                <a:spLocks noRot="1" noChangeAspect="1" noMove="1" noResize="1" noEditPoints="1" noAdjustHandles="1" noChangeArrowheads="1" noChangeShapeType="1" noTextEdit="1"/>
              </p:cNvSpPr>
              <p:nvPr/>
            </p:nvSpPr>
            <p:spPr>
              <a:xfrm>
                <a:off x="9019720" y="4070109"/>
                <a:ext cx="517242" cy="523220"/>
              </a:xfrm>
              <a:prstGeom prst="rect">
                <a:avLst/>
              </a:prstGeom>
              <a:blipFill>
                <a:blip r:embed="rId8"/>
                <a:stretch>
                  <a:fillRect l="-2439" r="-2439"/>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C9D0063-E6F1-2235-DC31-BF9A1F941CEB}"/>
                  </a:ext>
                </a:extLst>
              </p:cNvPr>
              <p:cNvSpPr txBox="1"/>
              <p:nvPr/>
            </p:nvSpPr>
            <p:spPr>
              <a:xfrm>
                <a:off x="3366297" y="4071600"/>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00FFD5"/>
                          </a:solidFill>
                          <a:effectLst>
                            <a:glow rad="63500">
                              <a:srgbClr val="FF55C8">
                                <a:alpha val="40000"/>
                              </a:srgbClr>
                            </a:glow>
                          </a:effectLst>
                          <a:latin typeface="Cambria Math" panose="02040503050406030204" pitchFamily="18" charset="0"/>
                          <a:ea typeface="Cambria Math" panose="02040503050406030204" pitchFamily="18" charset="0"/>
                        </a:rPr>
                        <m:t>≡</m:t>
                      </m:r>
                    </m:oMath>
                  </m:oMathPara>
                </a14:m>
                <a:endParaRPr lang="en-JP" sz="2000">
                  <a:solidFill>
                    <a:srgbClr val="00FFD5"/>
                  </a:solidFill>
                  <a:effectLst>
                    <a:glow rad="63500">
                      <a:schemeClr val="accent4">
                        <a:satMod val="175000"/>
                        <a:alpha val="40000"/>
                      </a:schemeClr>
                    </a:glow>
                  </a:effectLst>
                </a:endParaRPr>
              </a:p>
            </p:txBody>
          </p:sp>
        </mc:Choice>
        <mc:Fallback xmlns="">
          <p:sp>
            <p:nvSpPr>
              <p:cNvPr id="13" name="TextBox 12">
                <a:extLst>
                  <a:ext uri="{FF2B5EF4-FFF2-40B4-BE49-F238E27FC236}">
                    <a16:creationId xmlns:a16="http://schemas.microsoft.com/office/drawing/2014/main" id="{4C9D0063-E6F1-2235-DC31-BF9A1F941CEB}"/>
                  </a:ext>
                </a:extLst>
              </p:cNvPr>
              <p:cNvSpPr txBox="1">
                <a:spLocks noRot="1" noChangeAspect="1" noMove="1" noResize="1" noEditPoints="1" noAdjustHandles="1" noChangeArrowheads="1" noChangeShapeType="1" noTextEdit="1"/>
              </p:cNvSpPr>
              <p:nvPr/>
            </p:nvSpPr>
            <p:spPr>
              <a:xfrm>
                <a:off x="3366297" y="4071600"/>
                <a:ext cx="517242" cy="523220"/>
              </a:xfrm>
              <a:prstGeom prst="rect">
                <a:avLst/>
              </a:prstGeom>
              <a:blipFill>
                <a:blip r:embed="rId7"/>
                <a:stretch>
                  <a:fillRect r="-2381"/>
                </a:stretch>
              </a:blipFill>
            </p:spPr>
            <p:txBody>
              <a:bodyPr/>
              <a:lstStyle/>
              <a:p>
                <a:r>
                  <a:rPr lang="en-JP">
                    <a:noFill/>
                  </a:rPr>
                  <a:t> </a:t>
                </a:r>
              </a:p>
            </p:txBody>
          </p:sp>
        </mc:Fallback>
      </mc:AlternateContent>
      <p:pic>
        <p:nvPicPr>
          <p:cNvPr id="20" name="Graphic 19" descr="Balloons with solid fill">
            <a:extLst>
              <a:ext uri="{FF2B5EF4-FFF2-40B4-BE49-F238E27FC236}">
                <a16:creationId xmlns:a16="http://schemas.microsoft.com/office/drawing/2014/main" id="{2D7F421C-667E-A33E-1604-EB66F27CD28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87276" y="3747600"/>
            <a:ext cx="469242" cy="469242"/>
          </a:xfrm>
          <a:prstGeom prst="rect">
            <a:avLst/>
          </a:prstGeom>
        </p:spPr>
      </p:pic>
      <p:pic>
        <p:nvPicPr>
          <p:cNvPr id="21" name="Graphic 20" descr="Balloons with solid fill">
            <a:extLst>
              <a:ext uri="{FF2B5EF4-FFF2-40B4-BE49-F238E27FC236}">
                <a16:creationId xmlns:a16="http://schemas.microsoft.com/office/drawing/2014/main" id="{B3CA54E6-3473-5276-1C76-2D493DE10B0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94738" y="3746112"/>
            <a:ext cx="469242" cy="469242"/>
          </a:xfrm>
          <a:prstGeom prst="rect">
            <a:avLst/>
          </a:prstGeom>
        </p:spPr>
      </p:pic>
      <p:pic>
        <p:nvPicPr>
          <p:cNvPr id="22" name="Graphic 21" descr="Balloons with solid fill">
            <a:extLst>
              <a:ext uri="{FF2B5EF4-FFF2-40B4-BE49-F238E27FC236}">
                <a16:creationId xmlns:a16="http://schemas.microsoft.com/office/drawing/2014/main" id="{643E8819-10B0-7B19-E873-3C29E44E35D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667692" y="4519528"/>
            <a:ext cx="469242" cy="469242"/>
          </a:xfrm>
          <a:prstGeom prst="rect">
            <a:avLst/>
          </a:prstGeom>
        </p:spPr>
      </p:pic>
      <p:pic>
        <p:nvPicPr>
          <p:cNvPr id="24" name="Graphic 23" descr="Balloons with solid fill">
            <a:extLst>
              <a:ext uri="{FF2B5EF4-FFF2-40B4-BE49-F238E27FC236}">
                <a16:creationId xmlns:a16="http://schemas.microsoft.com/office/drawing/2014/main" id="{4AF28F9B-92E4-3FA2-AE5D-AB1F77110EC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53339" y="520701"/>
            <a:ext cx="914400" cy="914400"/>
          </a:xfrm>
          <a:prstGeom prst="rect">
            <a:avLst/>
          </a:prstGeom>
        </p:spPr>
      </p:pic>
    </p:spTree>
    <p:extLst>
      <p:ext uri="{BB962C8B-B14F-4D97-AF65-F5344CB8AC3E}">
        <p14:creationId xmlns:p14="http://schemas.microsoft.com/office/powerpoint/2010/main" val="2648696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nodeType="clickEffect">
                                  <p:stCondLst>
                                    <p:cond delay="0"/>
                                  </p:stCondLst>
                                  <p:childTnLst>
                                    <p:animEffect transition="out" filter="wipe(up)">
                                      <p:cBhvr>
                                        <p:cTn id="6" dur="500"/>
                                        <p:tgtEl>
                                          <p:spTgt spid="114"/>
                                        </p:tgtEl>
                                      </p:cBhvr>
                                    </p:animEffect>
                                    <p:set>
                                      <p:cBhvr>
                                        <p:cTn id="7" dur="1" fill="hold">
                                          <p:stCondLst>
                                            <p:cond delay="499"/>
                                          </p:stCondLst>
                                        </p:cTn>
                                        <p:tgtEl>
                                          <p:spTgt spid="114"/>
                                        </p:tgtEl>
                                        <p:attrNameLst>
                                          <p:attrName>style.visibility</p:attrName>
                                        </p:attrNameLst>
                                      </p:cBhvr>
                                      <p:to>
                                        <p:strVal val="hidden"/>
                                      </p:to>
                                    </p:set>
                                  </p:childTnLst>
                                </p:cTn>
                              </p:par>
                              <p:par>
                                <p:cTn id="8" presetID="22" presetClass="exit" presetSubtype="1" fill="hold" nodeType="withEffect">
                                  <p:stCondLst>
                                    <p:cond delay="0"/>
                                  </p:stCondLst>
                                  <p:childTnLst>
                                    <p:animEffect transition="out" filter="wipe(up)">
                                      <p:cBhvr>
                                        <p:cTn id="9" dur="500"/>
                                        <p:tgtEl>
                                          <p:spTgt spid="113"/>
                                        </p:tgtEl>
                                      </p:cBhvr>
                                    </p:animEffect>
                                    <p:set>
                                      <p:cBhvr>
                                        <p:cTn id="10" dur="1" fill="hold">
                                          <p:stCondLst>
                                            <p:cond delay="499"/>
                                          </p:stCondLst>
                                        </p:cTn>
                                        <p:tgtEl>
                                          <p:spTgt spid="113"/>
                                        </p:tgtEl>
                                        <p:attrNameLst>
                                          <p:attrName>style.visibility</p:attrName>
                                        </p:attrNameLst>
                                      </p:cBhvr>
                                      <p:to>
                                        <p:strVal val="hidden"/>
                                      </p:to>
                                    </p:se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par>
                          <p:cTn id="18" fill="hold">
                            <p:stCondLst>
                              <p:cond delay="1000"/>
                            </p:stCondLst>
                            <p:childTnLst>
                              <p:par>
                                <p:cTn id="19" presetID="22" presetClass="entr" presetSubtype="4"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down)">
                                      <p:cBhvr>
                                        <p:cTn id="21" dur="500"/>
                                        <p:tgtEl>
                                          <p:spTgt spid="20"/>
                                        </p:tgtEl>
                                      </p:cBhvr>
                                    </p:animEffect>
                                  </p:childTnLst>
                                </p:cTn>
                              </p:par>
                              <p:par>
                                <p:cTn id="22" presetID="22" presetClass="entr" presetSubtype="4"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down)">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01">
                                            <p:txEl>
                                              <p:pRg st="2" end="2"/>
                                            </p:txEl>
                                          </p:spTgt>
                                        </p:tgtEl>
                                        <p:attrNameLst>
                                          <p:attrName>style.visibility</p:attrName>
                                        </p:attrNameLst>
                                      </p:cBhvr>
                                      <p:to>
                                        <p:strVal val="visible"/>
                                      </p:to>
                                    </p:set>
                                    <p:anim calcmode="lin" valueType="num">
                                      <p:cBhvr additive="base">
                                        <p:cTn id="29" dur="500" fill="hold"/>
                                        <p:tgtEl>
                                          <p:spTgt spid="101">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1">
                                            <p:txEl>
                                              <p:pRg st="2" end="2"/>
                                            </p:txEl>
                                          </p:spTgt>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22" presetClass="exit" presetSubtype="1" fill="hold" nodeType="afterEffect">
                                  <p:stCondLst>
                                    <p:cond delay="1000"/>
                                  </p:stCondLst>
                                  <p:childTnLst>
                                    <p:animEffect transition="out" filter="wipe(up)">
                                      <p:cBhvr>
                                        <p:cTn id="33" dur="500"/>
                                        <p:tgtEl>
                                          <p:spTgt spid="106"/>
                                        </p:tgtEl>
                                      </p:cBhvr>
                                    </p:animEffect>
                                    <p:set>
                                      <p:cBhvr>
                                        <p:cTn id="34" dur="1" fill="hold">
                                          <p:stCondLst>
                                            <p:cond delay="499"/>
                                          </p:stCondLst>
                                        </p:cTn>
                                        <p:tgtEl>
                                          <p:spTgt spid="106"/>
                                        </p:tgtEl>
                                        <p:attrNameLst>
                                          <p:attrName>style.visibility</p:attrName>
                                        </p:attrNameLst>
                                      </p:cBhvr>
                                      <p:to>
                                        <p:strVal val="hidden"/>
                                      </p:to>
                                    </p:set>
                                  </p:childTnLst>
                                </p:cTn>
                              </p:par>
                            </p:childTnLst>
                          </p:cTn>
                        </p:par>
                        <p:par>
                          <p:cTn id="35" fill="hold">
                            <p:stCondLst>
                              <p:cond delay="2000"/>
                            </p:stCondLst>
                            <p:childTnLst>
                              <p:par>
                                <p:cTn id="36" presetID="22" presetClass="entr" presetSubtype="1"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500"/>
                                        <p:tgtEl>
                                          <p:spTgt spid="13"/>
                                        </p:tgtEl>
                                      </p:cBhvr>
                                    </p:animEffect>
                                  </p:childTnLst>
                                </p:cTn>
                              </p:par>
                              <p:par>
                                <p:cTn id="39" presetID="22" presetClass="entr" presetSubtype="4"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down)">
                                      <p:cBhvr>
                                        <p:cTn id="41" dur="500"/>
                                        <p:tgtEl>
                                          <p:spTgt spid="22"/>
                                        </p:tgtEl>
                                      </p:cBhvr>
                                    </p:animEffect>
                                  </p:childTnLst>
                                </p:cTn>
                              </p:par>
                              <p:par>
                                <p:cTn id="42" presetID="22" presetClass="entr" presetSubtype="4"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down)">
                                      <p:cBhvr>
                                        <p:cTn id="4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F16"/>
        </a:solidFill>
        <a:effectLst/>
      </p:bgPr>
    </p:bg>
    <p:spTree>
      <p:nvGrpSpPr>
        <p:cNvPr id="1" name="">
          <a:extLst>
            <a:ext uri="{FF2B5EF4-FFF2-40B4-BE49-F238E27FC236}">
              <a16:creationId xmlns:a16="http://schemas.microsoft.com/office/drawing/2014/main" id="{97FA6F3C-1D26-C59B-8C11-FC79F9E2B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CAD29-59C2-5C9B-A33D-316A97D4B159}"/>
              </a:ext>
            </a:extLst>
          </p:cNvPr>
          <p:cNvSpPr>
            <a:spLocks noGrp="1"/>
          </p:cNvSpPr>
          <p:nvPr>
            <p:ph type="title"/>
          </p:nvPr>
        </p:nvSpPr>
        <p:spPr>
          <a:ln w="28575">
            <a:noFill/>
          </a:ln>
        </p:spPr>
        <p:txBody>
          <a:bodyPr>
            <a:normAutofit/>
          </a:bodyPr>
          <a:lstStyle/>
          <a:p>
            <a:r>
              <a:rPr lang="ja-JP" altLang="en-US" b="1">
                <a:solidFill>
                  <a:schemeClr val="bg1"/>
                </a:solidFill>
                <a:effectLst/>
              </a:rPr>
              <a:t>まとめ</a:t>
            </a:r>
            <a:endParaRPr lang="en-JP">
              <a:solidFill>
                <a:schemeClr val="bg1"/>
              </a:solidFill>
              <a:effectLst/>
            </a:endParaRPr>
          </a:p>
        </p:txBody>
      </p:sp>
      <p:sp>
        <p:nvSpPr>
          <p:cNvPr id="15" name="Subtitle 2">
            <a:extLst>
              <a:ext uri="{FF2B5EF4-FFF2-40B4-BE49-F238E27FC236}">
                <a16:creationId xmlns:a16="http://schemas.microsoft.com/office/drawing/2014/main" id="{2FA8F028-3D7E-BF15-0AC1-27425EDF34C4}"/>
              </a:ext>
            </a:extLst>
          </p:cNvPr>
          <p:cNvSpPr txBox="1">
            <a:spLocks/>
          </p:cNvSpPr>
          <p:nvPr/>
        </p:nvSpPr>
        <p:spPr>
          <a:xfrm>
            <a:off x="838200" y="1302638"/>
            <a:ext cx="9144000" cy="3958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JP" sz="2000">
                <a:solidFill>
                  <a:srgbClr val="A8D5BA"/>
                </a:solidFill>
              </a:rPr>
              <a:t>Summary</a:t>
            </a:r>
          </a:p>
        </p:txBody>
      </p:sp>
      <p:sp>
        <p:nvSpPr>
          <p:cNvPr id="3" name="Content Placeholder 2">
            <a:extLst>
              <a:ext uri="{FF2B5EF4-FFF2-40B4-BE49-F238E27FC236}">
                <a16:creationId xmlns:a16="http://schemas.microsoft.com/office/drawing/2014/main" id="{434F095B-1C48-6050-7D3A-1B312C8161FE}"/>
              </a:ext>
            </a:extLst>
          </p:cNvPr>
          <p:cNvSpPr txBox="1">
            <a:spLocks/>
          </p:cNvSpPr>
          <p:nvPr/>
        </p:nvSpPr>
        <p:spPr>
          <a:xfrm>
            <a:off x="838200" y="1825625"/>
            <a:ext cx="9144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endParaRPr lang="en-JP" sz="2200">
              <a:solidFill>
                <a:srgbClr val="E0E0E0"/>
              </a:solidFill>
            </a:endParaRPr>
          </a:p>
        </p:txBody>
      </p:sp>
      <p:grpSp>
        <p:nvGrpSpPr>
          <p:cNvPr id="13" name="Group 12">
            <a:extLst>
              <a:ext uri="{FF2B5EF4-FFF2-40B4-BE49-F238E27FC236}">
                <a16:creationId xmlns:a16="http://schemas.microsoft.com/office/drawing/2014/main" id="{4C5AFE91-382D-49B9-AFDD-2D61FD4258D3}"/>
              </a:ext>
            </a:extLst>
          </p:cNvPr>
          <p:cNvGrpSpPr/>
          <p:nvPr/>
        </p:nvGrpSpPr>
        <p:grpSpPr>
          <a:xfrm>
            <a:off x="838198" y="1904850"/>
            <a:ext cx="10287001" cy="2610315"/>
            <a:chOff x="838198" y="3441042"/>
            <a:chExt cx="10287001" cy="2610315"/>
          </a:xfrm>
        </p:grpSpPr>
        <p:sp>
          <p:nvSpPr>
            <p:cNvPr id="6" name="Content Placeholder 2">
              <a:extLst>
                <a:ext uri="{FF2B5EF4-FFF2-40B4-BE49-F238E27FC236}">
                  <a16:creationId xmlns:a16="http://schemas.microsoft.com/office/drawing/2014/main" id="{60FBC77A-2B84-7D15-6096-9DEF66C871DB}"/>
                </a:ext>
              </a:extLst>
            </p:cNvPr>
            <p:cNvSpPr txBox="1">
              <a:spLocks/>
            </p:cNvSpPr>
            <p:nvPr/>
          </p:nvSpPr>
          <p:spPr>
            <a:xfrm>
              <a:off x="838198" y="3441042"/>
              <a:ext cx="10287001" cy="26103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b="1">
                  <a:solidFill>
                    <a:srgbClr val="FF55C8"/>
                  </a:solidFill>
                  <a:effectLst>
                    <a:glow rad="63500">
                      <a:srgbClr val="00FFD5">
                        <a:alpha val="40000"/>
                      </a:srgbClr>
                    </a:glow>
                  </a:effectLst>
                </a:rPr>
                <a:t>量子</a:t>
              </a:r>
              <a:r>
                <a:rPr lang="en-JP" b="1">
                  <a:solidFill>
                    <a:srgbClr val="E0E0E0"/>
                  </a:solidFill>
                </a:rPr>
                <a:t>証明（分散・</a:t>
              </a:r>
              <a:r>
                <a:rPr lang="en-JP" b="1" u="sng">
                  <a:solidFill>
                    <a:srgbClr val="00FFD5"/>
                  </a:solidFill>
                  <a:effectLst>
                    <a:glow rad="63500">
                      <a:srgbClr val="FF55C8">
                        <a:alpha val="40000"/>
                      </a:srgbClr>
                    </a:glow>
                  </a:effectLst>
                </a:rPr>
                <a:t>可分証明</a:t>
              </a:r>
              <a:r>
                <a:rPr lang="en-JP" b="1">
                  <a:solidFill>
                    <a:srgbClr val="E0E0E0"/>
                  </a:solidFill>
                </a:rPr>
                <a:t>）</a:t>
              </a:r>
              <a:endParaRPr lang="en-JP" sz="2400" b="1">
                <a:solidFill>
                  <a:srgbClr val="E0E0E0"/>
                </a:solidFill>
              </a:endParaRPr>
            </a:p>
            <a:p>
              <a:pPr marL="0" indent="0">
                <a:lnSpc>
                  <a:spcPct val="150000"/>
                </a:lnSpc>
                <a:buClr>
                  <a:schemeClr val="bg1"/>
                </a:buClr>
                <a:buNone/>
              </a:pPr>
              <a:r>
                <a:rPr lang="en-JP" sz="2400" b="1">
                  <a:solidFill>
                    <a:srgbClr val="E0E0E0"/>
                  </a:solidFill>
                </a:rPr>
                <a:t>    １通の量子証明</a:t>
              </a:r>
              <a:r>
                <a:rPr lang="ja-JP" altLang="en-US" sz="2400" b="1">
                  <a:solidFill>
                    <a:srgbClr val="E0E0E0"/>
                  </a:solidFill>
                </a:rPr>
                <a:t>　　２</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US" altLang="ja-JP" sz="2400" b="1" dirty="0">
                <a:solidFill>
                  <a:srgbClr val="E0E0E0"/>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E3BAC50-F08F-26AD-689A-6194BAC85E0F}"/>
                    </a:ext>
                  </a:extLst>
                </p:cNvPr>
                <p:cNvSpPr txBox="1"/>
                <p:nvPr/>
              </p:nvSpPr>
              <p:spPr>
                <a:xfrm>
                  <a:off x="6148757" y="4071600"/>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00FFD5"/>
                            </a:solidFill>
                            <a:effectLst>
                              <a:glow rad="63500">
                                <a:srgbClr val="FF55C8">
                                  <a:alpha val="40000"/>
                                </a:srgbClr>
                              </a:glow>
                            </a:effectLst>
                            <a:latin typeface="Cambria Math" panose="02040503050406030204" pitchFamily="18" charset="0"/>
                            <a:ea typeface="Cambria Math" panose="02040503050406030204" pitchFamily="18" charset="0"/>
                          </a:rPr>
                          <m:t>≡</m:t>
                        </m:r>
                      </m:oMath>
                    </m:oMathPara>
                  </a14:m>
                  <a:endParaRPr lang="en-JP" sz="2000">
                    <a:solidFill>
                      <a:srgbClr val="00FFD5"/>
                    </a:solidFill>
                    <a:effectLst>
                      <a:glow rad="63500">
                        <a:schemeClr val="accent4">
                          <a:satMod val="175000"/>
                          <a:alpha val="40000"/>
                        </a:schemeClr>
                      </a:glow>
                    </a:effectLst>
                  </a:endParaRPr>
                </a:p>
              </p:txBody>
            </p:sp>
          </mc:Choice>
          <mc:Fallback xmlns="">
            <p:sp>
              <p:nvSpPr>
                <p:cNvPr id="7" name="TextBox 6">
                  <a:extLst>
                    <a:ext uri="{FF2B5EF4-FFF2-40B4-BE49-F238E27FC236}">
                      <a16:creationId xmlns:a16="http://schemas.microsoft.com/office/drawing/2014/main" id="{AE3BAC50-F08F-26AD-689A-6194BAC85E0F}"/>
                    </a:ext>
                  </a:extLst>
                </p:cNvPr>
                <p:cNvSpPr txBox="1">
                  <a:spLocks noRot="1" noChangeAspect="1" noMove="1" noResize="1" noEditPoints="1" noAdjustHandles="1" noChangeArrowheads="1" noChangeShapeType="1" noTextEdit="1"/>
                </p:cNvSpPr>
                <p:nvPr/>
              </p:nvSpPr>
              <p:spPr>
                <a:xfrm>
                  <a:off x="6148757" y="4071600"/>
                  <a:ext cx="517242" cy="523220"/>
                </a:xfrm>
                <a:prstGeom prst="rect">
                  <a:avLst/>
                </a:prstGeom>
                <a:blipFill>
                  <a:blip r:embed="rId3"/>
                  <a:stretch>
                    <a:fillRect l="-2381"/>
                  </a:stretch>
                </a:blipFill>
              </p:spPr>
              <p:txBody>
                <a:bodyPr/>
                <a:lstStyle/>
                <a:p>
                  <a:r>
                    <a:rPr lang="en-JP">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AE443BF-1F49-219E-3864-70958225C07E}"/>
                    </a:ext>
                  </a:extLst>
                </p:cNvPr>
                <p:cNvSpPr txBox="1"/>
                <p:nvPr/>
              </p:nvSpPr>
              <p:spPr>
                <a:xfrm>
                  <a:off x="9019720" y="4070109"/>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00FFD5"/>
                            </a:solidFill>
                            <a:effectLst>
                              <a:glow rad="63500">
                                <a:srgbClr val="FF55C8">
                                  <a:alpha val="40000"/>
                                </a:srgbClr>
                              </a:glow>
                            </a:effectLst>
                            <a:latin typeface="Cambria Math" panose="02040503050406030204" pitchFamily="18" charset="0"/>
                            <a:ea typeface="Cambria Math" panose="02040503050406030204" pitchFamily="18" charset="0"/>
                          </a:rPr>
                          <m:t>≡</m:t>
                        </m:r>
                      </m:oMath>
                    </m:oMathPara>
                  </a14:m>
                  <a:endParaRPr lang="en-JP" sz="2000">
                    <a:solidFill>
                      <a:srgbClr val="00FFD5"/>
                    </a:solidFill>
                    <a:effectLst>
                      <a:glow rad="63500">
                        <a:schemeClr val="accent4">
                          <a:satMod val="175000"/>
                          <a:alpha val="40000"/>
                        </a:schemeClr>
                      </a:glow>
                    </a:effectLst>
                  </a:endParaRPr>
                </a:p>
              </p:txBody>
            </p:sp>
          </mc:Choice>
          <mc:Fallback xmlns="">
            <p:sp>
              <p:nvSpPr>
                <p:cNvPr id="8" name="TextBox 7">
                  <a:extLst>
                    <a:ext uri="{FF2B5EF4-FFF2-40B4-BE49-F238E27FC236}">
                      <a16:creationId xmlns:a16="http://schemas.microsoft.com/office/drawing/2014/main" id="{6AE443BF-1F49-219E-3864-70958225C07E}"/>
                    </a:ext>
                  </a:extLst>
                </p:cNvPr>
                <p:cNvSpPr txBox="1">
                  <a:spLocks noRot="1" noChangeAspect="1" noMove="1" noResize="1" noEditPoints="1" noAdjustHandles="1" noChangeArrowheads="1" noChangeShapeType="1" noTextEdit="1"/>
                </p:cNvSpPr>
                <p:nvPr/>
              </p:nvSpPr>
              <p:spPr>
                <a:xfrm>
                  <a:off x="9019720" y="4070109"/>
                  <a:ext cx="517242" cy="523220"/>
                </a:xfrm>
                <a:prstGeom prst="rect">
                  <a:avLst/>
                </a:prstGeom>
                <a:blipFill>
                  <a:blip r:embed="rId4"/>
                  <a:stretch>
                    <a:fillRect l="-2439" r="-2439"/>
                  </a:stretch>
                </a:blipFill>
              </p:spPr>
              <p:txBody>
                <a:bodyPr/>
                <a:lstStyle/>
                <a:p>
                  <a:r>
                    <a:rPr lang="en-JP">
                      <a:noFill/>
                    </a:rPr>
                    <a:t> </a:t>
                  </a:r>
                </a:p>
              </p:txBody>
            </p:sp>
          </mc:Fallback>
        </mc:AlternateContent>
        <p:pic>
          <p:nvPicPr>
            <p:cNvPr id="9" name="Graphic 8" descr="Balloons with solid fill">
              <a:extLst>
                <a:ext uri="{FF2B5EF4-FFF2-40B4-BE49-F238E27FC236}">
                  <a16:creationId xmlns:a16="http://schemas.microsoft.com/office/drawing/2014/main" id="{EC711E23-3382-F8B5-A142-461CB69430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87276" y="3747600"/>
              <a:ext cx="469242" cy="469242"/>
            </a:xfrm>
            <a:prstGeom prst="rect">
              <a:avLst/>
            </a:prstGeom>
          </p:spPr>
        </p:pic>
        <p:pic>
          <p:nvPicPr>
            <p:cNvPr id="10" name="Graphic 9" descr="Balloons with solid fill">
              <a:extLst>
                <a:ext uri="{FF2B5EF4-FFF2-40B4-BE49-F238E27FC236}">
                  <a16:creationId xmlns:a16="http://schemas.microsoft.com/office/drawing/2014/main" id="{DE51DAFC-65A3-ABF1-882C-549A3D117E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94738" y="3746112"/>
              <a:ext cx="469242" cy="469242"/>
            </a:xfrm>
            <a:prstGeom prst="rect">
              <a:avLst/>
            </a:prstGeom>
          </p:spPr>
        </p:pic>
        <p:sp>
          <p:nvSpPr>
            <p:cNvPr id="11" name="TextBox 10">
              <a:extLst>
                <a:ext uri="{FF2B5EF4-FFF2-40B4-BE49-F238E27FC236}">
                  <a16:creationId xmlns:a16="http://schemas.microsoft.com/office/drawing/2014/main" id="{57BA9D1C-5520-D707-E4D2-5CE55D46FFF1}"/>
                </a:ext>
              </a:extLst>
            </p:cNvPr>
            <p:cNvSpPr txBox="1"/>
            <p:nvPr/>
          </p:nvSpPr>
          <p:spPr>
            <a:xfrm>
              <a:off x="6548400" y="4122615"/>
              <a:ext cx="2507674" cy="461665"/>
            </a:xfrm>
            <a:prstGeom prst="rect">
              <a:avLst/>
            </a:prstGeom>
            <a:noFill/>
          </p:spPr>
          <p:txBody>
            <a:bodyPr wrap="square" rtlCol="0">
              <a:spAutoFit/>
            </a:bodyPr>
            <a:lstStyle/>
            <a:p>
              <a:pPr algn="ctr"/>
              <a:r>
                <a:rPr lang="ja-JP" altLang="en-US" sz="2400" b="1">
                  <a:solidFill>
                    <a:srgbClr val="E0E0E0"/>
                  </a:solidFill>
                </a:rPr>
                <a:t>３</a:t>
              </a:r>
              <a:r>
                <a:rPr lang="ja-JP" altLang="en-JP" sz="2400" b="1">
                  <a:solidFill>
                    <a:srgbClr val="E0E0E0"/>
                  </a:solidFill>
                </a:rPr>
                <a:t>通</a:t>
              </a:r>
              <a:r>
                <a:rPr lang="ja-JP" altLang="en-US" sz="2400" b="1">
                  <a:solidFill>
                    <a:srgbClr val="E0E0E0"/>
                  </a:solidFill>
                </a:rPr>
                <a:t>の量子</a:t>
              </a:r>
              <a:r>
                <a:rPr lang="ja-JP" altLang="en-JP" sz="2400" b="1">
                  <a:solidFill>
                    <a:srgbClr val="E0E0E0"/>
                  </a:solidFill>
                </a:rPr>
                <a:t>証明</a:t>
              </a:r>
              <a:endParaRPr lang="en-JP" sz="2400" b="1">
                <a:solidFill>
                  <a:schemeClr val="bg1"/>
                </a:solidFill>
              </a:endParaRPr>
            </a:p>
          </p:txBody>
        </p:sp>
        <p:sp>
          <p:nvSpPr>
            <p:cNvPr id="12" name="TextBox 11">
              <a:extLst>
                <a:ext uri="{FF2B5EF4-FFF2-40B4-BE49-F238E27FC236}">
                  <a16:creationId xmlns:a16="http://schemas.microsoft.com/office/drawing/2014/main" id="{A0039810-D5E9-F710-2DC0-4C44ED890856}"/>
                </a:ext>
              </a:extLst>
            </p:cNvPr>
            <p:cNvSpPr txBox="1"/>
            <p:nvPr/>
          </p:nvSpPr>
          <p:spPr>
            <a:xfrm>
              <a:off x="9455717" y="4057863"/>
              <a:ext cx="616527" cy="461665"/>
            </a:xfrm>
            <a:prstGeom prst="rect">
              <a:avLst/>
            </a:prstGeom>
            <a:noFill/>
          </p:spPr>
          <p:txBody>
            <a:bodyPr wrap="square" rtlCol="0">
              <a:spAutoFit/>
            </a:bodyPr>
            <a:lstStyle/>
            <a:p>
              <a:pPr algn="ctr"/>
              <a:r>
                <a:rPr lang="en-JP" sz="2400" b="1">
                  <a:solidFill>
                    <a:schemeClr val="bg1"/>
                  </a:solidFill>
                </a:rPr>
                <a:t>…</a:t>
              </a:r>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E913EC2-1FDA-EC74-BB37-1F2F6E63F4BA}"/>
                  </a:ext>
                </a:extLst>
              </p:cNvPr>
              <p:cNvSpPr txBox="1"/>
              <p:nvPr/>
            </p:nvSpPr>
            <p:spPr>
              <a:xfrm>
                <a:off x="3423845" y="2535408"/>
                <a:ext cx="51724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JP" sz="2800" i="1" smtClean="0">
                          <a:solidFill>
                            <a:srgbClr val="00FFD5"/>
                          </a:solidFill>
                          <a:effectLst>
                            <a:glow rad="63500">
                              <a:srgbClr val="FF55C8">
                                <a:alpha val="40000"/>
                              </a:srgbClr>
                            </a:glow>
                          </a:effectLst>
                          <a:latin typeface="Cambria Math" panose="02040503050406030204" pitchFamily="18" charset="0"/>
                          <a:ea typeface="Cambria Math" panose="02040503050406030204" pitchFamily="18" charset="0"/>
                        </a:rPr>
                        <m:t>≡</m:t>
                      </m:r>
                    </m:oMath>
                  </m:oMathPara>
                </a14:m>
                <a:endParaRPr lang="en-JP" sz="2000">
                  <a:solidFill>
                    <a:srgbClr val="00FFD5"/>
                  </a:solidFill>
                  <a:effectLst>
                    <a:glow rad="63500">
                      <a:schemeClr val="accent4">
                        <a:satMod val="175000"/>
                        <a:alpha val="40000"/>
                      </a:schemeClr>
                    </a:glow>
                  </a:effectLst>
                </a:endParaRPr>
              </a:p>
            </p:txBody>
          </p:sp>
        </mc:Choice>
        <mc:Fallback xmlns="">
          <p:sp>
            <p:nvSpPr>
              <p:cNvPr id="14" name="TextBox 13">
                <a:extLst>
                  <a:ext uri="{FF2B5EF4-FFF2-40B4-BE49-F238E27FC236}">
                    <a16:creationId xmlns:a16="http://schemas.microsoft.com/office/drawing/2014/main" id="{DE913EC2-1FDA-EC74-BB37-1F2F6E63F4BA}"/>
                  </a:ext>
                </a:extLst>
              </p:cNvPr>
              <p:cNvSpPr txBox="1">
                <a:spLocks noRot="1" noChangeAspect="1" noMove="1" noResize="1" noEditPoints="1" noAdjustHandles="1" noChangeArrowheads="1" noChangeShapeType="1" noTextEdit="1"/>
              </p:cNvSpPr>
              <p:nvPr/>
            </p:nvSpPr>
            <p:spPr>
              <a:xfrm>
                <a:off x="3423845" y="2535408"/>
                <a:ext cx="517242" cy="523220"/>
              </a:xfrm>
              <a:prstGeom prst="rect">
                <a:avLst/>
              </a:prstGeom>
              <a:blipFill>
                <a:blip r:embed="rId6"/>
                <a:stretch>
                  <a:fillRect l="-2381" r="-2381"/>
                </a:stretch>
              </a:blipFill>
            </p:spPr>
            <p:txBody>
              <a:bodyPr/>
              <a:lstStyle/>
              <a:p>
                <a:r>
                  <a:rPr lang="en-JP">
                    <a:noFill/>
                  </a:rPr>
                  <a:t> </a:t>
                </a:r>
              </a:p>
            </p:txBody>
          </p:sp>
        </mc:Fallback>
      </mc:AlternateContent>
      <p:pic>
        <p:nvPicPr>
          <p:cNvPr id="17" name="Graphic 16" descr="Balloons with solid fill">
            <a:extLst>
              <a:ext uri="{FF2B5EF4-FFF2-40B4-BE49-F238E27FC236}">
                <a16:creationId xmlns:a16="http://schemas.microsoft.com/office/drawing/2014/main" id="{174E7478-E831-3AFE-64EA-A3442B5D8C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31116" y="2946760"/>
            <a:ext cx="469242" cy="469242"/>
          </a:xfrm>
          <a:prstGeom prst="rect">
            <a:avLst/>
          </a:prstGeom>
        </p:spPr>
      </p:pic>
      <p:sp>
        <p:nvSpPr>
          <p:cNvPr id="18" name="TextBox 17">
            <a:extLst>
              <a:ext uri="{FF2B5EF4-FFF2-40B4-BE49-F238E27FC236}">
                <a16:creationId xmlns:a16="http://schemas.microsoft.com/office/drawing/2014/main" id="{F16251F9-710A-0A3C-B01D-F552257E9830}"/>
              </a:ext>
            </a:extLst>
          </p:cNvPr>
          <p:cNvSpPr txBox="1"/>
          <p:nvPr/>
        </p:nvSpPr>
        <p:spPr>
          <a:xfrm>
            <a:off x="0" y="3456863"/>
            <a:ext cx="12192000" cy="584775"/>
          </a:xfrm>
          <a:prstGeom prst="rect">
            <a:avLst/>
          </a:prstGeom>
          <a:noFill/>
        </p:spPr>
        <p:txBody>
          <a:bodyPr wrap="square" rtlCol="0">
            <a:spAutoFit/>
          </a:bodyPr>
          <a:lstStyle/>
          <a:p>
            <a:pPr algn="ctr"/>
            <a:r>
              <a:rPr lang="en-JP" sz="3200">
                <a:solidFill>
                  <a:schemeClr val="bg1">
                    <a:lumMod val="95000"/>
                  </a:schemeClr>
                </a:solidFill>
              </a:rPr>
              <a:t>量子分散検証は、可分証明の数に</a:t>
            </a:r>
            <a:r>
              <a:rPr lang="en-JP" sz="3200">
                <a:solidFill>
                  <a:schemeClr val="bg1">
                    <a:lumMod val="95000"/>
                  </a:schemeClr>
                </a:solidFill>
                <a:effectLst>
                  <a:glow rad="63500">
                    <a:schemeClr val="accent4">
                      <a:satMod val="175000"/>
                      <a:alpha val="40000"/>
                    </a:schemeClr>
                  </a:glow>
                </a:effectLst>
              </a:rPr>
              <a:t>依存しない</a:t>
            </a:r>
          </a:p>
        </p:txBody>
      </p:sp>
      <p:sp>
        <p:nvSpPr>
          <p:cNvPr id="24" name="Content Placeholder 2">
            <a:extLst>
              <a:ext uri="{FF2B5EF4-FFF2-40B4-BE49-F238E27FC236}">
                <a16:creationId xmlns:a16="http://schemas.microsoft.com/office/drawing/2014/main" id="{F9892039-D65D-C05C-3FC0-27AAEB095B5C}"/>
              </a:ext>
            </a:extLst>
          </p:cNvPr>
          <p:cNvSpPr txBox="1">
            <a:spLocks/>
          </p:cNvSpPr>
          <p:nvPr/>
        </p:nvSpPr>
        <p:spPr>
          <a:xfrm>
            <a:off x="838197" y="4397547"/>
            <a:ext cx="10287001" cy="26103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bg1"/>
              </a:buClr>
              <a:buNone/>
            </a:pPr>
            <a:r>
              <a:rPr lang="en-JP" sz="3200" b="1">
                <a:solidFill>
                  <a:schemeClr val="bg1">
                    <a:lumMod val="95000"/>
                  </a:schemeClr>
                </a:solidFill>
                <a:effectLst>
                  <a:glow rad="63500">
                    <a:srgbClr val="00FFD5">
                      <a:alpha val="40000"/>
                    </a:srgbClr>
                  </a:glow>
                </a:effectLst>
              </a:rPr>
              <a:t>今後の展望</a:t>
            </a:r>
          </a:p>
          <a:p>
            <a:pPr>
              <a:lnSpc>
                <a:spcPct val="100000"/>
              </a:lnSpc>
              <a:buClr>
                <a:schemeClr val="bg1"/>
              </a:buClr>
            </a:pPr>
            <a:r>
              <a:rPr lang="ja-JP" altLang="en-US" sz="2400" b="1">
                <a:solidFill>
                  <a:schemeClr val="bg1">
                    <a:lumMod val="95000"/>
                  </a:schemeClr>
                </a:solidFill>
              </a:rPr>
              <a:t>一般的な量子証明への拡張</a:t>
            </a:r>
            <a:endParaRPr lang="en-US" altLang="ja-JP" sz="2400" b="1" dirty="0">
              <a:solidFill>
                <a:schemeClr val="bg1">
                  <a:lumMod val="95000"/>
                </a:schemeClr>
              </a:solidFill>
            </a:endParaRPr>
          </a:p>
          <a:p>
            <a:pPr>
              <a:lnSpc>
                <a:spcPct val="100000"/>
              </a:lnSpc>
              <a:buClr>
                <a:schemeClr val="bg1"/>
              </a:buClr>
            </a:pPr>
            <a:r>
              <a:rPr lang="ja-JP" altLang="en-US" sz="2400" b="1">
                <a:solidFill>
                  <a:schemeClr val="bg1">
                    <a:lumMod val="95000"/>
                  </a:schemeClr>
                </a:solidFill>
              </a:rPr>
              <a:t>量子分散検証における誤り削減（エラー削減）</a:t>
            </a:r>
            <a:endParaRPr lang="en-US" altLang="ja-JP" sz="2400" b="1" dirty="0">
              <a:solidFill>
                <a:schemeClr val="bg1">
                  <a:lumMod val="95000"/>
                </a:schemeClr>
              </a:solidFill>
            </a:endParaRPr>
          </a:p>
        </p:txBody>
      </p:sp>
    </p:spTree>
    <p:extLst>
      <p:ext uri="{BB962C8B-B14F-4D97-AF65-F5344CB8AC3E}">
        <p14:creationId xmlns:p14="http://schemas.microsoft.com/office/powerpoint/2010/main" val="404156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8646</TotalTime>
  <Words>1529</Words>
  <Application>Microsoft Macintosh PowerPoint</Application>
  <PresentationFormat>Widescreen</PresentationFormat>
  <Paragraphs>397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Cambria Math</vt:lpstr>
      <vt:lpstr>Office Theme</vt:lpstr>
      <vt:lpstr>PowerPoint Presentation</vt:lpstr>
      <vt:lpstr>目次</vt:lpstr>
      <vt:lpstr>分散検証（例：数独）</vt:lpstr>
      <vt:lpstr>量子分散検証</vt:lpstr>
      <vt:lpstr>量子分散検証</vt:lpstr>
      <vt:lpstr>複数の証明</vt:lpstr>
      <vt:lpstr>本研究の貢献</vt:lpstr>
      <vt:lpstr>本研究の貢献</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DELLA SCHIAVA Alex</dc:creator>
  <cp:lastModifiedBy>DELLA SCHIAVA Alex</cp:lastModifiedBy>
  <cp:revision>28</cp:revision>
  <dcterms:created xsi:type="dcterms:W3CDTF">2026-03-09T09:38:10Z</dcterms:created>
  <dcterms:modified xsi:type="dcterms:W3CDTF">2026-03-30T05:08:24Z</dcterms:modified>
</cp:coreProperties>
</file>